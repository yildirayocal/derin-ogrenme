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L2 (Öklid)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k=1</c:v>
                  </c:pt>
                  <c:pt idx="1">
                    <c:v>k=3</c:v>
                  </c:pt>
                  <c:pt idx="2">
                    <c:v>k=5</c:v>
                  </c:pt>
                  <c:pt idx="3">
                    <c:v>k=7</c:v>
                  </c:pt>
                  <c:pt idx="4">
                    <c:v>k=10</c:v>
                  </c:pt>
                  <c:pt idx="5">
                    <c:v>k=15</c:v>
                  </c:pt>
                  <c:pt idx="6">
                    <c:v>k=20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26.2</c:v>
                </c:pt>
                <c:pt idx="1">
                  <c:v>26.7</c:v>
                </c:pt>
                <c:pt idx="2">
                  <c:v>29.5</c:v>
                </c:pt>
                <c:pt idx="3">
                  <c:v>29.4</c:v>
                </c:pt>
                <c:pt idx="4">
                  <c:v>29.8</c:v>
                </c:pt>
                <c:pt idx="5">
                  <c:v>29.3</c:v>
                </c:pt>
                <c:pt idx="6">
                  <c:v>29.5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 (Manhattan)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k=1</c:v>
                  </c:pt>
                  <c:pt idx="1">
                    <c:v>k=3</c:v>
                  </c:pt>
                  <c:pt idx="2">
                    <c:v>k=5</c:v>
                  </c:pt>
                  <c:pt idx="3">
                    <c:v>k=7</c:v>
                  </c:pt>
                  <c:pt idx="4">
                    <c:v>k=10</c:v>
                  </c:pt>
                  <c:pt idx="5">
                    <c:v>k=15</c:v>
                  </c:pt>
                  <c:pt idx="6">
                    <c:v>k=20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24.1</c:v>
                </c:pt>
                <c:pt idx="1">
                  <c:v>25.2</c:v>
                </c:pt>
                <c:pt idx="2">
                  <c:v>27.8</c:v>
                </c:pt>
                <c:pt idx="3">
                  <c:v>28.1</c:v>
                </c:pt>
                <c:pt idx="4">
                  <c:v>28.4</c:v>
                </c:pt>
                <c:pt idx="5">
                  <c:v>27.9</c:v>
                </c:pt>
                <c:pt idx="6">
                  <c:v>27.5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L2 Recall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airplane</c:v>
                  </c:pt>
                  <c:pt idx="1">
                    <c:v>automobile</c:v>
                  </c:pt>
                  <c:pt idx="2">
                    <c:v>bird</c:v>
                  </c:pt>
                  <c:pt idx="3">
                    <c:v>cat</c:v>
                  </c:pt>
                  <c:pt idx="4">
                    <c:v>deer</c:v>
                  </c:pt>
                  <c:pt idx="5">
                    <c:v>dog</c:v>
                  </c:pt>
                  <c:pt idx="6">
                    <c:v>frog</c:v>
                  </c:pt>
                  <c:pt idx="7">
                    <c:v>horse</c:v>
                  </c:pt>
                  <c:pt idx="8">
                    <c:v>ship</c:v>
                  </c:pt>
                  <c:pt idx="9">
                    <c:v>truck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37</c:v>
                </c:pt>
                <c:pt idx="1">
                  <c:v>45</c:v>
                </c:pt>
                <c:pt idx="2">
                  <c:v>29</c:v>
                </c:pt>
                <c:pt idx="3">
                  <c:v>28</c:v>
                </c:pt>
                <c:pt idx="4">
                  <c:v>34</c:v>
                </c:pt>
                <c:pt idx="5">
                  <c:v>36</c:v>
                </c:pt>
                <c:pt idx="6">
                  <c:v>43</c:v>
                </c:pt>
                <c:pt idx="7">
                  <c:v>41</c:v>
                </c:pt>
                <c:pt idx="8">
                  <c:v>47</c:v>
                </c:pt>
                <c:pt idx="9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L1 Recall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airplane</c:v>
                  </c:pt>
                  <c:pt idx="1">
                    <c:v>automobile</c:v>
                  </c:pt>
                  <c:pt idx="2">
                    <c:v>bird</c:v>
                  </c:pt>
                  <c:pt idx="3">
                    <c:v>cat</c:v>
                  </c:pt>
                  <c:pt idx="4">
                    <c:v>deer</c:v>
                  </c:pt>
                  <c:pt idx="5">
                    <c:v>dog</c:v>
                  </c:pt>
                  <c:pt idx="6">
                    <c:v>frog</c:v>
                  </c:pt>
                  <c:pt idx="7">
                    <c:v>horse</c:v>
                  </c:pt>
                  <c:pt idx="8">
                    <c:v>ship</c:v>
                  </c:pt>
                  <c:pt idx="9">
                    <c:v>truck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34</c:v>
                </c:pt>
                <c:pt idx="1">
                  <c:v>41</c:v>
                </c:pt>
                <c:pt idx="2">
                  <c:v>26</c:v>
                </c:pt>
                <c:pt idx="3">
                  <c:v>25</c:v>
                </c:pt>
                <c:pt idx="4">
                  <c:v>31</c:v>
                </c:pt>
                <c:pt idx="5">
                  <c:v>33</c:v>
                </c:pt>
                <c:pt idx="6">
                  <c:v>39</c:v>
                </c:pt>
                <c:pt idx="7">
                  <c:v>38</c:v>
                </c:pt>
                <c:pt idx="8">
                  <c:v>44</c:v>
                </c:pt>
                <c:pt idx="9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65760"/>
            <a:ext cx="2560320" cy="25603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645920"/>
            <a:ext cx="1371600" cy="13716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11480"/>
            <a:ext cx="2743200" cy="347472"/>
          </a:xfrm>
          <a:prstGeom prst="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DERİN ÖĞRENME — ÖDEV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k-En Yakın Komşu (k-NN)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Sınıflandırıcı Analizi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ve CIFAR-100 Veri Setlerinde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26517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741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ÖĞRENCI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Yıldıray Öcal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337560"/>
            <a:ext cx="26517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3741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NUMARA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36253632029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337560"/>
            <a:ext cx="26517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3741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DERS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Derin Öğrenme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NumPy ile Sıfırdan Uygulama  |  L1 &amp; L2 Mesafe Metrikleri  |  Deneysel Analiz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ve Veri Setleri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02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1628"/>
                </a:solidFill>
              </a:rPr>
              <a:t>Amaç: k komşu sayısı ve mesafe metriğinin sınıflandırma başarısına etkisini deneysel olarak ortaya koymak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CIFAR-10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404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60.000 renkli RGB görüntü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437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8254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50.000 eğitim + 10.000 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644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10 sınıf (airplane, car, bird...)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6850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6667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32×32 piksel → 3.072 boyutlu vektör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1056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087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Sınıf başına ~6.000 örnek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87452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874520"/>
            <a:ext cx="3931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74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CIFAR-100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83480" y="242316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2404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60.000 renkli RGB görüntü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84378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28254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100 ince sınıf (fine labels)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326440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20 kaba üst-sınıf (coarse labels)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3685032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6667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32×32 piksel → 3.072 boyutlu vektör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4105656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4087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Sınıf başına ~500 örnek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Algoritmasının Temel Mantığı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1645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03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0D2B1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</a:rPr>
              <a:t>🧠  Tembel Öğrenme (Lazy Learning) — Eğitimde parametre öğrenmez, tüm hesaplama tahmin aşamasında yapılır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9202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916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F6E4"/>
                </a:solidFill>
              </a:rPr>
              <a:t>Mesafe Hesapla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Test örneği ile tüm eğitim örnekleri arasındaki mesafeyi hesapla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788920"/>
            <a:ext cx="2011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600200"/>
            <a:ext cx="19202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16916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78608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F6E4"/>
                </a:solidFill>
              </a:rPr>
              <a:t>En Yakın k Kom.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78608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Mesafeye göre en küçük k değerine sahip komşuları seç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07408" y="2788920"/>
            <a:ext cx="2011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600200"/>
            <a:ext cx="19202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48656" y="16916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4865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0016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F6E4"/>
                </a:solidFill>
              </a:rPr>
              <a:t>Çoğunluk Oyu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0016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Seçilen k komşunun etiketleri arasında oy kullan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28816" y="2788920"/>
            <a:ext cx="2011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9984" y="1600200"/>
            <a:ext cx="19202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0064" y="169164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006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21424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F6E4"/>
                </a:solidFill>
              </a:rPr>
              <a:t>Sınıf Tahmini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21424" y="2880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 fazla oy alan sınıfı tahmin sonucu olarak döndür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Mesafe Metrikleri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04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L2 — Öklid Mesafesi  ⭐ Önerilen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||a - b||² = ||a||² + ||b||² - 2·(a·b)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212848"/>
            <a:ext cx="365760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31136"/>
            <a:ext cx="36118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Vektörize (10-20× hızlı)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kare_test = np.sum(X**2, axis=1)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carpim  = X_test @ X_egit.T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np.sqrt(kare_test + kare_egit - 2*carpim)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826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Düz çizgi uzaklığı ölçer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60273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93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Büyük farkları daha çok cezalandırır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1363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9044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BLAS matris çarpımı ile hızlı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2245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153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L1'den 3-4× daha hızlı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L1 — Manhattan Mesafesi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d(a, b) = Σ |a_i - b_i|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2212848"/>
            <a:ext cx="3657600" cy="960120"/>
          </a:xfrm>
          <a:prstGeom prst="rect">
            <a:avLst/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231136"/>
            <a:ext cx="36118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Batch implementasyon (BATCH=5)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bas in range(0, n_test, BATCH):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fark = X_test[bas:son] - X_egit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dist[bas:son] = np.sum(abs(fark))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329184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2826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Koordinat farklarının mutlak toplamı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360273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3593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Büyük farklara daha az ceza uygular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3913632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39044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Broadcasting ile hesaplanır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42245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42153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Batch'e bölünmesi gerekir (60 GB!)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Sonuçları — k ve Metrik Karşılaştırması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645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5.000 eğitim / 1.000 test örneği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97280"/>
            <a:ext cx="31089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109728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17043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EN İYI SONUÇ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806440" y="13898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%29.8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806440" y="181051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k=10, L2 metriği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2267712"/>
            <a:ext cx="31089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2267712"/>
            <a:ext cx="54864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234086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L2 AVANTAJI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06440" y="25603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1-3 puan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06440" y="298094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Tüm k değerlerinde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0" y="3438144"/>
            <a:ext cx="31089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3438144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351129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TAM SET BEKLENTI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806440" y="37307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%35-38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5806440" y="415137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50.000 örnek ile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Sonuçların Yorumu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06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2062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33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k=1 — Overfitting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Yalnızca tek eğitim örneğine benzeterek sınıflandırır. Küçük ışık/renk değişimleri bile yanlış sınıflandırmaya neden olabilir. En düşük doğruluk: L2 ile %26.2.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33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 Arttıkça İyileşme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k değeri arttıkça birden fazla komşudan bilgi toplanır. k=5'ten itibaren belirgin iyileşme gözlemlendi. En iyi sonuç k=10'da %29.8.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4206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626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k=15, 20 — Underfitting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Yüksek k değerlerinde doğruluk hafif düşer. Çok geniş komşuluk kararları çok genel hale getirir. Underfitting başladığının işareti.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926080"/>
            <a:ext cx="42062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9626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L2 vs L1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42900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L2, tüm k değerlerinde L1'i 1-3 puan geride bıraktı. Büyük piksel farklarını cezalandırarak gürültü filtresi görevi görür. CIFAR-10 için avantaj sağlar.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Bazında Analiz — k=10, L2 Metriği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645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07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0D2B1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F6E4"/>
                </a:solidFill>
              </a:rPr>
              <a:t>🏆 EN BAŞARILI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63640" y="1325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Ship %47 — Mavi arka plan güçlü ipucu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63640" y="1645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Automobile %45 — Belirgin geometri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64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Truck %44 — Tanımlı siluet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63640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Frog %43 — Yeşil ton ayırt edici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2926080"/>
            <a:ext cx="2743200" cy="1920240"/>
          </a:xfrm>
          <a:prstGeom prst="rect">
            <a:avLst/>
          </a:prstGeom>
          <a:solidFill>
            <a:srgbClr val="2D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⚠️ EN ZOR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63640" y="3337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Cat %28 — Dog ile karışıyor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63640" y="3657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Bird %29 — Yüksek görsel varyasyon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Deer %34 — Benzer vücut yapısı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4297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Airplane %37 — Arka plan baskın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CIFAR-100 Karşılaştırması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08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Özellik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CIFAR-10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CIFAR-100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Sınıf Sayısı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Sınıf başına örnek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</a:rPr>
                        <a:t>5.000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Beklenen k-NN doğruluğu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</a:rPr>
                        <a:t>~%35-38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~%14-18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Zorluk Seviyesi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6534"/>
                          </a:solidFill>
                        </a:rPr>
                        <a:t>Orta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</a:rPr>
                        <a:t>Yüksek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11880"/>
            <a:ext cx="3931920" cy="118872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61188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Neden Daha Zor?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3977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</a:rPr>
              <a:t>Sınıf başına düşen örnek sayısı 10 kat daha az (500 örnek/sınıf). k-NN yeterli referans noktasına ihtiyaç duyar.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3611880"/>
            <a:ext cx="393192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3611880"/>
            <a:ext cx="54864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Kaba Etiket Çözümü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92040" y="3977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4E3B"/>
                </a:solidFill>
              </a:rPr>
              <a:t>20 kaba üst-sınıf kullanıldığında sınıf başına 2.500 örnek elde edilir. Beklenen doğruluk %30-35'e çıkar.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Hesaplama Analizi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1645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2B1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F6E4"/>
                </a:solidFill>
              </a:rPr>
              <a:t>💡  k değeri tahmin süresini neredeyse hiç etkilemez — tüm maliyet mesafe matrisinin hesaplanmasındadır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155448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4572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L2 Süresi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L1 Süresi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Yorum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F6E4"/>
                          </a:solidFill>
                        </a:rPr>
                        <a:t>0.6s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C5FD"/>
                          </a:solidFill>
                        </a:rPr>
                        <a:t>2.1s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k artışı süreye etki etmiyor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F6E4"/>
                          </a:solidFill>
                        </a:rPr>
                        <a:t>0.6s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C5FD"/>
                          </a:solidFill>
                        </a:rPr>
                        <a:t>2.2s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k artışı süreye etki etmiyor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F6E4"/>
                          </a:solidFill>
                        </a:rPr>
                        <a:t>0.6s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C5FD"/>
                          </a:solidFill>
                        </a:rPr>
                        <a:t>2.1s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k artışı süreye etki etmiyor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F6E4"/>
                          </a:solidFill>
                        </a:rPr>
                        <a:t>0.7s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C5FD"/>
                          </a:solidFill>
                        </a:rPr>
                        <a:t>2.3s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k artışı süreye etki etmiyor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337560"/>
            <a:ext cx="2651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33756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L2 HIZ AVANTAJI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3639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3-4×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BLAS matris çarpımı (vektörize)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0128" y="3337560"/>
            <a:ext cx="2651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0128" y="333756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L1 BELLEK SORUNU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401568" y="3639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~60 GB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401568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5000×1000×3072 float32 → BATCH=5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63056" y="3337560"/>
            <a:ext cx="2651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63056" y="33375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54496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TEST MALIYETI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254496" y="3639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O(N·D)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254496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Büyük veri için pratik değil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k-NN: Güçlü ve Zayıf Yönler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10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GÜÇLÜ YÖNLER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393192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7335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550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Uygulaması basit, sezgisel anlaması kolay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402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221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Hiperparametre sayısı az (sadece k ve mesafe)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393192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072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788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Non-parametrik: veri dağılımına varsayım gerektirmez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37413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355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Çok sınıflı problemler için doğal çalışır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393192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410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922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Yeni veriye anında uyum sağlar (fit = veri ekleme)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ZAYIF YÖNLER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554480"/>
            <a:ext cx="3931920" cy="47548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167335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16550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Ölçeklenemiyor: O(N·D) test maliyeti çok yüksek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12140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22402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2221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Bellek yoğun: tüm eğitim verisini bellekte tutar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688336"/>
            <a:ext cx="3931920" cy="47548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8072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788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Ham piksel benzerliği yetersiz (arka plan etkisi)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3255264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33741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3355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k seçimi kritik: yanlış k → over/underfitting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3822192"/>
            <a:ext cx="3931920" cy="47548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394106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3922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Boyut laneti: yüksek boyutta mesafeler anlamsız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228600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ve Değerlendirme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1155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 iyi sonuç k=10, L2 metriği ile %29.8 (5.000 eğitim örneği)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76479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7830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L2 metriği tüm k değerlerinde L1'den 1-3 puan üstün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45059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Ship (%47) ve Automobile (%45) en başarılı; Cat (%28) en zor sınıf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09981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CIFAR-100'de beklenen doğruluk ~%14-18 (10× az örnek/sınıf)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7856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 değeri hesaplama süresini etkilemez; maliyet mesafe matrisindedir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Yıldıray Öcal  |  No: 36253632029  |  Derin Öğrenme  |  Ödev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k-NN Sınıflandırıcı Analizi</dc:title>
  <dc:subject>PptxGenJS Presentation</dc:subject>
  <dc:creator>Yıldıray Öcal</dc:creator>
  <cp:lastModifiedBy>Yıldıray Öcal</cp:lastModifiedBy>
  <cp:revision>1</cp:revision>
  <dcterms:created xsi:type="dcterms:W3CDTF">2026-03-08T11:37:53Z</dcterms:created>
  <dcterms:modified xsi:type="dcterms:W3CDTF">2026-03-08T11:37:53Z</dcterms:modified>
</cp:coreProperties>
</file>