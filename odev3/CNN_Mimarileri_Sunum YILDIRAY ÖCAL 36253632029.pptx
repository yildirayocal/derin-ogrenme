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D175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57200"/>
            <a:ext cx="164592" cy="164592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06640" y="1188720"/>
            <a:ext cx="164592" cy="164592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920240"/>
            <a:ext cx="164592" cy="164592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6640" y="2651760"/>
            <a:ext cx="164592" cy="164592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3383280"/>
            <a:ext cx="164592" cy="164592"/>
          </a:xfrm>
          <a:prstGeom prst="ellipse">
            <a:avLst/>
          </a:prstGeom>
          <a:solidFill>
            <a:srgbClr val="1E88E5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22960"/>
            <a:ext cx="164592" cy="164592"/>
          </a:xfrm>
          <a:prstGeom prst="ellipse">
            <a:avLst/>
          </a:prstGeom>
          <a:solidFill>
            <a:srgbClr val="00ACC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554480"/>
            <a:ext cx="164592" cy="164592"/>
          </a:xfrm>
          <a:prstGeom prst="ellipse">
            <a:avLst/>
          </a:prstGeom>
          <a:solidFill>
            <a:srgbClr val="00ACC1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2286000"/>
            <a:ext cx="164592" cy="164592"/>
          </a:xfrm>
          <a:prstGeom prst="ellipse">
            <a:avLst/>
          </a:prstGeom>
          <a:solidFill>
            <a:srgbClr val="00ACC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3017520"/>
            <a:ext cx="164592" cy="164592"/>
          </a:xfrm>
          <a:prstGeom prst="ellipse">
            <a:avLst/>
          </a:prstGeom>
          <a:solidFill>
            <a:srgbClr val="00ACC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1188720"/>
            <a:ext cx="164592" cy="164592"/>
          </a:xfrm>
          <a:prstGeom prst="ellipse">
            <a:avLst/>
          </a:prstGeom>
          <a:solidFill>
            <a:srgbClr val="FFB300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1920240"/>
            <a:ext cx="164592" cy="164592"/>
          </a:xfrm>
          <a:prstGeom prst="ellipse">
            <a:avLst/>
          </a:prstGeom>
          <a:solidFill>
            <a:srgbClr val="FFB300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651760"/>
            <a:ext cx="164592" cy="164592"/>
          </a:xfrm>
          <a:prstGeom prst="ellipse">
            <a:avLst/>
          </a:prstGeom>
          <a:solidFill>
            <a:srgbClr val="FFB30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5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DERİN ÖĞRENME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Mimarileri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7.1 – 7.5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 ·  VGG  ·  NiN  ·  GoogLeNet  ·  Toplu Normalleştirme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  |  Derin Öğrenme Dersi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İÇİNDEKİLER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1143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Evrişimli Sinir Ağları – AlexNet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CNN'lerin yükselişi, mimari, ReLU, Dropout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109728" cy="1143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789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353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Blokları Kullanan Ağlar – VGG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Tekrarlanan blok tasarımı, VGG-11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31720"/>
            <a:ext cx="109728" cy="11430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048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6791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İçinde Ağ – NiN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evrişim, global avg pooling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31720"/>
            <a:ext cx="109728" cy="11430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4048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791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Bitiştirmeli Ağlar – GoogLeNet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blokları, çok ölçekli öğrenme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109728" cy="11430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30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0050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Normalleştirme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 matematiği, uygulama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657600"/>
            <a:ext cx="109728" cy="9144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307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Normalleştirme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 matematiği, uygulama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Evrişimli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 Ağları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Krizhevsky, Sutskever &amp; Hinton · ImageNet 2012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| Tarihsel Arka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" cy="2743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1408176"/>
            <a:ext cx="18288" cy="5943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 → küçük veri setlerinde başarı; büyük ölçekte yetersiz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74320" cy="2743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" y="2368296"/>
            <a:ext cx="18288" cy="5943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1990-2012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500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öznitelik mühendisliği (SIFT, SURF, HOG) hakimiyeti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274320" cy="2743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" y="3328416"/>
            <a:ext cx="18288" cy="5943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3101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yayımlandı: 1M görüntü, 1000 sınıf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274320" cy="27432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" y="4288536"/>
            <a:ext cx="18288" cy="59436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27024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→ ImageNet yarışmasını büyük farkla kazandı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2012 öncesi: öğrenme algoritması değil, öznitelik mühendisliği gelişimi yönlendiriyordu.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| Klasik Bilgisayarla Görme İşlem Hattı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371600" cy="100584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88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Kümesi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pahalı veri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1664208"/>
            <a:ext cx="27432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5727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188720"/>
            <a:ext cx="1371600" cy="1005840"/>
          </a:xfrm>
          <a:prstGeom prst="rect">
            <a:avLst/>
          </a:prstGeom>
          <a:solidFill>
            <a:srgbClr val="00AC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188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İşleme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standartizasyon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0360" y="1664208"/>
            <a:ext cx="27432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5727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1188720"/>
            <a:ext cx="1371600" cy="10058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11880" y="1188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SIFT, SURF,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HOG, BoW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1664208"/>
            <a:ext cx="27432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5727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1188720"/>
            <a:ext cx="1371600" cy="10058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0" y="1188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Sınıflandırıcı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Lineer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1664208"/>
            <a:ext cx="27432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5727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1188720"/>
            <a:ext cx="1371600" cy="10058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95160" y="1188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17520"/>
            <a:ext cx="109728" cy="16459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090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Yaklaşımı (AlexNet ile)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Piksel  →  </a:t>
            </a:r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CNN Öğrenmesi</a:t>
            </a:r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Sınıf Etiketi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Öznitelikler manuel tasarlanmak yerine veriden otomatik öğrenilir!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7.1.1 | Eksik Malzeme: Veri ve Donanım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VERİ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1990'larda veri setleri çok küçüktü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Sensörler pahalı; düşük çözünürlük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2009: ImageNet yayımlandı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milyon görüntü, 1000 kategori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Image Search + Mechanical Turk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 görülmemiş bir ölçek atılımı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DONANIM (GPU)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az ama güçlü çekirdek (≤64)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binlerce küçük paralel çekirdek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Volta: 120 TFlop (CPU &lt; 1 TFlop)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 = yüksek verimli paralel işlem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2012: 2× GTX 580 (3GB) kullanıldı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cuda-convnet → sektör standardı oldu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7.1.2 | AlexNet Mimarisi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960120" cy="1280160"/>
          </a:xfrm>
          <a:prstGeom prst="rect">
            <a:avLst/>
          </a:prstGeom>
          <a:solidFill>
            <a:srgbClr val="90A4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005840"/>
            <a:ext cx="960120" cy="155448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11×11, s=4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kanal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3172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005840"/>
            <a:ext cx="960120" cy="15544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+Conv2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kanal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2900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1005840"/>
            <a:ext cx="960120" cy="155448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384→256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2628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960120" cy="1554480"/>
          </a:xfrm>
          <a:prstGeom prst="rect">
            <a:avLst/>
          </a:prstGeom>
          <a:solidFill>
            <a:srgbClr val="00AC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→6400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2356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60720" y="1005840"/>
            <a:ext cx="960120" cy="155448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2084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1005840"/>
            <a:ext cx="960120" cy="1554480"/>
          </a:xfrm>
          <a:prstGeom prst="rect">
            <a:avLst/>
          </a:prstGeom>
          <a:solidFill>
            <a:srgbClr val="FFB3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18120" y="146304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955280" y="1005840"/>
            <a:ext cx="960120" cy="12801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55280" y="10515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1691640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sınıf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(Fashion)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AlexNet'in Önemli Özellikleri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29718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5 Evrişim + 3 FC Katmanı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LeNet'ten çok daha derin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9718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ReLU Etkinleştirme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yerine → hızlı eğitim, gradyan sorunu yok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74904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Dropout (0.5)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096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katmanlarda aşırı öğrenme engellemesi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74904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Veri Zenginleştirme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4096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Çevirme, kırpma, renk değişimi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7.1.2 | ReLU &amp; Dropout – Kritik İnovasyonlar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78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f(x) = max(0, 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2918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645920"/>
            <a:ext cx="0" cy="18288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00400"/>
            <a:ext cx="164592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200400"/>
            <a:ext cx="1645920" cy="-137160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&lt; 0 → 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≥ 0 → 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Hesaplama kolaylığı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Pozitif aralıkta gradyan = 1 (sabit)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Sigmoid'in gradient vanishing sorununu çözer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3931920" cy="5029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978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– Rastgele Devre Dışı Bırakma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828800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468880"/>
            <a:ext cx="256032" cy="256032"/>
          </a:xfrm>
          <a:prstGeom prst="ellipse">
            <a:avLst/>
          </a:prstGeom>
          <a:solidFill>
            <a:srgbClr val="EEEEEE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468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3108960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3749040"/>
            <a:ext cx="256032" cy="256032"/>
          </a:xfrm>
          <a:prstGeom prst="ellipse">
            <a:avLst/>
          </a:prstGeom>
          <a:solidFill>
            <a:srgbClr val="EEEEEE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1828800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468880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108960"/>
            <a:ext cx="256032" cy="256032"/>
          </a:xfrm>
          <a:prstGeom prst="ellipse">
            <a:avLst/>
          </a:prstGeom>
          <a:solidFill>
            <a:srgbClr val="EEEEEE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3749040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p=0.5 ile nöronlar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kapatılır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52044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Aşırı öğrenmeyi engeller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Her epoch farklı alt ağ eğitilir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Ensemble etkisi yaratır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Test zamanı tüm nöronlar aktif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| TensorFlow Kodu – AlexNet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4069080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net():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tf.keras.models.Sequential([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Conv2D(96,  kernel_size=11, strides=4, activation='relu'),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MaxPool2D(pool_size=3, strides=2),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Conv2D(256, kernel_size=5,  padding='same', activation='relu'),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MaxPool2D(pool_size=3, strides=2),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Conv2D(384, kernel_size=3,  padding='same', activation='relu'),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Conv2D(384, kernel_size=3,  padding='same', activation='relu'),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Conv2D(256, kernel_size=3,  padding='same', activation='relu'),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MaxPool2D(pool_size=3, strides=2),  Flatten(),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Dense(4096, activation='relu'),  Dropout(0.5),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Dense(4096, activation='relu'),  Dropout(0.5),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Dense(10)    # Fashion-MNIST: 10 sınıf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| Katman Çıktı Şekilleri &amp; Eğitim Sonuçları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640080" cy="42062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96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868680"/>
            <a:ext cx="4114800" cy="42062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896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0" y="868680"/>
            <a:ext cx="2743200" cy="42062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896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Şekli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07592"/>
            <a:ext cx="64008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3502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1307592"/>
            <a:ext cx="41148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3350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(11×11, s=4)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307592"/>
            <a:ext cx="27432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3350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(1, 54, 54, 96)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46504"/>
            <a:ext cx="640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7739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1746504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17739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1746504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773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(1, 26, 26, 96)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185416"/>
            <a:ext cx="64008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2128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2185416"/>
            <a:ext cx="41148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(5×5, same)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185416"/>
            <a:ext cx="27432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(1, 26, 26, 256)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624328"/>
            <a:ext cx="640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2624328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2651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2624328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(1, 12, 12, 256)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64008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0906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" y="3063240"/>
            <a:ext cx="41148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51560" y="3090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(3×3) × 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3063240"/>
            <a:ext cx="27432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3090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12, 12, 384/256)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502152"/>
            <a:ext cx="640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5295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5840" y="3502152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" y="35295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 + Flatten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7800" y="3502152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0" y="35295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(1, 6400)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941064"/>
            <a:ext cx="64008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9684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5840" y="3941064"/>
            <a:ext cx="41148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51560" y="39684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4096 + Dropout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7800" y="3941064"/>
            <a:ext cx="2743200" cy="420624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51" name="Text 49"/>
          <p:cNvSpPr/>
          <p:nvPr/>
        </p:nvSpPr>
        <p:spPr>
          <a:xfrm>
            <a:off x="5303520" y="3968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(1, 4096)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379976"/>
            <a:ext cx="640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" y="44074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05840" y="437997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051560" y="4407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10 (çıktı)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57800" y="4379976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0" y="4407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(1, 10)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9" name="Text 57"/>
          <p:cNvSpPr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Eğitim Sonucu: loss=0.332  |  train_acc=0.878  |  test_acc=0.878  |  5002 örnek/sn (GPU)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83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060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Blokları Kullanan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Ağlar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– Visual Geometry Group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Simonyan &amp; Zisserman · Oxford Üniversitesi · 2014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| VGG Blok Tasarımı – Tekrarlanan Yapı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VGG Bloğu: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00400" cy="5486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(3×3, same)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640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200400" cy="54864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385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487168"/>
            <a:ext cx="640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3200400" cy="5486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9689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(3×3, same)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3145536"/>
            <a:ext cx="640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3200400" cy="54864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552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3803904"/>
            <a:ext cx="6400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3200400" cy="5486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9136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(2×2, s=2)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Boyut yarıya iner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VGG-11 Mimarisi (5 Blok + 3 FC):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1280160"/>
            <a:ext cx="948690" cy="5486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1: 1×Conv, 64ch → 112×112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1938528"/>
            <a:ext cx="1348740" cy="5486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0" y="1938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2: 1×Conv, 128ch → 56×56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0" y="2596896"/>
            <a:ext cx="2148840" cy="5486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0" y="25968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3: 2×Conv, 256ch → 28×28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3255264"/>
            <a:ext cx="3749040" cy="5486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0" y="32552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4: 2×Conv, 512ch → 14×14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3913632"/>
            <a:ext cx="3749040" cy="54864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0" y="39136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5: 2×Conv, 512ch → 7×7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4617720"/>
            <a:ext cx="4572000" cy="34747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463600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FC(4096) → Dropout → FC(4096) → Dropout → FC(10)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| TensorFlow Kodu – VGG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4160520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vgg_block(num_convs, num_channels):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blk = tf.keras.models.Sequential()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range(num_convs):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blk.add(Conv2D(num_channels, kernel_size=3,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padding='same', activation='relu'))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blk.add(MaxPool2D(pool_size=2, strides=2))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blk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conv_arch = ((1,64),(1,128),(2,256),(2,512),(2,512))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vgg(conv_arch):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 = tf.keras.models.Sequential()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(num_convs, num_channels) in conv_arch: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net.add(vgg_block(num_convs, num_channels))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net.add(Sequential([Flatten(), Dense(4096,'relu'),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Dropout(0.5), Dense(4096,'relu'), Dropout(0.5), Dense(10)]))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Sonuç: loss=0.177  |  train_acc=0.935  |  test_acc=0.913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| VGG vs AlexNet Karşılaştırması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560320" cy="4846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9611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868680"/>
            <a:ext cx="2926080" cy="4846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89611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868680"/>
            <a:ext cx="2926080" cy="48463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89611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256032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990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137160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39903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9903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256032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0195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 Katman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1874520"/>
            <a:ext cx="292608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190195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874520"/>
            <a:ext cx="292608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90195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256032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0487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Boyutu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17520" y="237744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0" y="240487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11×11, 5×5, 3×3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37744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40487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3×3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256032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90779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17520" y="2880360"/>
            <a:ext cx="292608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290779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880360"/>
            <a:ext cx="292608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90779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~138M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383280"/>
            <a:ext cx="256032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41071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Fikir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017520" y="338328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108960" y="341071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çekirdekler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38328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341071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3×3 bloklar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256032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9136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(ImageNet)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3886200"/>
            <a:ext cx="292608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3" name="Text 41"/>
          <p:cNvSpPr/>
          <p:nvPr/>
        </p:nvSpPr>
        <p:spPr>
          <a:xfrm>
            <a:off x="3108960" y="391363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 Top-1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0" y="3886200"/>
            <a:ext cx="2926080" cy="4846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391363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~71% Top-1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389120"/>
            <a:ext cx="256032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41655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017520" y="438912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108960" y="441655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438912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217920" y="4416552"/>
            <a:ext cx="2788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800600"/>
            <a:ext cx="8595360" cy="24688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4818888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Anahtar fikir: Derin &amp; dar 3×3 evrişimler, az sayıda büyük filtreden daha etkilidir.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C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İçinde Ağ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 Network (NiN)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· 2013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| NiN Bloğu &amp; Temel Fikir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Fikir: Her piksel konumuna kanallar boyunca tam bağlı katman uygula → 1×1 evrişim ile eşdeğer!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 Bloğu: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200400" cy="475488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(k×k)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48716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828800" cy="475488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6060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08152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200400" cy="475488"/>
          </a:xfrm>
          <a:prstGeom prst="rect">
            <a:avLst/>
          </a:prstGeom>
          <a:solidFill>
            <a:srgbClr val="00AC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004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(1×1) + ReLU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67588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3200400" cy="475488"/>
          </a:xfrm>
          <a:prstGeom prst="rect">
            <a:avLst/>
          </a:prstGeom>
          <a:solidFill>
            <a:srgbClr val="00AC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947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(1×1) + ReLU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NiN'in Özellikleri: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057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Tam bağlı katman YOK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Global Ortalama Ortaklama kullanır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9718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Parametre sayısı önemli ölçüde azalır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4290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Aşırı öğrenme azalır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8862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10 sınıf → 10 kanallı son NiN bloğu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343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GlobalAvgPool → doğrudan sınıf skoru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859536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17720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NiN Sonuç: loss=0.349  |  train_acc=0.872  |  test_acc=0.880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6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Bitiştirmeli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Ağlar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– Inception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Szegedy et al. · Google · ImageNet 2014 Şampiyonu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| Inception Bloğu – 4 Paralel Yol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520440" y="868680"/>
            <a:ext cx="2103120" cy="4114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440" y="868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80160" y="1280160"/>
            <a:ext cx="0" cy="36576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45920"/>
            <a:ext cx="2011680" cy="3200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011680" cy="475488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0116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0" cy="36576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645920"/>
            <a:ext cx="2011680" cy="32004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2011680" cy="475488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20116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560320"/>
            <a:ext cx="2011680" cy="475488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2560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1280160"/>
            <a:ext cx="0" cy="36576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45920"/>
            <a:ext cx="2011680" cy="3200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011680"/>
            <a:ext cx="2011680" cy="475488"/>
          </a:xfrm>
          <a:prstGeom prst="rect">
            <a:avLst/>
          </a:prstGeom>
          <a:solidFill>
            <a:srgbClr val="00AC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20116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2011680" cy="475488"/>
          </a:xfrm>
          <a:prstGeom prst="rect">
            <a:avLst/>
          </a:prstGeom>
          <a:solidFill>
            <a:srgbClr val="00AC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560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5×5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1280160"/>
            <a:ext cx="0" cy="36576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645920"/>
            <a:ext cx="201168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2011680"/>
            <a:ext cx="2011680" cy="475488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20116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3×3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2560320"/>
            <a:ext cx="2011680" cy="475488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0" y="2560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3657600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3657600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3657600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3657600"/>
            <a:ext cx="0" cy="32004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Boyutunda BİRLEŞTİRME (Concatenate)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636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Farklı boyutlardaki filtreler → çok ölçekli özellik çıkarma; 1×1 evrişimler kanal sayısını azaltır.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| GoogLeNet Tam Mimarisi (5 Modül)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182880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Conv7×7, s=2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914400"/>
            <a:ext cx="1188720" cy="18288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960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4630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Conv1×1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Conv3×3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1371600" cy="182880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4630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Inception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1828800" cy="1828800"/>
          </a:xfrm>
          <a:prstGeom prst="rect">
            <a:avLst/>
          </a:prstGeom>
          <a:solidFill>
            <a:srgbClr val="00AC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Inception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914400"/>
            <a:ext cx="1371600" cy="182880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4630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Inception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95360" y="914400"/>
            <a:ext cx="914400" cy="18288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0" y="118872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Bloğu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adet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Katman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~6M (AlexNet'in 1/10!)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7947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(ImageNet)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 Top-5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Sonuç: loss=0.238  |  train_acc=0.909  |  test_acc=0.891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| TensorFlow Kodu – Inception Bloğu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4160520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Inception(tf.keras.Model):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c1, c2, c3, c4):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self.p1_1 = Conv2D(c1, 1, activation='relu')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self.p2_1 = Conv2D(c2[0], 1, activation='relu')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self.p2_2 = Conv2D(c2[1], 3, padding='same', activation='relu')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self.p3_1 = Conv2D(c3[0], 1, activation='relu')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self.p3_2 = Conv2D(c3[1], 5, padding='same', activation='relu')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6265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self.p4_1 = MaxPool2D(3, 1, padding='same')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self.p4_2 = Conv2D(c4, 1, activation='relu')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call(self, x):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p1 = self.p1_1(x)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9867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p2 = self.p2_2(self.p2_1(x))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2428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p3 = self.p3_2(self.p3_1(x))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p4 = self.p4_2(self.p4_1(x))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Concatenate()([p1, p2, p3, p4])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D17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Normalleştirme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Ioffe &amp; Szegedy · Google · 2015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katmanlı ağların eğitilmesini mümkün kıldı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7.5.1 | Derin Ağları Eğitmenin Zorlukları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94360" cy="1170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 Seçimi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898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öznitelikleri standartlaştırılmalı (µ=0, σ=1). Derin ağlarda ara katmanlar için de aynı sorun geçerli.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594360" cy="117043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94560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51560" y="226771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Dahili Eşdeğişken Kayması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67004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süresince katmanlar arası değişken dağılımı kayar. Bu, öğrenme sürecini yavaşlatır ve istikrarsızlaştırır.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94360" cy="117043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74720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51560" y="354787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Öğrenme Riski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020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ağlar daha karmaşıktır. Düzenlileştirme kritik hale gelir. BN, ek düzenlileştirme etkisi de sağlar.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Toplu Normalleştirme bu 3 sorunu da ele alır: hızlı yakınsama, kararlı eğitim, düzenlileştirme etkisi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| Batch Normalization Matematiği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5087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Formül: BN(x) = γ · x̂ + 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μ_B = (1/m) Σ xᵢ          →   Minigrup Ortalaması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σ²_B = (1/m) Σ (xᵢ − μ_B)²   →   Minigrup Varyansı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x̂ᵢ = (xᵢ − μ_B) / √(σ²_B + ε)  →   Normalleştirme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yᵢ = γ · x̂ᵢ + β           →   Ölçekleme &amp; Kaydırma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5146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(ölçek)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862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Öğrenilen parametre – başlangıçta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5146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(kayma)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862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Öğrenilen parametre – başlangıçta 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29184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639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sabit – sıfıra bölmeyi önler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184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329184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068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Minigrup ortalaması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639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Eğitimde mini-batch, testte tüm veri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9145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Minigrup boyutu 1 olursa BN çalışmaz! Ortalama çıkarıldığında tüm değerler 0 olur.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| Eğitim Modu vs Tahmin Modu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EĞİTİM MODU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istatistikleri kullanılır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ve σ² her batch için hesaplanır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tahmin → düzenlileştirme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Hareketli ortalama (momentum=0.9)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boyutu önemli (≈32-256)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776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ve β eğitim sırasında güncellenir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TAHMİN MODU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4630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veri seti istatistikleri kullanılır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9659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ve σ² eğitimde sabitlendi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4688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sonuç → gürültü yok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girdi = aynı çıktı (her zaman)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Dropout'ta da aynı prensip geçerli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ve β sabit kalır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7.5.2 | FC &amp; Evrişimli Katmanlarda Batch Norm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Bağlı Katman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383280" cy="274320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38328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 Dönüşüm: Wx +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3383280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Batch Norm buraya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3383280" cy="2743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Etkinleştirme (ReLU)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338328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Evrişimli Katman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4630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çıktı kanalı için ayrı BN!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boyutu: (N, H, W, 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kanal için: ayrı γ ve 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(N×H×W) üzerinde normalleştir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37560"/>
            <a:ext cx="109728" cy="16459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401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Norm'un Faydaları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7947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Daha büyük öğrenme hızlarına izin verir → daha hızlı eğitim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0690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Düzenlileştirme etkisi → Dropout ile birlikte veya yerine kullanılabilir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3434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Parametre ilklemesine duyarlılığı azaltır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46177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100+ katmanlı ağların eğitimini mümkün kılar (ResNet ile birlikte)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| TensorFlow – LeNet + Batch Normalization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4160520"/>
          </a:xfrm>
          <a:prstGeom prst="rect">
            <a:avLst/>
          </a:prstGeom>
          <a:solidFill>
            <a:srgbClr val="2525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net():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tf.keras.models.Sequential([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Conv2D(filters=6, kernel_size=5),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BatchNormalization(),          # BN evrişimden sonra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Activation('sigmoid'),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AvgPool2D(pool_size=2, strides=2),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Conv2D(filters=16, kernel_size=5),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BatchNormalization(),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Activation('sigmoid'),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AvgPool2D(pool_size=2, strides=2), Flatten(),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Dense(120), BatchNormalization(), Activation('sigmoid'),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Dense(84),  BatchNormalization(), Activation('sigmoid'),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Dense(10)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Sonuç: loss=0.262  |  train_acc=0.903  |  test_acc=0.814  |  lr=1.0 (BN ile büyük lr mümkün!)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Kapsamlı Mimari Karşılaştırması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822960"/>
            <a:ext cx="1463040" cy="4754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" y="84124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822960"/>
            <a:ext cx="1234440" cy="47548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1728216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822960"/>
            <a:ext cx="123444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054096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822960"/>
            <a:ext cx="1234440" cy="47548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1" name="Text 9"/>
          <p:cNvSpPr/>
          <p:nvPr/>
        </p:nvSpPr>
        <p:spPr>
          <a:xfrm>
            <a:off x="4379976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822960"/>
            <a:ext cx="1234440" cy="47548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3" name="Text 11"/>
          <p:cNvSpPr/>
          <p:nvPr/>
        </p:nvSpPr>
        <p:spPr>
          <a:xfrm>
            <a:off x="5705856" y="8412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822960"/>
            <a:ext cx="2011680" cy="47548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031736" y="84124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" y="1325880"/>
            <a:ext cx="1463040" cy="4754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" y="134416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91640" y="132588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28216" y="13441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132588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3054096" y="13441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132588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79976" y="13441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32588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5" name="Text 23"/>
          <p:cNvSpPr/>
          <p:nvPr/>
        </p:nvSpPr>
        <p:spPr>
          <a:xfrm>
            <a:off x="5705856" y="13441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1325880"/>
            <a:ext cx="201168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134416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" y="1828800"/>
            <a:ext cx="1463040" cy="4754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" y="18470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91640" y="182880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728216" y="18470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17520" y="182880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054096" y="18470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182880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379976" y="18470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182880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705856" y="18470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95160" y="1828800"/>
            <a:ext cx="2011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031736" y="184708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" y="2331720"/>
            <a:ext cx="1463040" cy="4754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1" name="Text 39"/>
          <p:cNvSpPr/>
          <p:nvPr/>
        </p:nvSpPr>
        <p:spPr>
          <a:xfrm>
            <a:off x="173736" y="235000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91640" y="233172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43" name="Text 41"/>
          <p:cNvSpPr/>
          <p:nvPr/>
        </p:nvSpPr>
        <p:spPr>
          <a:xfrm>
            <a:off x="1728216" y="235000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17520" y="233172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45" name="Text 43"/>
          <p:cNvSpPr/>
          <p:nvPr/>
        </p:nvSpPr>
        <p:spPr>
          <a:xfrm>
            <a:off x="3054096" y="235000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43400" y="233172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47" name="Text 45"/>
          <p:cNvSpPr/>
          <p:nvPr/>
        </p:nvSpPr>
        <p:spPr>
          <a:xfrm>
            <a:off x="4379976" y="235000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~138M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0" y="233172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49" name="Text 47"/>
          <p:cNvSpPr/>
          <p:nvPr/>
        </p:nvSpPr>
        <p:spPr>
          <a:xfrm>
            <a:off x="5705856" y="235000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95160" y="2331720"/>
            <a:ext cx="201168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51" name="Text 49"/>
          <p:cNvSpPr/>
          <p:nvPr/>
        </p:nvSpPr>
        <p:spPr>
          <a:xfrm>
            <a:off x="7031736" y="235000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37160" y="2834640"/>
            <a:ext cx="1463040" cy="4754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3" name="Text 51"/>
          <p:cNvSpPr/>
          <p:nvPr/>
        </p:nvSpPr>
        <p:spPr>
          <a:xfrm>
            <a:off x="173736" y="285292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691640" y="283464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728216" y="285292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17520" y="283464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3054096" y="285292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343400" y="283464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379976" y="285292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✅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669280" y="283464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705856" y="285292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✅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95160" y="2834640"/>
            <a:ext cx="2011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7031736" y="285292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✅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37160" y="3337560"/>
            <a:ext cx="1463040" cy="4754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5" name="Text 63"/>
          <p:cNvSpPr/>
          <p:nvPr/>
        </p:nvSpPr>
        <p:spPr>
          <a:xfrm>
            <a:off x="173736" y="335584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91640" y="333756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67" name="Text 65"/>
          <p:cNvSpPr/>
          <p:nvPr/>
        </p:nvSpPr>
        <p:spPr>
          <a:xfrm>
            <a:off x="1728216" y="33558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017520" y="333756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69" name="Text 67"/>
          <p:cNvSpPr/>
          <p:nvPr/>
        </p:nvSpPr>
        <p:spPr>
          <a:xfrm>
            <a:off x="3054096" y="33558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43400" y="333756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71" name="Text 69"/>
          <p:cNvSpPr/>
          <p:nvPr/>
        </p:nvSpPr>
        <p:spPr>
          <a:xfrm>
            <a:off x="4379976" y="33558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669280" y="333756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73" name="Text 71"/>
          <p:cNvSpPr/>
          <p:nvPr/>
        </p:nvSpPr>
        <p:spPr>
          <a:xfrm>
            <a:off x="5705856" y="335584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995160" y="3337560"/>
            <a:ext cx="201168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75" name="Text 73"/>
          <p:cNvSpPr/>
          <p:nvPr/>
        </p:nvSpPr>
        <p:spPr>
          <a:xfrm>
            <a:off x="7031736" y="335584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37160" y="3840480"/>
            <a:ext cx="1463040" cy="4754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7" name="Text 75"/>
          <p:cNvSpPr/>
          <p:nvPr/>
        </p:nvSpPr>
        <p:spPr>
          <a:xfrm>
            <a:off x="173736" y="385876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691640" y="384048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1728216" y="38587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017520" y="384048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3054096" y="38587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343400" y="384048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4379976" y="38587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669280" y="3840480"/>
            <a:ext cx="1234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5705856" y="385876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995160" y="3840480"/>
            <a:ext cx="2011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7031736" y="385876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37160" y="4343400"/>
            <a:ext cx="1463040" cy="47548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89" name="Text 87"/>
          <p:cNvSpPr/>
          <p:nvPr/>
        </p:nvSpPr>
        <p:spPr>
          <a:xfrm>
            <a:off x="173736" y="43616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691640" y="434340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91" name="Text 89"/>
          <p:cNvSpPr/>
          <p:nvPr/>
        </p:nvSpPr>
        <p:spPr>
          <a:xfrm>
            <a:off x="1728216" y="43616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017520" y="434340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93" name="Text 91"/>
          <p:cNvSpPr/>
          <p:nvPr/>
        </p:nvSpPr>
        <p:spPr>
          <a:xfrm>
            <a:off x="3054096" y="43616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43400" y="434340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95" name="Text 93"/>
          <p:cNvSpPr/>
          <p:nvPr/>
        </p:nvSpPr>
        <p:spPr>
          <a:xfrm>
            <a:off x="4379976" y="43616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669280" y="4343400"/>
            <a:ext cx="123444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97" name="Text 95"/>
          <p:cNvSpPr/>
          <p:nvPr/>
        </p:nvSpPr>
        <p:spPr>
          <a:xfrm>
            <a:off x="5705856" y="4361688"/>
            <a:ext cx="1161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995160" y="4343400"/>
            <a:ext cx="2011680" cy="475488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99" name="Text 97"/>
          <p:cNvSpPr/>
          <p:nvPr/>
        </p:nvSpPr>
        <p:spPr>
          <a:xfrm>
            <a:off x="7031736" y="436168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37160" y="4846320"/>
            <a:ext cx="8869680" cy="2011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1" name="Text 99"/>
          <p:cNvSpPr/>
          <p:nvPr/>
        </p:nvSpPr>
        <p:spPr>
          <a:xfrm>
            <a:off x="274320" y="4864608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GoogLeNet: en az parametre ile en yüksek doğruluk – en verimli mimari tasarım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– Bölüm 7.1 – 7.5 Ana Çıkarımları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9144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AlexNet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CNN'lerin yükselişi: ReLU + Dropout + GPU + büyük veri. Uçtan uca öğrenme başladı.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70078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VGG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0391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3×3 bloklar = derin ağ tasarımı. Sadelik + derinlik = güç.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78024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50545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5237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NiN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8437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evrişim ile piksel başı MLP. FC yerine GlobalAvgPool → parametre tasarrufu.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82696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3101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3284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GoogLeNet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6484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bloğu: paralel çok ölçekli öğrenme. Az parametre, yüksek doğruluk.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87368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1148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41330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Batch Norm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453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Normalleştirme = hızlı eğitim + kararlılık. Eğitim ve test modları farklı çalışır.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Alıştırmalar &amp; Uygulama Soruları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85800" cy="8961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dönem sayısını artırın. LeNet ile doğruluk farkı neden oluşur?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685800" cy="8961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1440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123444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AlexNet'i Fashion-MNIST için basitleştirin. Doğruluğu koruyabilir misiniz?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20240"/>
            <a:ext cx="685800" cy="89611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92024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ile AlexNet'i hesaplama karmaşıklığı açısından karşılaştırın.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20240"/>
            <a:ext cx="685800" cy="89611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92024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224028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veya VGG-19 mimarilerini uygulayın.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26080"/>
            <a:ext cx="685800" cy="89611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92608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2461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 bloğundaki 1×1 evrişim katmanlarından birini kaldırsak ne olur?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685800" cy="89611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92608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32461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için minimum imge boyutu nedir?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93192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931920"/>
            <a:ext cx="685800" cy="8961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93192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" y="425196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BN'li LeNet'e büyük öğrenme hızı uygulayın. Ne gözlemlersiniz?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31920"/>
            <a:ext cx="685800" cy="89611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931920"/>
            <a:ext cx="685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425196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yerine Batch Norm kullanmak davranışı nasıl değiştirir?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175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65760"/>
            <a:ext cx="548640" cy="548640"/>
          </a:xfrm>
          <a:prstGeom prst="ellipse">
            <a:avLst/>
          </a:prstGeom>
          <a:solidFill>
            <a:srgbClr val="1E88E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548640" cy="548640"/>
          </a:xfrm>
          <a:prstGeom prst="ellipse">
            <a:avLst/>
          </a:prstGeom>
          <a:solidFill>
            <a:srgbClr val="00ACC1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365760"/>
            <a:ext cx="548640" cy="548640"/>
          </a:xfrm>
          <a:prstGeom prst="ellipse">
            <a:avLst/>
          </a:prstGeom>
          <a:solidFill>
            <a:srgbClr val="FFB30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280160"/>
            <a:ext cx="548640" cy="548640"/>
          </a:xfrm>
          <a:prstGeom prst="ellipse">
            <a:avLst/>
          </a:prstGeom>
          <a:solidFill>
            <a:srgbClr val="1E88E5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1280160"/>
            <a:ext cx="548640" cy="548640"/>
          </a:xfrm>
          <a:prstGeom prst="ellipse">
            <a:avLst/>
          </a:prstGeom>
          <a:solidFill>
            <a:srgbClr val="00ACC1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1280160"/>
            <a:ext cx="548640" cy="548640"/>
          </a:xfrm>
          <a:prstGeom prst="ellipse">
            <a:avLst/>
          </a:prstGeom>
          <a:solidFill>
            <a:srgbClr val="FFB300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– CNN Mimarileri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36576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 ·  VGG  ·  NiN  ·  GoogLeNet  ·  Batch Normalization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Devrimi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83464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Bloğu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12064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Katman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Mümkün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7.1 – 7.5  |  Derin Öğrenme Dersi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Derin Öğrenme: CNN Mimarileri (7.1 - 7.5)</dc:title>
  <dc:subject>PptxGenJS Presentation</dc:subject>
  <dc:creator>Derin Öğrenme Sunumu</dc:creator>
  <cp:lastModifiedBy>Derin Öğrenme Sunumu</cp:lastModifiedBy>
  <cp:revision>1</cp:revision>
  <dcterms:created xsi:type="dcterms:W3CDTF">2026-05-02T05:57:00Z</dcterms:created>
  <dcterms:modified xsi:type="dcterms:W3CDTF">2026-05-02T05:57:00Z</dcterms:modified>
</cp:coreProperties>
</file>