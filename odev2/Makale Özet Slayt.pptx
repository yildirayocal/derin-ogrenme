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442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11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1945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| DERİN ÖĞRENME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Modelleri için Kapsamlı Bir Giriş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Emmert-Streib et al. (2020) — Frontiers in Artificial Intelligence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1408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121408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85616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785616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9824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49824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14032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114032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 Üniversitesi, Finlandiya  •  Steyr Uygulamalı Bilimler Üniversitesi, Avusturya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İçindekiler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3891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01498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Büyük Veri Çağı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441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neden önemli?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3891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9751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Mimarileri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3042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 modeli, Feedforward, RNN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38912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9352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Evrişimsel Sinir Ağları (CNN)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26440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VGGNet, GoogLeNet, ResNet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3891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8953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İnanç Ağları (DBN)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42245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RBM, Ön-Eğitim, İnce-Ayar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3891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54880" y="9601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101498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Otokodlayıcılar (Autoencoder)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134416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indirgeme, özellik öğrenimi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54880" y="1920240"/>
            <a:ext cx="438912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54880" y="1920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85232" y="19751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Ağları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230428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kısa süreli bellek, kapı mekanizmaları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438912" cy="7498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754880" y="2880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29352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&amp; Sonuç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85232" y="326440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karşılaştırması, büyük veri, XAI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GİRİŞ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 Çağında Derin Öğrenme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060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Hata Oranı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 et al., 2013)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6060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DÖ Başlangıcı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(Hinton et al.)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115568"/>
            <a:ext cx="26060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03504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1792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Yayın Sayısı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of Science)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Alanları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tanıma (ImageNet, dermatoloji)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tanıma ve NLP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 modelleme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Hesaplamalı biyoloji ve genomik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görüntü analizi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 Dağılımı (Web of Science)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303580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709160" y="3035808"/>
            <a:ext cx="152448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709160" y="303580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Bilimi  52.1%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40156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709160" y="3401568"/>
            <a:ext cx="1214323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09160" y="340156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 41.5%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76732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709160" y="3767328"/>
            <a:ext cx="181417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Görüntüleme  6.2%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413308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709160" y="4133088"/>
            <a:ext cx="7607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09160" y="413308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Robotik  2.6%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4498848"/>
            <a:ext cx="292608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709160" y="4498848"/>
            <a:ext cx="7315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709160" y="4498848"/>
            <a:ext cx="411480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Hesaplamalı Biyoloji  2.5%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Ağlarının Tarihsel Gelişimi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51560" y="932688"/>
            <a:ext cx="45720" cy="393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60120" y="104241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56692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9326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McCulloch-Pitts: İlk matematiksel nöron modeli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1810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566928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75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Rosenblatt: Perceptron — doğrusal ikili sınıflandırıcı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60120" y="2578608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566928" cy="2560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Papert: XOR problemi → 'Yapay Zeka Kışı'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33467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56692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576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Fukushima: Neocognitron — ilk derin CNN öncüsü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0120" y="41148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56692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5760" y="4005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 et al.: Geri yayılım algoritması yeniden doğdu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104241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46320" y="932688"/>
            <a:ext cx="56692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46320" y="9326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207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 &amp; Schmidhuber: LSTM — uzun bağımlılık çözümü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181051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846320" y="1700784"/>
            <a:ext cx="566928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846320" y="17007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975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al.: Derin İnanç Ağları — 3. dalga başlıyor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2578608"/>
            <a:ext cx="201168" cy="20116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4846320" y="2468880"/>
            <a:ext cx="566928" cy="2560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846320" y="24688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AlexNet, ImageNet şampiyonu — CNN rönesansı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49240" y="33467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4846320" y="3236976"/>
            <a:ext cx="56692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46320" y="32369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Goodfellow: GAN — 'Son 20 yılın en harika fikri'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49240" y="41148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846320" y="4005072"/>
            <a:ext cx="56692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46320" y="4005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Bengio, Hinton, LeCun: Turing Ödülü kazandı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MİMARİLER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Nöron Modeli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64008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5024" y="1133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1289304"/>
            <a:ext cx="777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64008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35024" y="2002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2157984"/>
            <a:ext cx="777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640080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35024" y="28712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34440" y="3026664"/>
            <a:ext cx="7772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331720" y="1005840"/>
            <a:ext cx="56692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331720" y="10058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14813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(bias)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03120" y="1554480"/>
            <a:ext cx="822960" cy="7132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103120" y="15544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944368" y="1883664"/>
            <a:ext cx="5486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493008" y="1554480"/>
            <a:ext cx="822960" cy="7132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493008" y="15544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334256" y="1883664"/>
            <a:ext cx="5486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82896" y="1600200"/>
            <a:ext cx="640080" cy="6217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82896" y="16002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03120" y="2788920"/>
            <a:ext cx="3474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10312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φ(z) = φ(wᵀx + b)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1298448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852160" y="12984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x)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DÖ'de en popüler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52160" y="2103120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852160" y="21031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1/(1+e⁻ˣ)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450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 aralığı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52160" y="2907792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852160" y="290779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(eˣ−e⁻ˣ)/(eˣ+e⁻ˣ)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(−1,1) aralığı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52160" y="3712464"/>
            <a:ext cx="30175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852160" y="371246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0372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eˣᵢ/Σeˣⱼ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katmanı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CNN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Evrişimsel Sinir Ağları (CNN)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502920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0292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024128" y="1097280"/>
            <a:ext cx="548640" cy="2194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24128" y="1115568"/>
            <a:ext cx="5486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Katmanı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72768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773936" y="1097280"/>
            <a:ext cx="475488" cy="2194560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773936" y="1115568"/>
            <a:ext cx="475488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49424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548640" cy="2194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450592" y="1115568"/>
            <a:ext cx="54864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99232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00400" y="1097280"/>
            <a:ext cx="475488" cy="2194560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200400" y="1115568"/>
            <a:ext cx="475488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75888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877056" y="1097280"/>
            <a:ext cx="530352" cy="219456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877056" y="1115568"/>
            <a:ext cx="530352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Bağlantılı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07408" y="2176272"/>
            <a:ext cx="20116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608576" y="1097280"/>
            <a:ext cx="457200" cy="21945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608576" y="1115568"/>
            <a:ext cx="457200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Hiper-Parametreler (Evrişim Katmanı)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93776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Boyutu (N)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alım alanı penceresi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42032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2542032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2670048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(Stride 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70048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Çekirdeğin kaydırma piksel sayısı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18304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4718304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8463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Dolgu (P)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boyutunu korumak için kenara eklenen sıfırlar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94576" y="3794760"/>
            <a:ext cx="2011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6894576" y="3794760"/>
            <a:ext cx="64008" cy="9875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7022592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Paylaşımı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22592" y="4178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nöronlar aynı çekirdeği paylaşır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CNN VARYANTLARİ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CNN Varyantları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75488" y="1051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 (2014)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katmana kadar derinlik araştırdı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AlexNet'in 8 katmanından 19'a genişledi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filtreler birleştirilerek büyük filtreler simüle edildi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hata: %10.4'ten %8.0'a indi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10128" y="1051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/ Inception (2014)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bloğu: paralel 1×1, 3×3, 5×5 filtreler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yapı → daha az parametre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evrişim ile boyut indirgeme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ILSVRC2014 sınıflandırma şampiyonu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144768" y="1051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(2016)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Degradasyon problemini çözen artık bağlantılar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F(x) + x kimlik eşlemesi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katmana kadar genişleme imkânı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ILSVRC2016: %3.57 hata oranı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DBN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İnanç Ağları (DBN)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Öğrenme: İki Aşama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69080" cy="342900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40690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1: Gözetimsiz Ön-Eğitim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Boltzmann Makineleri (RBM) istiflenip eğitilir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RBM'nin gizli katmanı sonraki RBM'nin görünür katmanı olur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Çelişkili Ayrıklık (CD) algoritması ile gradyan tahmini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kullanılmaz; parametreler başlatılır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fonksiyonu minimize edilir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35608"/>
            <a:ext cx="4069080" cy="34290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09160" y="1435608"/>
            <a:ext cx="406908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00600" y="14356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2: Gözetimli İnce-Ayar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devreye girer; hata fonksiyonu minimize edilir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Karesel Hata (MSE) veya çapraz entropi kullanılır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algoritması ile gradyan hesabı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Stokastik Gradyan İnişi (SGD) mini-batch'lerle uygulanır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iRprop+ hızlandırılmış versiyon kullanılabilir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AUTOENCODER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Otokodlayıcılar (Autoencoder)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1208" y="10424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21208" y="14996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21208" y="19568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21208" y="24140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21208" y="28712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21208" y="33284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92608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GİRİŞ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#Özellik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1764792" y="12710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764792" y="17282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764792" y="21854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764792" y="26426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764792" y="30998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536192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Kodlayıcı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40864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008376" y="14996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008376" y="19568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008376" y="24140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008376" y="287121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779776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Kodlayıcı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84448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251960" y="1956816"/>
            <a:ext cx="329184" cy="32918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251960" y="2414016"/>
            <a:ext cx="329184" cy="329184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023360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28032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495544" y="14996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5495544" y="19568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5495544" y="24140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495544" y="28712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266944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Çözücü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71616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739128" y="12710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6739128" y="17282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739128" y="21854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6739128" y="26426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6739128" y="3099816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510528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Çözücü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267712"/>
            <a:ext cx="43891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7982712" y="10424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7982712" y="14996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7982712" y="19568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7982712" y="24140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7982712" y="28712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982712" y="332841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7754112" y="36118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ÇIKIŞ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#Özellik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74720" y="914400"/>
            <a:ext cx="21945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3474720" y="914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x ≈ y = g(c)  →  c = h(x)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4315968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365760" y="4315968"/>
            <a:ext cx="64008" cy="7132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493776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İndirgeme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3776" y="47000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katmanı ham verinin sıkıştırılmış temsilini öğrenir. PCA'ya göre doğrusal olmayan dönüşüm sayesinde daha iyi performans sağlar.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4315968"/>
            <a:ext cx="41148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4754880" y="4315968"/>
            <a:ext cx="64008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4882896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Varyantlar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82896" y="47000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Autoencoder, Gürültü Giderici Autoencoder (dAE), Değişimsel Autoencoder (VAE) — üretici model olarak kullanılabilir.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LSTM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Kısa Süreli Bellek (LSTM)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75488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Bellek Bloğu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804672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 (iₜ)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1572768"/>
            <a:ext cx="804672" cy="7498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73736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 (fₜ)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34640" y="1572768"/>
            <a:ext cx="804672" cy="749808"/>
          </a:xfrm>
          <a:prstGeom prst="ellipse">
            <a:avLst/>
          </a:prstGeom>
          <a:solidFill>
            <a:srgbClr val="84CC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83464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Hücresi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1572768"/>
            <a:ext cx="804672" cy="7498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566160" y="1572768"/>
            <a:ext cx="804672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 (oₜ)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2432304"/>
            <a:ext cx="3977640" cy="457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Durumu cₜ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σ(W⁽ⁱˣ⁾x⁽ᵗ⁾ + U⁽ⁱʰ⁾h⁽ᵗ⁻¹⁾ + bⁱ)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σ(W⁽ᶠˣ⁾x⁽ᵗ⁾ + U⁽ᶠʰ⁾h⁽ᵗ⁻¹⁾ + bᶠ)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∘ cₜ₋₁ + iₜ ∘ lₜ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∘ tanh(cₜ)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107899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349240" y="107899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70448" y="11155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Besleme Bağlantıları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70448" y="137160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D-FFNN'den farklı olarak döngüsel bağlantılar içerir; zaman serileri için idealdir.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49240" y="194767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349240" y="194767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70448" y="198424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Kaybolan Gradyan Çözümü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0448" y="224028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 mekanizması hata sinyalinin kaybolmasını engeller; uzun bağımlılıkları öğrenir.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281635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349240" y="281635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70448" y="285292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Alanları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0448" y="310896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sınıflandırma, dil çevirisi, konuşma tanıma, görüntü altyazı üretimi.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3685032"/>
            <a:ext cx="3429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70448" y="372160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 &amp; GRU Varyantı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0448" y="397764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Peephole: kapılar hücre durumunu kullanır. GRU: 2014'te önerilen daha sade yapı.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TARTIŞMA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 &amp; Uygulama Alanları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1572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D-FFNN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Tablolu Veri, Sınıflandırma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 teoremi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İlaç toksisitesi tahmini (Mayr et al.)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66544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066544" y="1078992"/>
            <a:ext cx="1572768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066544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CNN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57984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57984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Görüntü, Video, 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7984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57984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bağlantı + ağırlık paylaşımı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57984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57984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 kanseri sınıflandırma (Esteva et al.)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85616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3785616" y="1078992"/>
            <a:ext cx="157276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785616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DBN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77056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77056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Genomik, Ses, Metin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77056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77056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Etiketlenmemiş veri ön-eğitimi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77056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77056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ifadesi sınıflandırma (Smolander et al.)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04688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504688" y="1078992"/>
            <a:ext cx="1572768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504688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Autoencoder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96128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96128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İndirgeme, Anomali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96128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96128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temsil öğrenimi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96128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96128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temsili öğrenme (Liou et al.)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23760" y="1078992"/>
            <a:ext cx="1572768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223760" y="1078992"/>
            <a:ext cx="157276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223760" y="107899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LSTM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0" y="16459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186537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Veri, NLP, Ses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230428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0" y="25237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bağımlılık &amp; kaybolan gradyan çözümü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31089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332841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 kayıt metin sınıflandırma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Veri, XAI ve Sonuç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2176272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Büyük Veri vs. Küçük Veri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274320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285293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EMNIST veri seti üzerinde LSTM deneyi: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774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örneği gerekli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 altı hata için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On-binlerce örnek gerekir. Küçük veri → model çöker.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2176272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5488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Açıklanabilir Yapay Zeka (XAI)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modelleri kara kutu tahmin modelleridir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ve tıbbi alanda yorumlanabilirlik kritik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alanı henüz gelişme aşamasında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 modeller daha büyük veri gerektirebilir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Çıkarımlar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5760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 benzeri esnek mimari yapı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42032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542032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542032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 öğrenimi tüm DÖ modellerinin ortak özelliği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18304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18304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alanları çakışabilir; karşılaştırmalı çalışma gerekli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94576" y="3785616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894576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94576" y="4251960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türü ve boyutu model seçimini belirler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D-FFNN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İleri Beslemeli Sinir Ağları (D-FFNN)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Evrensel Yaklaşım Teoremi: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gizli katmanlı ve sonlu sayıda nörona sahip bir FFNN, Rⁿ üzerindeki kompakt kümelerdeki herhangi bir sürekli fonksiyonu yaklaşımlayabilir. (Hornik, 1991)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Ağ (Depth=2)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048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502920" y="335584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114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938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188720" y="240487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188720" y="28803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1188720" y="33558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188720" y="383133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0972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264261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874520" y="31181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7830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68680" y="3054096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1554480" y="3054096"/>
            <a:ext cx="3200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56616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Ağ (D-FFNN, Depth=4)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24048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703320" y="28803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3703320" y="335584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61188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6908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0" y="16916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572000" y="2167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57200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572000" y="3118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4572000" y="35935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572000" y="4069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48056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440680" y="16916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440680" y="2167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44068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5440680" y="3118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440680" y="35935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440680" y="4069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34924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0644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309360" y="16916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309360" y="2167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630936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6309360" y="31181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6309360" y="35935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6309360" y="4069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621792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675120" y="3054096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7178040" y="264261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7178040" y="311810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7086600" y="4078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4315968"/>
            <a:ext cx="2697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365760" y="431596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493776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Derin?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3776" y="470001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ağlar teorik olarak her fonksiyonu yaklaşımlayabilir, ancak genişlik üssel büyüyebilir. Derin ağlar sınırlı nöronlarla aynı ifade gücünü sağlar.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91840" y="4315968"/>
            <a:ext cx="2697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3291840" y="431596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3419856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Öğrenme: SGD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419856" y="470001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Stokastik Gradyan İnişi, rastgele seçilen mini-batch'lerle parametreleri günceller. Büyük veri setlerinde hız avantajı sağlar.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17920" y="4315968"/>
            <a:ext cx="26974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6217920" y="4315968"/>
            <a:ext cx="64008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6345936" y="4407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Öğrenimi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345936" y="470001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f*(x) ≈ φ⁽ⁿ⁾(…φ⁽²⁾(φ⁽¹⁾(x))…) — Her katman girişi daha soyut bir temsile dönüştürür.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YİNELEMELİ AĞLAR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Ağları &amp; Boltzmann Makinesi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0690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0789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Ağı (1982)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16642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057400" y="15727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834640" y="16642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508760" y="25146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472184" y="1764792"/>
            <a:ext cx="77724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1472184" y="1856232"/>
            <a:ext cx="228600" cy="8503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249424" y="1764792"/>
            <a:ext cx="77724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700784" y="1764792"/>
            <a:ext cx="548640" cy="9418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2249424" y="1764792"/>
            <a:ext cx="548640" cy="9418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798064" y="1856232"/>
            <a:ext cx="228600" cy="8503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700784" y="2706624"/>
            <a:ext cx="1097280" cy="914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" y="2999232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İçerik-adreslenebilir (asosiyatif) bellek modeli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McCulloch-Pitts nöronlarından oluşan tam bağlı ağ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Ağırlıklar: wᵢⱼ = Σ tᵢ⁽ᵏ⁾tⱼ⁽ᵏ⁾ (simetrik)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kapasitesi ≈ 0.138 × N (Hertz et al., 1991)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= İşlem = Çıkış → katman ayrımı yok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406908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406908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818888" y="10789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Boltzmann Makinesi (1983)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1536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4476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0" y="17373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029200" y="23317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029200" y="292608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029200" y="352044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217920" y="310896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376672" y="1911096"/>
            <a:ext cx="841248" cy="3566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5376672" y="1911096"/>
            <a:ext cx="841248" cy="95097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5376672" y="1911096"/>
            <a:ext cx="841248" cy="154533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5376672" y="250545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376672" y="2505456"/>
            <a:ext cx="841248" cy="3566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376672" y="2505456"/>
            <a:ext cx="841248" cy="95097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376672" y="309981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5376672" y="309981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376672" y="3099816"/>
            <a:ext cx="841248" cy="3566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376672" y="369417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5376672" y="369417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376672" y="3694176"/>
            <a:ext cx="8412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4818888" y="281635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Hopfield ağı: olasılıksal aktivasyon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p(sᵢ=1) = 1/(1+exp(−xᵢ)) — sigmoid fonksiyonu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katmanlı: görünür + gizli katman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kenarlar yönsüz → bilgi iki yönlü akar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bağlı: tüm nöronlar birbirine bağlı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BM (RBM): aynı katmanda bağlantı yok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CNN DETAY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İşlemi &amp; Havuzlama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Wçıkış = (Wgiriş − N + 2P) / S + 1     Hçıkış = (Hgiriş − N + 2P) / S + 1     D = 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 Giriş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011680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2011680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94944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011680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16736" y="201168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316736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27632" y="201168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627632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38528" y="201168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93852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8404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9494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00584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16736" y="2322576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31673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27632" y="2322576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162763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38528" y="2322576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193852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84048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94944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100584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16736" y="2633472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316736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27632" y="2633472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162763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38528" y="2633472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1938528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8404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944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9494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100584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16736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1316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27632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162763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938528" y="2944368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193852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84048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38404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4944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694944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05840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10058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316736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131673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27632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162763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938528" y="3255264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193852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84048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384048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94944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694944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05840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100584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316736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1316736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627632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1627632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938528" y="3566160"/>
            <a:ext cx="310896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Text 77"/>
          <p:cNvSpPr/>
          <p:nvPr/>
        </p:nvSpPr>
        <p:spPr>
          <a:xfrm>
            <a:off x="1938528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46888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Çekirdek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304288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82" name="Shape 80"/>
          <p:cNvSpPr/>
          <p:nvPr/>
        </p:nvSpPr>
        <p:spPr>
          <a:xfrm>
            <a:off x="2514600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Text 81"/>
          <p:cNvSpPr/>
          <p:nvPr/>
        </p:nvSpPr>
        <p:spPr>
          <a:xfrm>
            <a:off x="251460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825496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Text 83"/>
          <p:cNvSpPr/>
          <p:nvPr/>
        </p:nvSpPr>
        <p:spPr>
          <a:xfrm>
            <a:off x="2825496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136392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Text 85"/>
          <p:cNvSpPr/>
          <p:nvPr/>
        </p:nvSpPr>
        <p:spPr>
          <a:xfrm>
            <a:off x="313639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514600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9" name="Text 87"/>
          <p:cNvSpPr/>
          <p:nvPr/>
        </p:nvSpPr>
        <p:spPr>
          <a:xfrm>
            <a:off x="25146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825496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Text 89"/>
          <p:cNvSpPr/>
          <p:nvPr/>
        </p:nvSpPr>
        <p:spPr>
          <a:xfrm>
            <a:off x="282549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136392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3" name="Text 91"/>
          <p:cNvSpPr/>
          <p:nvPr/>
        </p:nvSpPr>
        <p:spPr>
          <a:xfrm>
            <a:off x="313639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514600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5" name="Text 93"/>
          <p:cNvSpPr/>
          <p:nvPr/>
        </p:nvSpPr>
        <p:spPr>
          <a:xfrm>
            <a:off x="251460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825496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7" name="Text 95"/>
          <p:cNvSpPr/>
          <p:nvPr/>
        </p:nvSpPr>
        <p:spPr>
          <a:xfrm>
            <a:off x="282549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136392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9" name="Text 97"/>
          <p:cNvSpPr/>
          <p:nvPr/>
        </p:nvSpPr>
        <p:spPr>
          <a:xfrm>
            <a:off x="313639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65760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4×4 Aktivasyon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3493008" y="2743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02" name="Shape 100"/>
          <p:cNvSpPr/>
          <p:nvPr/>
        </p:nvSpPr>
        <p:spPr>
          <a:xfrm>
            <a:off x="3712464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3" name="Text 101"/>
          <p:cNvSpPr/>
          <p:nvPr/>
        </p:nvSpPr>
        <p:spPr>
          <a:xfrm>
            <a:off x="3712464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023360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5" name="Text 103"/>
          <p:cNvSpPr/>
          <p:nvPr/>
        </p:nvSpPr>
        <p:spPr>
          <a:xfrm>
            <a:off x="402336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334256" y="2322576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7" name="Text 105"/>
          <p:cNvSpPr/>
          <p:nvPr/>
        </p:nvSpPr>
        <p:spPr>
          <a:xfrm>
            <a:off x="4334256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4645152" y="2322576"/>
            <a:ext cx="310896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9" name="Text 107"/>
          <p:cNvSpPr/>
          <p:nvPr/>
        </p:nvSpPr>
        <p:spPr>
          <a:xfrm>
            <a:off x="464515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712464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1" name="Text 109"/>
          <p:cNvSpPr/>
          <p:nvPr/>
        </p:nvSpPr>
        <p:spPr>
          <a:xfrm>
            <a:off x="3712464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023360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3" name="Text 111"/>
          <p:cNvSpPr/>
          <p:nvPr/>
        </p:nvSpPr>
        <p:spPr>
          <a:xfrm>
            <a:off x="402336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334256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5" name="Text 113"/>
          <p:cNvSpPr/>
          <p:nvPr/>
        </p:nvSpPr>
        <p:spPr>
          <a:xfrm>
            <a:off x="4334256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645152" y="2633472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7" name="Text 115"/>
          <p:cNvSpPr/>
          <p:nvPr/>
        </p:nvSpPr>
        <p:spPr>
          <a:xfrm>
            <a:off x="464515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3712464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9" name="Text 117"/>
          <p:cNvSpPr/>
          <p:nvPr/>
        </p:nvSpPr>
        <p:spPr>
          <a:xfrm>
            <a:off x="371246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4023360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1" name="Text 119"/>
          <p:cNvSpPr/>
          <p:nvPr/>
        </p:nvSpPr>
        <p:spPr>
          <a:xfrm>
            <a:off x="402336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334256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3" name="Text 121"/>
          <p:cNvSpPr/>
          <p:nvPr/>
        </p:nvSpPr>
        <p:spPr>
          <a:xfrm>
            <a:off x="433425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645152" y="2944368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5" name="Text 123"/>
          <p:cNvSpPr/>
          <p:nvPr/>
        </p:nvSpPr>
        <p:spPr>
          <a:xfrm>
            <a:off x="464515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712464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7" name="Text 125"/>
          <p:cNvSpPr/>
          <p:nvPr/>
        </p:nvSpPr>
        <p:spPr>
          <a:xfrm>
            <a:off x="3712464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4023360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9" name="Text 127"/>
          <p:cNvSpPr/>
          <p:nvPr/>
        </p:nvSpPr>
        <p:spPr>
          <a:xfrm>
            <a:off x="402336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334256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1" name="Text 129"/>
          <p:cNvSpPr/>
          <p:nvPr/>
        </p:nvSpPr>
        <p:spPr>
          <a:xfrm>
            <a:off x="433425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4645152" y="3255264"/>
            <a:ext cx="310896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3" name="Text 131"/>
          <p:cNvSpPr/>
          <p:nvPr/>
        </p:nvSpPr>
        <p:spPr>
          <a:xfrm>
            <a:off x="464515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502920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Havuzlama (Pooling) Türleri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5029200" y="2084832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6" name="Shape 134"/>
          <p:cNvSpPr/>
          <p:nvPr/>
        </p:nvSpPr>
        <p:spPr>
          <a:xfrm>
            <a:off x="5029200" y="2084832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7" name="Text 135"/>
          <p:cNvSpPr/>
          <p:nvPr/>
        </p:nvSpPr>
        <p:spPr>
          <a:xfrm>
            <a:off x="5138928" y="2121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5138928" y="237744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Alt-penceredeki maksimum değer alınır. Görüntü özelliklerinde baskın. (Scherer et al., 2010)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5029200" y="3044952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0" name="Shape 138"/>
          <p:cNvSpPr/>
          <p:nvPr/>
        </p:nvSpPr>
        <p:spPr>
          <a:xfrm>
            <a:off x="5029200" y="3044952"/>
            <a:ext cx="54864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1" name="Text 139"/>
          <p:cNvSpPr/>
          <p:nvPr/>
        </p:nvSpPr>
        <p:spPr>
          <a:xfrm>
            <a:off x="5138928" y="30815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Avg-Pooling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5138928" y="333756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Alt-penceredeki ortalama alınır. Daha düzgün ama özellik kaybı olabilir.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5029200" y="4005072"/>
            <a:ext cx="3749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4" name="Shape 142"/>
          <p:cNvSpPr/>
          <p:nvPr/>
        </p:nvSpPr>
        <p:spPr>
          <a:xfrm>
            <a:off x="5029200" y="4005072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5" name="Text 143"/>
          <p:cNvSpPr/>
          <p:nvPr/>
        </p:nvSpPr>
        <p:spPr>
          <a:xfrm>
            <a:off x="5138928" y="40416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Max-Pooling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5138928" y="429768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aktivasyon haritasından tek değer alınır. Tam bağlantılı katmanın yerini alabilir.</a:t>
            </a:r>
            <a:endParaRPr lang="en-US" sz="950" dirty="0"/>
          </a:p>
        </p:txBody>
      </p:sp>
      <p:sp>
        <p:nvSpPr>
          <p:cNvPr id="147" name="Text 14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Azaltma Örneği: 100×100×3 giriş, 2 çekirdek, 4×4 alan → yalnızca 4×4×3×2 = 96 parametre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RBM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Boltzmann Makinesi (RBM)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RBM Yapısı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 (v)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(h)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81051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272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943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8561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943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20299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0175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79806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017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017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69848" y="2039112"/>
            <a:ext cx="1947672" cy="21945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1069848" y="2039112"/>
            <a:ext cx="1947672" cy="9875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1069848" y="2039112"/>
            <a:ext cx="1947672" cy="17556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1069848" y="2697480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1069848" y="2697480"/>
            <a:ext cx="1947672" cy="3291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1069848" y="2697480"/>
            <a:ext cx="1947672" cy="1097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1069848" y="3355848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1069848" y="3355848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1069848" y="3355848"/>
            <a:ext cx="1947672" cy="43891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1069848" y="4014216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1069848" y="4014216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1069848" y="4014216"/>
            <a:ext cx="194767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737360" y="2468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69080"/>
            <a:ext cx="38404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57200" y="40690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E(v,h) = −Σᵢaᵢvᵢ − Σⱼbⱼhⱼ − Σᵢ Σⱼ vᵢhⱼwᵢⱼ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916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Çelişkili Ayrıklık (CD) Algoritması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148132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754880" y="153619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75488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1536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Faz (Veri)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66360" y="1792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verisi v⁽⁰⁾ ile başla. p(hⱼ=1|v) hesapla, Gibbs örneklemesi ile h⁽⁰⁾ üret.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2368296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4754880" y="242316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75488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Faz (Model)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66360" y="2679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h⁽⁰⁾'dan yeniden yapılandır: p(vᵢ=1|h) → v⁽ᵏ⁾. Tekrar: p(hⱼ=1|v⁽ᵏ⁾) → h⁽ᵏ⁾.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25526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4754880" y="3310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7548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6636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Güncelleme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66360" y="3566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Δwᵢⱼ = η[p(Hⱼ=1|v⁽⁰⁾)vᵢ⁽⁰⁾ − p(Hⱼ=1|v⁽ᵏ⁾)vᵢ⁽ᵏ⁾]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4142232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4754880" y="419709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475488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66360" y="4197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CD-1 Yeterli!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66360" y="4453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adımlı Gibbs örneklemesi ön-eğitim için yeterli yaklaşım sağlar. (Carreira-Perpinan &amp; Hinton, 2005)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DBN EĞİTİMİ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Eğitim: RBM İstifleme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0" cy="301752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#Özellik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1051560"/>
            <a:ext cx="640080" cy="165963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463040" y="1051560"/>
            <a:ext cx="64008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RBM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1863090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487168" y="1051560"/>
            <a:ext cx="640080" cy="1659636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487168" y="1051560"/>
            <a:ext cx="64008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45536" y="169849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93008" y="1051560"/>
            <a:ext cx="640080" cy="114665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493008" y="1051560"/>
            <a:ext cx="640080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RBM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51376" y="1606601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517136" y="1051560"/>
            <a:ext cx="640080" cy="1146658"/>
          </a:xfrm>
          <a:prstGeom prst="rect">
            <a:avLst/>
          </a:prstGeom>
          <a:solidFill>
            <a:srgbClr val="84CC16">
              <a:alpha val="70000"/>
            </a:srgbClr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17136" y="1051560"/>
            <a:ext cx="640080" cy="1146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75504" y="1442009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22976" y="1051560"/>
            <a:ext cx="640080" cy="84490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522976" y="1051560"/>
            <a:ext cx="6400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17136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RBM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1455725"/>
            <a:ext cx="34747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6547104" y="1051560"/>
            <a:ext cx="640080" cy="844906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547104" y="1051560"/>
            <a:ext cx="64008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05472" y="129113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2944" y="1051560"/>
            <a:ext cx="640080" cy="603504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552944" y="1051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47104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RBM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RBM'nin gizli katmanı → bir sonraki RBM'nin görünür katmanı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AE VARYANTLARİ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Otokodlayıcı Varyantları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Standart Autoencoder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 sıkıştırılmış bir kodlamaya (c) dönüştürür, ardından yeniden oluşturur. PCA'ya kıyasla doğrusal olmayan dönüşüm sayesinde üstün performans sağlar.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231136"/>
            <a:ext cx="3895344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h(x)  →  y = g(c) ≈ 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560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Boyut indirgeme, görselleştirme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078992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411480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892040" y="10789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Seyrek Autoencoder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1554480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nöronların büyük çoğunluğunun sıfır aktivasyon göstermesi için düzenlileştirme (L1 cezası) uygulanır. Ayrık özellik temsilleri öğrenir.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10328" y="2231136"/>
            <a:ext cx="3895344" cy="29260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3776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L(x,x̂) + λ Σ |hⱼ|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0328" y="256032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Özellik seçimi, nesne tanıma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11480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Gürültü Giderici AE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49300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verisine kasıtlı gürültü eklenir, model bozulmamış veriyi yeniden oluşturmayı öğrenir. Güçlü özellikler çıkarır. (Vincent et al., 2010)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4169664"/>
            <a:ext cx="3895344" cy="29260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02920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~ q(x̃|x)  →  minimize L(x, g(h(x̃)))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4988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Görüntü gürültü giderme, dolgu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3017520"/>
            <a:ext cx="4114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800600" y="3017520"/>
            <a:ext cx="411480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30175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Değişimsel AE (VAE)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3493008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olarak tek bir nokta değil, bir dağılım öğrenir. Üretici model olarak kullanılır; yeniden örnekleme hilesi ile türevlenebilir. (Doersch, 2016)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10328" y="4169664"/>
            <a:ext cx="3895344" cy="292608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937760" y="4169664"/>
            <a:ext cx="3840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N(μ, σ²)  →  VAE = AE + KL diverjansı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449884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Görüntü/metin üretimi, anomali tespiti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LSTM UYGULAMALARI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Metin Sınıflandırma Modeli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Giriş Akışı (Kelime Gömme Vektörleri)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99616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231136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231136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15184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121408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121408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895344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895344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785616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785616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5559552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559552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449824" y="1719072"/>
            <a:ext cx="10241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449824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203704"/>
            <a:ext cx="612648" cy="3657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7223760" y="3456432"/>
            <a:ext cx="80467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223760" y="345643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07808" y="2816352"/>
            <a:ext cx="36576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7114032" y="1719072"/>
            <a:ext cx="10241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7114032" y="1719072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07808" y="1170432"/>
            <a:ext cx="36576" cy="5486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114032" y="749808"/>
            <a:ext cx="1024128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114032" y="74980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y_N → Softmax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9502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oklar: h⁽ᵗ⁻¹⁾ gizli durum aktarımı   |   Dikey oklar: giriş/çıkış akışı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297680"/>
            <a:ext cx="84124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02920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Gömme (Word Embedding):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460857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Kelimeler gerçek sayılı vektörlere dönüştürülür. Yaygın yöntemler: word2vec, GloVe, FastText. LSTM'in her zaman adımına (t) bir vektör Vᵢ beslenir.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LSTM VARYANTLARİ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 LSTM &amp; Kapılı Yinelemeli Birim (GRU)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69080" cy="379476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6908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754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Peephole LSTM (Gers &amp; Schmidhuber, 2000)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Fark: Kapılar h⁽ᵗ⁻¹⁾ yerine cₜ₋₁ kullanır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σ(W⁽ⁱˣ⁾x⁽ᵗ⁾ + U⁽ⁱᶜ⁾cₜ₋₁ + bⁱ)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σ(W⁽ᶠˣ⁾x⁽ᵗ⁾ + U⁽ᶠᶜ⁾cₜ₋₁ + bᶠ)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94360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σ(W⁽ᵒˣ⁾x⁽ᵗ⁾ + U⁽ᵒᶜ⁾cₜ₋₁ + bᵒ)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36976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94360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∘ cₜ₋₁ + iₜ ∘ lₜ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379476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∘ cₜ  (hₜ₋₁ kullanılmaz!)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16966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Avantaj: Çıkış kapısı kapalıysa (oₜ₋₁=0) geçmiş bilgi cₜ₋₁ üzerinden aktarılır → tarihsel bilgi kaybolmaz.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069080" cy="37947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Kapılı Yinelemeli Birim / GRU (Cho et al., 2014)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8888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LSTM'in basitleştirilmiş versiyonu — 2 kapı yeterli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1920240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910328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= σ(Wz·[hₜ₋₁, xₜ])   [Güncelleme Kapısı]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18888" y="2359152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910328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= σ(Wr·[hₜ₋₁, xₜ])   [Sıfırlama Kapısı]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18888" y="2798064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910328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h̃ₜ = tanh(W·[rₜ∘hₜ₋₁, xₜ])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18888" y="3236976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910328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(1−zₜ)∘hₜ₋₁ + zₜ∘h̃ₜ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18888" y="4078224"/>
            <a:ext cx="379476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846320" y="4078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Sayısı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1052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34656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18888" y="4288536"/>
            <a:ext cx="37947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10528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hızlı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34656" y="42885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yavaş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18888" y="4498848"/>
            <a:ext cx="3794760" cy="2011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46320" y="4498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Bağımlılıklar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10528" y="4498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34656" y="4498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18888" y="4709160"/>
            <a:ext cx="37947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4846320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Bağımlılıklar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10528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Çoğunlukla yeterli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34656" y="4709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Biraz daha iyi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GELİŞMİŞ MODELLER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Üretici Çekişmeli Ağlar &amp; İleri Seviye Modeller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— Goodfellow et al. (2014)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"Son 20 yılın en harika fikri" — Yann LeCun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1887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1887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N(0,1)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72768" y="2157984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956816" y="1664208"/>
            <a:ext cx="137160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956816" y="166420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Üretici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G(z)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46704" y="2157984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730752" y="1664208"/>
            <a:ext cx="10972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730752" y="1664208"/>
            <a:ext cx="10972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G(z)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157984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11887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72768" y="3456432"/>
            <a:ext cx="32735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5230368" y="2029968"/>
            <a:ext cx="1371600" cy="171907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230368" y="2029968"/>
            <a:ext cx="1371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Ayrıştırıcı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0256" y="2834640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004304" y="2487168"/>
            <a:ext cx="13716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004304" y="2487168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mi?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 = Sahte, 1 = Gerçek]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56816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besleme: Üretici, ayrıştırıcıyı kandırmayı öğrenir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480560"/>
            <a:ext cx="2697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93776" y="4572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Pekiştirmeli Öğrenme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" y="4864608"/>
            <a:ext cx="2496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 + RL → robotik, oyunlar, sağlık. (Mnih et al., 2015)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4480560"/>
            <a:ext cx="2697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3291840" y="4480560"/>
            <a:ext cx="6400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419856" y="4572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CNN (GCN)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19856" y="4864608"/>
            <a:ext cx="2496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yapılı veriler için CNN. NLP, kimya, genomik. (Wu et al., 2019)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480560"/>
            <a:ext cx="2697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217920" y="4480560"/>
            <a:ext cx="6400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345936" y="4572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Değişimsel AE (VAE)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45936" y="4864608"/>
            <a:ext cx="2496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Düzenlileştirilmiş AE; görüntü &amp; metin üretimi için üretici model.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Yazılım Ekosistemi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2633472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59152" y="1170432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359152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CNN, DBN, LSTM, MLP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7922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tarafından geliştirildi. Büyük ölçekli dağıtık eğitim. En yaygın kullanılan çerçeve.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182112" y="1078992"/>
            <a:ext cx="2633472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273552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75504" y="1170432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175504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73552" y="1554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Tüm modeller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73552" y="17922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üzerinde yüksek seviyeli API. Hızlı prototipleme için ideal. Keras 3 ile backend-agnostik.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8464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998464" y="1078992"/>
            <a:ext cx="2633472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089904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91856" y="1170432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991856" y="11704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89904" y="155448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Tüm modeller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9904" y="1792224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tarafından geliştirildi. Araştırmada popüler. Dinamik hesaplama grafı.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89504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365760" y="2889504"/>
            <a:ext cx="2633472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57200" y="28895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MXNet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359152" y="2980944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359152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3649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CNN, MLP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360273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Apache'nin dağıtık DÖ çerçevesi. fastai kütüphanesi ile birlikte kullanılabilir.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82112" y="2889504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3182112" y="2889504"/>
            <a:ext cx="2633472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273552" y="28895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75504" y="2980944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175504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&amp; Python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73552" y="33649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AE, CNN, DBN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73552" y="360273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ML (AutoML) özelliği. Şirket ortamları için kurumsal çözüm.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98464" y="2889504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5998464" y="2889504"/>
            <a:ext cx="2633472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089904" y="28895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Theano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91856" y="2980944"/>
            <a:ext cx="566928" cy="25603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7991856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89904" y="336499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DBN, LSTM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089904" y="3602736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Sembolik diferansiyel hesaplama. Keras ve Lasagne'nin alt katmanı olarak kullanıldı.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Uygulama Örnekleri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94760" y="1143000"/>
            <a:ext cx="658368" cy="2560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794760" y="1143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12471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 kanseri sınıflandırma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Dermatoloji uzmanı seviyesinde doğruluk · Esteva et al., 2017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73168" y="105156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773168" y="105156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73168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02168" y="1143000"/>
            <a:ext cx="658368" cy="2560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02168" y="1143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0096" y="112471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Akciğer kanseri prognozu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0096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Radyomik: çok kohortlu retrospektif çalışma · Hosny et al., 2018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01168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760" y="2011680"/>
            <a:ext cx="5029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6576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94760" y="2103120"/>
            <a:ext cx="658368" cy="256032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794760" y="2103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20848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düzeyi metin sınıflandırma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gömme + evrişim katmanları · Zhang et al., 2015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73168" y="201168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773168" y="2011680"/>
            <a:ext cx="5029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773168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02168" y="2103120"/>
            <a:ext cx="658368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202168" y="2103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0096" y="208483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ifadesi karmaşık bozukluklar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0096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vs SVM karşılaştırması · Smolander et al., 2019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297180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365760" y="2971800"/>
            <a:ext cx="50292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65760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794760" y="3063240"/>
            <a:ext cx="658368" cy="256032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794760" y="3063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" y="30449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 modelleme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2688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tanıma için derin ağlar · Mohamed et al., 2011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73168" y="297180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4773168" y="297180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773168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0096" y="30449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İlaç-ilaç etkileşim çıkarımı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40096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Biyomedikal metinden bilgi çıkarımı · Sahu &amp; Anand, 2018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502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365760" y="39319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🏨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794760" y="4023360"/>
            <a:ext cx="658368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3794760" y="4023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" y="40050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DeepCare: Tahminsel Tıp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2688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dinamik bellek modeli · Pham et al., 2016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931920"/>
            <a:ext cx="4206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4773168" y="3931920"/>
            <a:ext cx="50292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4773168" y="39319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202168" y="4023360"/>
            <a:ext cx="658368" cy="256032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8202168" y="4023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B-LSTM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40096" y="40050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Fonem sınıflandırma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340096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yönlü LSTM ile ses işleme · Graves &amp; Schmidhuber, 2005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Tipleri &amp; Doğru Model Seçimi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914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/ Video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1901952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korelasyon, öteleme değişmezliği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82112" y="11704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73552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/ Müzik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47872" y="2029968"/>
            <a:ext cx="1901952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547872" y="2029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LSTM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3552" y="23408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örüntüler CNN; uzun bağımlılık LSTM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98464" y="10789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998464" y="11704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89904" y="17007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(NLP)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64224" y="2029968"/>
            <a:ext cx="19019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364224" y="20299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CNN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9904" y="23408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bağımlılık LSTM; yerel n-gram CNN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9077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65760" y="2999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35295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Tablolu Veri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858768"/>
            <a:ext cx="1901952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731520" y="3858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 yapı; tüm özellik ilişkilerini öğrenir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82112" y="29077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3182112" y="2999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73552" y="35295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Genomik / Omiks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47872" y="3858768"/>
            <a:ext cx="1901952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547872" y="3858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DBN / CNN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7355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yüksek boyutlu; ön-eğitim kritik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98464" y="290779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998464" y="2999232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🕸️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089904" y="35295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Verisi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64224" y="3858768"/>
            <a:ext cx="1901952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364224" y="38587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9904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CNN: komşuluk bilgisini öğrenir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Uygulama alanları örtüşebilir — en iyi model yalnızca karşılaştırmalı bir çalışmayla belirlenebilir.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3268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D-FFNN, CNN, DBN, AE, LSTM — temel DÖ mimarileri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9961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'Lego' yapısı: yeni mimariler bu blokları birleştirir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6654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DÖ modelleri temsil öğrenimi yapar — çok katmanlı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63347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&gt;25.000 örnek: iyi performans için genellikle gerekli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görüntü; LSTM → sıralı veri; DBN → ön-eğitim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76732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XAI: kara kutu modellerin yorumlanabilirliği henüz gelişmekte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334256"/>
            <a:ext cx="429768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57200" y="433425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33425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sonrası 3. dalga; 2019 Turing Ödülü ile zirveye ulaştı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822960"/>
            <a:ext cx="365760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120640" y="822960"/>
            <a:ext cx="365760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230368" y="8229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Temel Kaynaklar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0368" y="13167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LeCun, Bengio &amp; Hinton (2015). Deep Learning. Nature.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16459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Hinton et al. (2006). Deep Belief Nets. Neural Computation.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197510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Hochreiter &amp; Schmidhuber (1997). LSTM. Neural Computation.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0368" y="23042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Goodfellow et al. (2014). GAN. NIPS.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0368" y="26334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 et al. (2016). ResNet. CVPR.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296265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Hinton &amp; Salakhutdinov (2006). Autoencoders. Science.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4133088"/>
            <a:ext cx="36576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5230368" y="4187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Makale: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0368" y="440740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Emmert-Streib F et al. (2020). An Introductory Review of Deep Learning for Prediction Models With Big Data. Front. Artif. Intell. 3:4.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— Emmert-Streib et al. (2020) — Türkçe Sunum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3136</Words>
  <Application>Microsoft Office PowerPoint</Application>
  <PresentationFormat>Ekran Gösterisi (16:9)</PresentationFormat>
  <Paragraphs>657</Paragraphs>
  <Slides>25</Slides>
  <Notes>25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Derin Öğrenme - Kapsamlı Bir Giriş</dc:title>
  <dc:subject>PptxGenJS Presentation</dc:subject>
  <dc:creator>PptxGenJS</dc:creator>
  <cp:lastModifiedBy>Yıldıray Öcal</cp:lastModifiedBy>
  <cp:revision>2</cp:revision>
  <dcterms:created xsi:type="dcterms:W3CDTF">2026-03-16T17:43:09Z</dcterms:created>
  <dcterms:modified xsi:type="dcterms:W3CDTF">2026-03-17T11:34:41Z</dcterms:modified>
</cp:coreProperties>
</file>