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8" d="100"/>
          <a:sy n="118" d="100"/>
        </p:scale>
        <p:origin x="44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3282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097280" y="-457200"/>
            <a:ext cx="4572000" cy="4572000"/>
          </a:xfrm>
          <a:prstGeom prst="ellipse">
            <a:avLst/>
          </a:prstGeom>
          <a:solidFill>
            <a:srgbClr val="0891B2">
              <a:alpha val="18000"/>
            </a:srgbClr>
          </a:solidFill>
          <a:ln w="12700">
            <a:solidFill>
              <a:srgbClr val="0891B2">
                <a:alpha val="10000"/>
              </a:srgbClr>
            </a:solidFill>
            <a:prstDash val="solid"/>
          </a:ln>
        </p:spPr>
        <p:txBody>
          <a:bodyPr/>
          <a:lstStyle/>
          <a:p>
            <a:endParaRPr lang="tr-TR"/>
          </a:p>
        </p:txBody>
      </p:sp>
      <p:sp>
        <p:nvSpPr>
          <p:cNvPr id="3" name="Shape 1"/>
          <p:cNvSpPr/>
          <p:nvPr/>
        </p:nvSpPr>
        <p:spPr>
          <a:xfrm>
            <a:off x="6583680" y="2011680"/>
            <a:ext cx="3657600" cy="3657600"/>
          </a:xfrm>
          <a:prstGeom prst="ellipse">
            <a:avLst/>
          </a:prstGeom>
          <a:solidFill>
            <a:srgbClr val="7C3AED">
              <a:alpha val="15000"/>
            </a:srgbClr>
          </a:solidFill>
          <a:ln w="12700">
            <a:solidFill>
              <a:srgbClr val="7C3AED">
                <a:alpha val="10000"/>
              </a:srgbClr>
            </a:solidFill>
            <a:prstDash val="solid"/>
          </a:ln>
        </p:spPr>
        <p:txBody>
          <a:bodyPr/>
          <a:lstStyle/>
          <a:p>
            <a:endParaRPr lang="tr-TR"/>
          </a:p>
        </p:txBody>
      </p:sp>
      <p:sp>
        <p:nvSpPr>
          <p:cNvPr id="4" name="Shape 2"/>
          <p:cNvSpPr/>
          <p:nvPr/>
        </p:nvSpPr>
        <p:spPr>
          <a:xfrm>
            <a:off x="6217920" y="182880"/>
            <a:ext cx="2651760" cy="804672"/>
          </a:xfrm>
          <a:prstGeom prst="rect">
            <a:avLst/>
          </a:prstGeom>
          <a:solidFill>
            <a:srgbClr val="243B55"/>
          </a:solidFill>
          <a:ln w="12700">
            <a:solidFill>
              <a:srgbClr val="0891B2"/>
            </a:solidFill>
            <a:prstDash val="solid"/>
          </a:ln>
        </p:spPr>
        <p:txBody>
          <a:bodyPr/>
          <a:lstStyle/>
          <a:p>
            <a:endParaRPr lang="tr-TR"/>
          </a:p>
        </p:txBody>
      </p:sp>
      <p:sp>
        <p:nvSpPr>
          <p:cNvPr id="5" name="Text 3"/>
          <p:cNvSpPr/>
          <p:nvPr/>
        </p:nvSpPr>
        <p:spPr>
          <a:xfrm>
            <a:off x="6263640" y="246888"/>
            <a:ext cx="25603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YILDIRAY ÖCAL</a:t>
            </a:r>
            <a:endParaRPr lang="en-US" sz="1100" dirty="0"/>
          </a:p>
        </p:txBody>
      </p:sp>
      <p:sp>
        <p:nvSpPr>
          <p:cNvPr id="6" name="Text 4"/>
          <p:cNvSpPr/>
          <p:nvPr/>
        </p:nvSpPr>
        <p:spPr>
          <a:xfrm>
            <a:off x="6263640" y="530352"/>
            <a:ext cx="2560320" cy="201168"/>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DERİN ÖĞRENME DERSİ  ·  36253632029</a:t>
            </a:r>
            <a:endParaRPr lang="en-US" sz="850" dirty="0"/>
          </a:p>
        </p:txBody>
      </p:sp>
      <p:sp>
        <p:nvSpPr>
          <p:cNvPr id="7" name="Shape 5"/>
          <p:cNvSpPr/>
          <p:nvPr/>
        </p:nvSpPr>
        <p:spPr>
          <a:xfrm>
            <a:off x="457200" y="841248"/>
            <a:ext cx="2377440" cy="292608"/>
          </a:xfrm>
          <a:prstGeom prst="rect">
            <a:avLst/>
          </a:prstGeom>
          <a:solidFill>
            <a:srgbClr val="0891B2"/>
          </a:solidFill>
          <a:ln w="12700">
            <a:solidFill>
              <a:srgbClr val="0891B2"/>
            </a:solidFill>
            <a:prstDash val="solid"/>
          </a:ln>
        </p:spPr>
        <p:txBody>
          <a:bodyPr/>
          <a:lstStyle/>
          <a:p>
            <a:endParaRPr lang="tr-TR"/>
          </a:p>
        </p:txBody>
      </p:sp>
      <p:sp>
        <p:nvSpPr>
          <p:cNvPr id="8" name="Text 6"/>
          <p:cNvSpPr/>
          <p:nvPr/>
        </p:nvSpPr>
        <p:spPr>
          <a:xfrm>
            <a:off x="457200" y="841248"/>
            <a:ext cx="2377440"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YAPAY ZEKA | DERİN ÖĞRENME</a:t>
            </a:r>
            <a:endParaRPr lang="en-US" sz="850" dirty="0"/>
          </a:p>
        </p:txBody>
      </p:sp>
      <p:sp>
        <p:nvSpPr>
          <p:cNvPr id="9" name="Text 7"/>
          <p:cNvSpPr/>
          <p:nvPr/>
        </p:nvSpPr>
        <p:spPr>
          <a:xfrm>
            <a:off x="457200" y="1298448"/>
            <a:ext cx="822960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Derin Öğrenme</a:t>
            </a:r>
            <a:endParaRPr lang="en-US" sz="5200" dirty="0"/>
          </a:p>
        </p:txBody>
      </p:sp>
      <p:sp>
        <p:nvSpPr>
          <p:cNvPr id="10" name="Text 8"/>
          <p:cNvSpPr/>
          <p:nvPr/>
        </p:nvSpPr>
        <p:spPr>
          <a:xfrm>
            <a:off x="457200" y="2286000"/>
            <a:ext cx="7772400" cy="475488"/>
          </a:xfrm>
          <a:prstGeom prst="rect">
            <a:avLst/>
          </a:prstGeom>
          <a:noFill/>
          <a:ln/>
        </p:spPr>
        <p:txBody>
          <a:bodyPr wrap="square" lIns="0" tIns="0" rIns="0" bIns="0" rtlCol="0" anchor="ctr"/>
          <a:lstStyle/>
          <a:p>
            <a:pPr marL="0" indent="0">
              <a:buNone/>
            </a:pPr>
            <a:r>
              <a:rPr lang="en-US" sz="2000" i="1" dirty="0">
                <a:solidFill>
                  <a:srgbClr val="06B6D4"/>
                </a:solidFill>
                <a:latin typeface="Calibri" pitchFamily="34" charset="0"/>
                <a:ea typeface="Calibri" pitchFamily="34" charset="-122"/>
                <a:cs typeface="Calibri" pitchFamily="34" charset="-120"/>
              </a:rPr>
              <a:t>Tahmin Modelleri için Kapsamlı Bir Giriş</a:t>
            </a:r>
            <a:endParaRPr lang="en-US" sz="2000" dirty="0"/>
          </a:p>
        </p:txBody>
      </p:sp>
      <p:sp>
        <p:nvSpPr>
          <p:cNvPr id="11" name="Shape 9"/>
          <p:cNvSpPr/>
          <p:nvPr/>
        </p:nvSpPr>
        <p:spPr>
          <a:xfrm>
            <a:off x="457200" y="2852928"/>
            <a:ext cx="3474720" cy="45720"/>
          </a:xfrm>
          <a:prstGeom prst="rect">
            <a:avLst/>
          </a:prstGeom>
          <a:solidFill>
            <a:srgbClr val="0891B2"/>
          </a:solidFill>
          <a:ln w="12700">
            <a:solidFill>
              <a:srgbClr val="0891B2"/>
            </a:solidFill>
            <a:prstDash val="solid"/>
          </a:ln>
        </p:spPr>
        <p:txBody>
          <a:bodyPr/>
          <a:lstStyle/>
          <a:p>
            <a:endParaRPr lang="tr-TR"/>
          </a:p>
        </p:txBody>
      </p:sp>
      <p:sp>
        <p:nvSpPr>
          <p:cNvPr id="12" name="Text 10"/>
          <p:cNvSpPr/>
          <p:nvPr/>
        </p:nvSpPr>
        <p:spPr>
          <a:xfrm>
            <a:off x="457200" y="2999232"/>
            <a:ext cx="8229600" cy="25603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Emmert-Streib et al. (2020) — Frontiers in Artificial Intelligence, Vol.3, Article 4</a:t>
            </a:r>
            <a:endParaRPr lang="en-US" sz="1000" dirty="0"/>
          </a:p>
        </p:txBody>
      </p:sp>
      <p:sp>
        <p:nvSpPr>
          <p:cNvPr id="13" name="Shape 11"/>
          <p:cNvSpPr/>
          <p:nvPr/>
        </p:nvSpPr>
        <p:spPr>
          <a:xfrm>
            <a:off x="457200" y="3429000"/>
            <a:ext cx="1536192" cy="365760"/>
          </a:xfrm>
          <a:prstGeom prst="roundRect">
            <a:avLst>
              <a:gd name="adj" fmla="val 20000"/>
            </a:avLst>
          </a:prstGeom>
          <a:solidFill>
            <a:srgbClr val="243B55"/>
          </a:solidFill>
          <a:ln w="12700">
            <a:solidFill>
              <a:srgbClr val="7C3AED"/>
            </a:solidFill>
            <a:prstDash val="solid"/>
          </a:ln>
        </p:spPr>
        <p:txBody>
          <a:bodyPr/>
          <a:lstStyle/>
          <a:p>
            <a:endParaRPr lang="tr-TR"/>
          </a:p>
        </p:txBody>
      </p:sp>
      <p:sp>
        <p:nvSpPr>
          <p:cNvPr id="14" name="Text 12"/>
          <p:cNvSpPr/>
          <p:nvPr/>
        </p:nvSpPr>
        <p:spPr>
          <a:xfrm>
            <a:off x="457200" y="3429000"/>
            <a:ext cx="1536192" cy="365760"/>
          </a:xfrm>
          <a:prstGeom prst="rect">
            <a:avLst/>
          </a:prstGeom>
          <a:noFill/>
          <a:ln/>
        </p:spPr>
        <p:txBody>
          <a:bodyPr wrap="square" lIns="0" tIns="0" rIns="0" bIns="0" rtlCol="0" anchor="ctr"/>
          <a:lstStyle/>
          <a:p>
            <a:pPr marL="0" indent="0" algn="ctr">
              <a:buNone/>
            </a:pPr>
            <a:r>
              <a:rPr lang="en-US" sz="1150" b="1" dirty="0">
                <a:solidFill>
                  <a:srgbClr val="7C3AED"/>
                </a:solidFill>
                <a:latin typeface="Calibri" pitchFamily="34" charset="0"/>
                <a:ea typeface="Calibri" pitchFamily="34" charset="-122"/>
                <a:cs typeface="Calibri" pitchFamily="34" charset="-120"/>
              </a:rPr>
              <a:t>D-FFNN</a:t>
            </a:r>
            <a:endParaRPr lang="en-US" sz="1150" dirty="0"/>
          </a:p>
        </p:txBody>
      </p:sp>
      <p:sp>
        <p:nvSpPr>
          <p:cNvPr id="15" name="Shape 13"/>
          <p:cNvSpPr/>
          <p:nvPr/>
        </p:nvSpPr>
        <p:spPr>
          <a:xfrm>
            <a:off x="2148840" y="3429000"/>
            <a:ext cx="1536192" cy="365760"/>
          </a:xfrm>
          <a:prstGeom prst="roundRect">
            <a:avLst>
              <a:gd name="adj" fmla="val 20000"/>
            </a:avLst>
          </a:prstGeom>
          <a:solidFill>
            <a:srgbClr val="243B55"/>
          </a:solidFill>
          <a:ln w="12700">
            <a:solidFill>
              <a:srgbClr val="0891B2"/>
            </a:solidFill>
            <a:prstDash val="solid"/>
          </a:ln>
        </p:spPr>
        <p:txBody>
          <a:bodyPr/>
          <a:lstStyle/>
          <a:p>
            <a:endParaRPr lang="tr-TR"/>
          </a:p>
        </p:txBody>
      </p:sp>
      <p:sp>
        <p:nvSpPr>
          <p:cNvPr id="16" name="Text 14"/>
          <p:cNvSpPr/>
          <p:nvPr/>
        </p:nvSpPr>
        <p:spPr>
          <a:xfrm>
            <a:off x="2148840" y="3429000"/>
            <a:ext cx="1536192" cy="365760"/>
          </a:xfrm>
          <a:prstGeom prst="rect">
            <a:avLst/>
          </a:prstGeom>
          <a:noFill/>
          <a:ln/>
        </p:spPr>
        <p:txBody>
          <a:bodyPr wrap="square" lIns="0" tIns="0" rIns="0" bIns="0" rtlCol="0" anchor="ctr"/>
          <a:lstStyle/>
          <a:p>
            <a:pPr marL="0" indent="0" algn="ctr">
              <a:buNone/>
            </a:pPr>
            <a:r>
              <a:rPr lang="en-US" sz="1150" b="1" dirty="0">
                <a:solidFill>
                  <a:srgbClr val="0891B2"/>
                </a:solidFill>
                <a:latin typeface="Calibri" pitchFamily="34" charset="0"/>
                <a:ea typeface="Calibri" pitchFamily="34" charset="-122"/>
                <a:cs typeface="Calibri" pitchFamily="34" charset="-120"/>
              </a:rPr>
              <a:t>CNN</a:t>
            </a:r>
            <a:endParaRPr lang="en-US" sz="1150" dirty="0"/>
          </a:p>
        </p:txBody>
      </p:sp>
      <p:sp>
        <p:nvSpPr>
          <p:cNvPr id="17" name="Shape 15"/>
          <p:cNvSpPr/>
          <p:nvPr/>
        </p:nvSpPr>
        <p:spPr>
          <a:xfrm>
            <a:off x="3840480" y="3429000"/>
            <a:ext cx="1536192" cy="365760"/>
          </a:xfrm>
          <a:prstGeom prst="roundRect">
            <a:avLst>
              <a:gd name="adj" fmla="val 20000"/>
            </a:avLst>
          </a:prstGeom>
          <a:solidFill>
            <a:srgbClr val="243B55"/>
          </a:solidFill>
          <a:ln w="12700">
            <a:solidFill>
              <a:srgbClr val="059669"/>
            </a:solidFill>
            <a:prstDash val="solid"/>
          </a:ln>
        </p:spPr>
        <p:txBody>
          <a:bodyPr/>
          <a:lstStyle/>
          <a:p>
            <a:endParaRPr lang="tr-TR"/>
          </a:p>
        </p:txBody>
      </p:sp>
      <p:sp>
        <p:nvSpPr>
          <p:cNvPr id="18" name="Text 16"/>
          <p:cNvSpPr/>
          <p:nvPr/>
        </p:nvSpPr>
        <p:spPr>
          <a:xfrm>
            <a:off x="3840480" y="3429000"/>
            <a:ext cx="1536192" cy="365760"/>
          </a:xfrm>
          <a:prstGeom prst="rect">
            <a:avLst/>
          </a:prstGeom>
          <a:noFill/>
          <a:ln/>
        </p:spPr>
        <p:txBody>
          <a:bodyPr wrap="square" lIns="0" tIns="0" rIns="0" bIns="0" rtlCol="0" anchor="ctr"/>
          <a:lstStyle/>
          <a:p>
            <a:pPr marL="0" indent="0" algn="ctr">
              <a:buNone/>
            </a:pPr>
            <a:r>
              <a:rPr lang="en-US" sz="1150" b="1" dirty="0">
                <a:solidFill>
                  <a:srgbClr val="059669"/>
                </a:solidFill>
                <a:latin typeface="Calibri" pitchFamily="34" charset="0"/>
                <a:ea typeface="Calibri" pitchFamily="34" charset="-122"/>
                <a:cs typeface="Calibri" pitchFamily="34" charset="-120"/>
              </a:rPr>
              <a:t>DBN</a:t>
            </a:r>
            <a:endParaRPr lang="en-US" sz="1150" dirty="0"/>
          </a:p>
        </p:txBody>
      </p:sp>
      <p:sp>
        <p:nvSpPr>
          <p:cNvPr id="19" name="Shape 17"/>
          <p:cNvSpPr/>
          <p:nvPr/>
        </p:nvSpPr>
        <p:spPr>
          <a:xfrm>
            <a:off x="5532120" y="3429000"/>
            <a:ext cx="1536192" cy="365760"/>
          </a:xfrm>
          <a:prstGeom prst="roundRect">
            <a:avLst>
              <a:gd name="adj" fmla="val 20000"/>
            </a:avLst>
          </a:prstGeom>
          <a:solidFill>
            <a:srgbClr val="243B55"/>
          </a:solidFill>
          <a:ln w="12700">
            <a:solidFill>
              <a:srgbClr val="D97706"/>
            </a:solidFill>
            <a:prstDash val="solid"/>
          </a:ln>
        </p:spPr>
        <p:txBody>
          <a:bodyPr/>
          <a:lstStyle/>
          <a:p>
            <a:endParaRPr lang="tr-TR"/>
          </a:p>
        </p:txBody>
      </p:sp>
      <p:sp>
        <p:nvSpPr>
          <p:cNvPr id="20" name="Text 18"/>
          <p:cNvSpPr/>
          <p:nvPr/>
        </p:nvSpPr>
        <p:spPr>
          <a:xfrm>
            <a:off x="5532120" y="3429000"/>
            <a:ext cx="1536192" cy="365760"/>
          </a:xfrm>
          <a:prstGeom prst="rect">
            <a:avLst/>
          </a:prstGeom>
          <a:noFill/>
          <a:ln/>
        </p:spPr>
        <p:txBody>
          <a:bodyPr wrap="square" lIns="0" tIns="0" rIns="0" bIns="0" rtlCol="0" anchor="ctr"/>
          <a:lstStyle/>
          <a:p>
            <a:pPr marL="0" indent="0" algn="ctr">
              <a:buNone/>
            </a:pPr>
            <a:r>
              <a:rPr lang="en-US" sz="1150" b="1" dirty="0">
                <a:solidFill>
                  <a:srgbClr val="D97706"/>
                </a:solidFill>
                <a:latin typeface="Calibri" pitchFamily="34" charset="0"/>
                <a:ea typeface="Calibri" pitchFamily="34" charset="-122"/>
                <a:cs typeface="Calibri" pitchFamily="34" charset="-120"/>
              </a:rPr>
              <a:t>Autoencoder</a:t>
            </a:r>
            <a:endParaRPr lang="en-US" sz="1150" dirty="0"/>
          </a:p>
        </p:txBody>
      </p:sp>
      <p:sp>
        <p:nvSpPr>
          <p:cNvPr id="21" name="Shape 19"/>
          <p:cNvSpPr/>
          <p:nvPr/>
        </p:nvSpPr>
        <p:spPr>
          <a:xfrm>
            <a:off x="7223760" y="3429000"/>
            <a:ext cx="1536192" cy="365760"/>
          </a:xfrm>
          <a:prstGeom prst="roundRect">
            <a:avLst>
              <a:gd name="adj" fmla="val 20000"/>
            </a:avLst>
          </a:prstGeom>
          <a:solidFill>
            <a:srgbClr val="243B55"/>
          </a:solidFill>
          <a:ln w="12700">
            <a:solidFill>
              <a:srgbClr val="EF4444"/>
            </a:solidFill>
            <a:prstDash val="solid"/>
          </a:ln>
        </p:spPr>
        <p:txBody>
          <a:bodyPr/>
          <a:lstStyle/>
          <a:p>
            <a:endParaRPr lang="tr-TR"/>
          </a:p>
        </p:txBody>
      </p:sp>
      <p:sp>
        <p:nvSpPr>
          <p:cNvPr id="22" name="Text 20"/>
          <p:cNvSpPr/>
          <p:nvPr/>
        </p:nvSpPr>
        <p:spPr>
          <a:xfrm>
            <a:off x="7223760" y="3429000"/>
            <a:ext cx="1536192" cy="365760"/>
          </a:xfrm>
          <a:prstGeom prst="rect">
            <a:avLst/>
          </a:prstGeom>
          <a:noFill/>
          <a:ln/>
        </p:spPr>
        <p:txBody>
          <a:bodyPr wrap="square" lIns="0" tIns="0" rIns="0" bIns="0" rtlCol="0" anchor="ctr"/>
          <a:lstStyle/>
          <a:p>
            <a:pPr marL="0" indent="0" algn="ctr">
              <a:buNone/>
            </a:pPr>
            <a:r>
              <a:rPr lang="en-US" sz="1150" b="1" dirty="0">
                <a:solidFill>
                  <a:srgbClr val="EF4444"/>
                </a:solidFill>
                <a:latin typeface="Calibri" pitchFamily="34" charset="0"/>
                <a:ea typeface="Calibri" pitchFamily="34" charset="-122"/>
                <a:cs typeface="Calibri" pitchFamily="34" charset="-120"/>
              </a:rPr>
              <a:t>LSTM</a:t>
            </a:r>
            <a:endParaRPr lang="en-US" sz="1150" dirty="0"/>
          </a:p>
        </p:txBody>
      </p:sp>
      <p:sp>
        <p:nvSpPr>
          <p:cNvPr id="23" name="Text 21"/>
          <p:cNvSpPr/>
          <p:nvPr/>
        </p:nvSpPr>
        <p:spPr>
          <a:xfrm>
            <a:off x="457200" y="4041648"/>
            <a:ext cx="82296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Tampe Üniversitesi, Finlandiya  •  Steyr Uygulamalı Bilimler Üniversitesi, Avusturya  •  Nankai Üniversitesi, Çin</a:t>
            </a:r>
            <a:endParaRPr lang="en-US" sz="900" dirty="0"/>
          </a:p>
        </p:txBody>
      </p:sp>
      <p:sp>
        <p:nvSpPr>
          <p:cNvPr id="24" name="Shape 22"/>
          <p:cNvSpPr/>
          <p:nvPr/>
        </p:nvSpPr>
        <p:spPr>
          <a:xfrm>
            <a:off x="0" y="4873752"/>
            <a:ext cx="9144000" cy="269748"/>
          </a:xfrm>
          <a:prstGeom prst="rect">
            <a:avLst/>
          </a:prstGeom>
          <a:solidFill>
            <a:srgbClr val="0891B2">
              <a:alpha val="60000"/>
            </a:srgbClr>
          </a:solidFill>
          <a:ln w="12700">
            <a:solidFill>
              <a:srgbClr val="0891B2"/>
            </a:solidFill>
            <a:prstDash val="solid"/>
          </a:ln>
        </p:spPr>
        <p:txBody>
          <a:bodyPr/>
          <a:lstStyle/>
          <a:p>
            <a:endParaRPr lang="tr-TR"/>
          </a:p>
        </p:txBody>
      </p:sp>
      <p:sp>
        <p:nvSpPr>
          <p:cNvPr id="25" name="Text 23"/>
          <p:cNvSpPr/>
          <p:nvPr/>
        </p:nvSpPr>
        <p:spPr>
          <a:xfrm>
            <a:off x="365760" y="4873752"/>
            <a:ext cx="8412480" cy="269748"/>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 Anahtar kavramlar: Temsil öğrenimi · Büyük veri · Çok katmanlı ağlar · GPU hızlandırma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İçindekiler — 25 Slaytlık Yol Haritası</a:t>
            </a:r>
            <a:endParaRPr lang="en-US" sz="2600" dirty="0"/>
          </a:p>
        </p:txBody>
      </p:sp>
      <p:sp>
        <p:nvSpPr>
          <p:cNvPr id="3" name="Shape 1"/>
          <p:cNvSpPr/>
          <p:nvPr/>
        </p:nvSpPr>
        <p:spPr>
          <a:xfrm>
            <a:off x="365760" y="1024128"/>
            <a:ext cx="1371600" cy="45720"/>
          </a:xfrm>
          <a:prstGeom prst="rect">
            <a:avLst/>
          </a:prstGeom>
          <a:solidFill>
            <a:srgbClr val="0891B2"/>
          </a:solidFill>
          <a:ln w="12700">
            <a:solidFill>
              <a:srgbClr val="0891B2"/>
            </a:solidFill>
            <a:prstDash val="solid"/>
          </a:ln>
        </p:spPr>
        <p:txBody>
          <a:bodyPr/>
          <a:lstStyle/>
          <a:p>
            <a:endParaRPr lang="tr-TR"/>
          </a:p>
        </p:txBody>
      </p:sp>
      <p:sp>
        <p:nvSpPr>
          <p:cNvPr id="4" name="Shape 2"/>
          <p:cNvSpPr/>
          <p:nvPr/>
        </p:nvSpPr>
        <p:spPr>
          <a:xfrm>
            <a:off x="365760" y="1170432"/>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5" name="Shape 3"/>
          <p:cNvSpPr/>
          <p:nvPr/>
        </p:nvSpPr>
        <p:spPr>
          <a:xfrm>
            <a:off x="365760" y="1170432"/>
            <a:ext cx="420624" cy="310896"/>
          </a:xfrm>
          <a:prstGeom prst="rect">
            <a:avLst/>
          </a:prstGeom>
          <a:solidFill>
            <a:srgbClr val="7C3AED"/>
          </a:solidFill>
          <a:ln w="12700">
            <a:solidFill>
              <a:srgbClr val="7C3AED"/>
            </a:solidFill>
            <a:prstDash val="solid"/>
          </a:ln>
        </p:spPr>
        <p:txBody>
          <a:bodyPr/>
          <a:lstStyle/>
          <a:p>
            <a:endParaRPr lang="tr-TR"/>
          </a:p>
        </p:txBody>
      </p:sp>
      <p:sp>
        <p:nvSpPr>
          <p:cNvPr id="6" name="Text 4"/>
          <p:cNvSpPr/>
          <p:nvPr/>
        </p:nvSpPr>
        <p:spPr>
          <a:xfrm>
            <a:off x="365760" y="1170432"/>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01</a:t>
            </a:r>
            <a:endParaRPr lang="en-US" sz="850" dirty="0"/>
          </a:p>
        </p:txBody>
      </p:sp>
      <p:sp>
        <p:nvSpPr>
          <p:cNvPr id="7" name="Text 5"/>
          <p:cNvSpPr/>
          <p:nvPr/>
        </p:nvSpPr>
        <p:spPr>
          <a:xfrm>
            <a:off x="841248" y="1188720"/>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Giriş &amp; Büyük Veri</a:t>
            </a:r>
            <a:endParaRPr lang="en-US" sz="1000" dirty="0"/>
          </a:p>
        </p:txBody>
      </p:sp>
      <p:sp>
        <p:nvSpPr>
          <p:cNvPr id="8" name="Text 6"/>
          <p:cNvSpPr/>
          <p:nvPr/>
        </p:nvSpPr>
        <p:spPr>
          <a:xfrm>
            <a:off x="841248" y="1344168"/>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İstatistikler, uygulama alanları, yayın dağılımı</a:t>
            </a:r>
            <a:endParaRPr lang="en-US" sz="800" dirty="0"/>
          </a:p>
        </p:txBody>
      </p:sp>
      <p:sp>
        <p:nvSpPr>
          <p:cNvPr id="9" name="Shape 7"/>
          <p:cNvSpPr/>
          <p:nvPr/>
        </p:nvSpPr>
        <p:spPr>
          <a:xfrm>
            <a:off x="365760" y="1519733"/>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10" name="Shape 8"/>
          <p:cNvSpPr/>
          <p:nvPr/>
        </p:nvSpPr>
        <p:spPr>
          <a:xfrm>
            <a:off x="365760" y="1519733"/>
            <a:ext cx="420624" cy="310896"/>
          </a:xfrm>
          <a:prstGeom prst="rect">
            <a:avLst/>
          </a:prstGeom>
          <a:solidFill>
            <a:srgbClr val="0891B2"/>
          </a:solidFill>
          <a:ln w="12700">
            <a:solidFill>
              <a:srgbClr val="0891B2"/>
            </a:solidFill>
            <a:prstDash val="solid"/>
          </a:ln>
        </p:spPr>
        <p:txBody>
          <a:bodyPr/>
          <a:lstStyle/>
          <a:p>
            <a:endParaRPr lang="tr-TR"/>
          </a:p>
        </p:txBody>
      </p:sp>
      <p:sp>
        <p:nvSpPr>
          <p:cNvPr id="11" name="Text 9"/>
          <p:cNvSpPr/>
          <p:nvPr/>
        </p:nvSpPr>
        <p:spPr>
          <a:xfrm>
            <a:off x="365760" y="1519733"/>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02</a:t>
            </a:r>
            <a:endParaRPr lang="en-US" sz="850" dirty="0"/>
          </a:p>
        </p:txBody>
      </p:sp>
      <p:sp>
        <p:nvSpPr>
          <p:cNvPr id="12" name="Text 10"/>
          <p:cNvSpPr/>
          <p:nvPr/>
        </p:nvSpPr>
        <p:spPr>
          <a:xfrm>
            <a:off x="841248" y="1538021"/>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Tarihsel Zaman Çizelgesi</a:t>
            </a:r>
            <a:endParaRPr lang="en-US" sz="1000" dirty="0"/>
          </a:p>
        </p:txBody>
      </p:sp>
      <p:sp>
        <p:nvSpPr>
          <p:cNvPr id="13" name="Text 11"/>
          <p:cNvSpPr/>
          <p:nvPr/>
        </p:nvSpPr>
        <p:spPr>
          <a:xfrm>
            <a:off x="841248" y="1693469"/>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1943'ten 2019'a kritik dönüm noktaları</a:t>
            </a:r>
            <a:endParaRPr lang="en-US" sz="800" dirty="0"/>
          </a:p>
        </p:txBody>
      </p:sp>
      <p:sp>
        <p:nvSpPr>
          <p:cNvPr id="14" name="Shape 12"/>
          <p:cNvSpPr/>
          <p:nvPr/>
        </p:nvSpPr>
        <p:spPr>
          <a:xfrm>
            <a:off x="365760" y="1869034"/>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15" name="Shape 13"/>
          <p:cNvSpPr/>
          <p:nvPr/>
        </p:nvSpPr>
        <p:spPr>
          <a:xfrm>
            <a:off x="365760" y="1869034"/>
            <a:ext cx="420624" cy="310896"/>
          </a:xfrm>
          <a:prstGeom prst="rect">
            <a:avLst/>
          </a:prstGeom>
          <a:solidFill>
            <a:srgbClr val="059669"/>
          </a:solidFill>
          <a:ln w="12700">
            <a:solidFill>
              <a:srgbClr val="059669"/>
            </a:solidFill>
            <a:prstDash val="solid"/>
          </a:ln>
        </p:spPr>
        <p:txBody>
          <a:bodyPr/>
          <a:lstStyle/>
          <a:p>
            <a:endParaRPr lang="tr-TR"/>
          </a:p>
        </p:txBody>
      </p:sp>
      <p:sp>
        <p:nvSpPr>
          <p:cNvPr id="16" name="Text 14"/>
          <p:cNvSpPr/>
          <p:nvPr/>
        </p:nvSpPr>
        <p:spPr>
          <a:xfrm>
            <a:off x="365760" y="1869034"/>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03</a:t>
            </a:r>
            <a:endParaRPr lang="en-US" sz="850" dirty="0"/>
          </a:p>
        </p:txBody>
      </p:sp>
      <p:sp>
        <p:nvSpPr>
          <p:cNvPr id="17" name="Text 15"/>
          <p:cNvSpPr/>
          <p:nvPr/>
        </p:nvSpPr>
        <p:spPr>
          <a:xfrm>
            <a:off x="841248" y="1887322"/>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Yapay Nöron Modeli</a:t>
            </a:r>
            <a:endParaRPr lang="en-US" sz="1000" dirty="0"/>
          </a:p>
        </p:txBody>
      </p:sp>
      <p:sp>
        <p:nvSpPr>
          <p:cNvPr id="18" name="Text 16"/>
          <p:cNvSpPr/>
          <p:nvPr/>
        </p:nvSpPr>
        <p:spPr>
          <a:xfrm>
            <a:off x="841248" y="2042770"/>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McCulloch-Pitts, aktivasyon fonksiyonları</a:t>
            </a:r>
            <a:endParaRPr lang="en-US" sz="800" dirty="0"/>
          </a:p>
        </p:txBody>
      </p:sp>
      <p:sp>
        <p:nvSpPr>
          <p:cNvPr id="19" name="Shape 17"/>
          <p:cNvSpPr/>
          <p:nvPr/>
        </p:nvSpPr>
        <p:spPr>
          <a:xfrm>
            <a:off x="365760" y="2218334"/>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20" name="Shape 18"/>
          <p:cNvSpPr/>
          <p:nvPr/>
        </p:nvSpPr>
        <p:spPr>
          <a:xfrm>
            <a:off x="365760" y="2218334"/>
            <a:ext cx="420624" cy="310896"/>
          </a:xfrm>
          <a:prstGeom prst="rect">
            <a:avLst/>
          </a:prstGeom>
          <a:solidFill>
            <a:srgbClr val="D97706"/>
          </a:solidFill>
          <a:ln w="12700">
            <a:solidFill>
              <a:srgbClr val="D97706"/>
            </a:solidFill>
            <a:prstDash val="solid"/>
          </a:ln>
        </p:spPr>
        <p:txBody>
          <a:bodyPr/>
          <a:lstStyle/>
          <a:p>
            <a:endParaRPr lang="tr-TR"/>
          </a:p>
        </p:txBody>
      </p:sp>
      <p:sp>
        <p:nvSpPr>
          <p:cNvPr id="21" name="Text 19"/>
          <p:cNvSpPr/>
          <p:nvPr/>
        </p:nvSpPr>
        <p:spPr>
          <a:xfrm>
            <a:off x="365760" y="2218334"/>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04</a:t>
            </a:r>
            <a:endParaRPr lang="en-US" sz="850" dirty="0"/>
          </a:p>
        </p:txBody>
      </p:sp>
      <p:sp>
        <p:nvSpPr>
          <p:cNvPr id="22" name="Text 20"/>
          <p:cNvSpPr/>
          <p:nvPr/>
        </p:nvSpPr>
        <p:spPr>
          <a:xfrm>
            <a:off x="841248" y="2236622"/>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CNN Mimarisi</a:t>
            </a:r>
            <a:endParaRPr lang="en-US" sz="1000" dirty="0"/>
          </a:p>
        </p:txBody>
      </p:sp>
      <p:sp>
        <p:nvSpPr>
          <p:cNvPr id="23" name="Text 21"/>
          <p:cNvSpPr/>
          <p:nvPr/>
        </p:nvSpPr>
        <p:spPr>
          <a:xfrm>
            <a:off x="841248" y="2392070"/>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Katmanlar, filtreler, pooling, hiperparametreler</a:t>
            </a:r>
            <a:endParaRPr lang="en-US" sz="800" dirty="0"/>
          </a:p>
        </p:txBody>
      </p:sp>
      <p:sp>
        <p:nvSpPr>
          <p:cNvPr id="24" name="Shape 22"/>
          <p:cNvSpPr/>
          <p:nvPr/>
        </p:nvSpPr>
        <p:spPr>
          <a:xfrm>
            <a:off x="365760" y="2567635"/>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25" name="Shape 23"/>
          <p:cNvSpPr/>
          <p:nvPr/>
        </p:nvSpPr>
        <p:spPr>
          <a:xfrm>
            <a:off x="365760" y="2567635"/>
            <a:ext cx="420624" cy="310896"/>
          </a:xfrm>
          <a:prstGeom prst="rect">
            <a:avLst/>
          </a:prstGeom>
          <a:solidFill>
            <a:srgbClr val="EF4444"/>
          </a:solidFill>
          <a:ln w="12700">
            <a:solidFill>
              <a:srgbClr val="EF4444"/>
            </a:solidFill>
            <a:prstDash val="solid"/>
          </a:ln>
        </p:spPr>
        <p:txBody>
          <a:bodyPr/>
          <a:lstStyle/>
          <a:p>
            <a:endParaRPr lang="tr-TR"/>
          </a:p>
        </p:txBody>
      </p:sp>
      <p:sp>
        <p:nvSpPr>
          <p:cNvPr id="26" name="Text 24"/>
          <p:cNvSpPr/>
          <p:nvPr/>
        </p:nvSpPr>
        <p:spPr>
          <a:xfrm>
            <a:off x="365760" y="2567635"/>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05</a:t>
            </a:r>
            <a:endParaRPr lang="en-US" sz="850" dirty="0"/>
          </a:p>
        </p:txBody>
      </p:sp>
      <p:sp>
        <p:nvSpPr>
          <p:cNvPr id="27" name="Text 25"/>
          <p:cNvSpPr/>
          <p:nvPr/>
        </p:nvSpPr>
        <p:spPr>
          <a:xfrm>
            <a:off x="841248" y="2585923"/>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CNN Varyantları</a:t>
            </a:r>
            <a:endParaRPr lang="en-US" sz="1000" dirty="0"/>
          </a:p>
        </p:txBody>
      </p:sp>
      <p:sp>
        <p:nvSpPr>
          <p:cNvPr id="28" name="Text 26"/>
          <p:cNvSpPr/>
          <p:nvPr/>
        </p:nvSpPr>
        <p:spPr>
          <a:xfrm>
            <a:off x="841248" y="2741371"/>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VGGNet, GoogLeNet/Inception, ResNet-152</a:t>
            </a:r>
            <a:endParaRPr lang="en-US" sz="800" dirty="0"/>
          </a:p>
        </p:txBody>
      </p:sp>
      <p:sp>
        <p:nvSpPr>
          <p:cNvPr id="29" name="Shape 27"/>
          <p:cNvSpPr/>
          <p:nvPr/>
        </p:nvSpPr>
        <p:spPr>
          <a:xfrm>
            <a:off x="365760" y="2916936"/>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30" name="Shape 28"/>
          <p:cNvSpPr/>
          <p:nvPr/>
        </p:nvSpPr>
        <p:spPr>
          <a:xfrm>
            <a:off x="365760" y="2916936"/>
            <a:ext cx="420624" cy="310896"/>
          </a:xfrm>
          <a:prstGeom prst="rect">
            <a:avLst/>
          </a:prstGeom>
          <a:solidFill>
            <a:srgbClr val="0891B2"/>
          </a:solidFill>
          <a:ln w="12700">
            <a:solidFill>
              <a:srgbClr val="0891B2"/>
            </a:solidFill>
            <a:prstDash val="solid"/>
          </a:ln>
        </p:spPr>
        <p:txBody>
          <a:bodyPr/>
          <a:lstStyle/>
          <a:p>
            <a:endParaRPr lang="tr-TR"/>
          </a:p>
        </p:txBody>
      </p:sp>
      <p:sp>
        <p:nvSpPr>
          <p:cNvPr id="31" name="Text 29"/>
          <p:cNvSpPr/>
          <p:nvPr/>
        </p:nvSpPr>
        <p:spPr>
          <a:xfrm>
            <a:off x="365760" y="2916936"/>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06</a:t>
            </a:r>
            <a:endParaRPr lang="en-US" sz="850" dirty="0"/>
          </a:p>
        </p:txBody>
      </p:sp>
      <p:sp>
        <p:nvSpPr>
          <p:cNvPr id="32" name="Text 30"/>
          <p:cNvSpPr/>
          <p:nvPr/>
        </p:nvSpPr>
        <p:spPr>
          <a:xfrm>
            <a:off x="841248" y="2935224"/>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Derin İnanç Ağları</a:t>
            </a:r>
            <a:endParaRPr lang="en-US" sz="1000" dirty="0"/>
          </a:p>
        </p:txBody>
      </p:sp>
      <p:sp>
        <p:nvSpPr>
          <p:cNvPr id="33" name="Text 31"/>
          <p:cNvSpPr/>
          <p:nvPr/>
        </p:nvSpPr>
        <p:spPr>
          <a:xfrm>
            <a:off x="841248" y="3090672"/>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RBM istiflemesi, ön-eğitim, ince-ayar</a:t>
            </a:r>
            <a:endParaRPr lang="en-US" sz="800" dirty="0"/>
          </a:p>
        </p:txBody>
      </p:sp>
      <p:sp>
        <p:nvSpPr>
          <p:cNvPr id="34" name="Shape 32"/>
          <p:cNvSpPr/>
          <p:nvPr/>
        </p:nvSpPr>
        <p:spPr>
          <a:xfrm>
            <a:off x="365760" y="3266237"/>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35" name="Shape 33"/>
          <p:cNvSpPr/>
          <p:nvPr/>
        </p:nvSpPr>
        <p:spPr>
          <a:xfrm>
            <a:off x="365760" y="3266237"/>
            <a:ext cx="420624" cy="310896"/>
          </a:xfrm>
          <a:prstGeom prst="rect">
            <a:avLst/>
          </a:prstGeom>
          <a:solidFill>
            <a:srgbClr val="7C3AED"/>
          </a:solidFill>
          <a:ln w="12700">
            <a:solidFill>
              <a:srgbClr val="7C3AED"/>
            </a:solidFill>
            <a:prstDash val="solid"/>
          </a:ln>
        </p:spPr>
        <p:txBody>
          <a:bodyPr/>
          <a:lstStyle/>
          <a:p>
            <a:endParaRPr lang="tr-TR"/>
          </a:p>
        </p:txBody>
      </p:sp>
      <p:sp>
        <p:nvSpPr>
          <p:cNvPr id="36" name="Text 34"/>
          <p:cNvSpPr/>
          <p:nvPr/>
        </p:nvSpPr>
        <p:spPr>
          <a:xfrm>
            <a:off x="365760" y="3266237"/>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07</a:t>
            </a:r>
            <a:endParaRPr lang="en-US" sz="850" dirty="0"/>
          </a:p>
        </p:txBody>
      </p:sp>
      <p:sp>
        <p:nvSpPr>
          <p:cNvPr id="37" name="Text 35"/>
          <p:cNvSpPr/>
          <p:nvPr/>
        </p:nvSpPr>
        <p:spPr>
          <a:xfrm>
            <a:off x="841248" y="3284525"/>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Otokodlayıcılar</a:t>
            </a:r>
            <a:endParaRPr lang="en-US" sz="1000" dirty="0"/>
          </a:p>
        </p:txBody>
      </p:sp>
      <p:sp>
        <p:nvSpPr>
          <p:cNvPr id="38" name="Text 36"/>
          <p:cNvSpPr/>
          <p:nvPr/>
        </p:nvSpPr>
        <p:spPr>
          <a:xfrm>
            <a:off x="841248" y="3439973"/>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Mimari, PCA karşılaştırması, varyantlar</a:t>
            </a:r>
            <a:endParaRPr lang="en-US" sz="800" dirty="0"/>
          </a:p>
        </p:txBody>
      </p:sp>
      <p:sp>
        <p:nvSpPr>
          <p:cNvPr id="39" name="Shape 37"/>
          <p:cNvSpPr/>
          <p:nvPr/>
        </p:nvSpPr>
        <p:spPr>
          <a:xfrm>
            <a:off x="365760" y="3615538"/>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0" name="Shape 38"/>
          <p:cNvSpPr/>
          <p:nvPr/>
        </p:nvSpPr>
        <p:spPr>
          <a:xfrm>
            <a:off x="365760" y="3615538"/>
            <a:ext cx="420624" cy="310896"/>
          </a:xfrm>
          <a:prstGeom prst="rect">
            <a:avLst/>
          </a:prstGeom>
          <a:solidFill>
            <a:srgbClr val="059669"/>
          </a:solidFill>
          <a:ln w="12700">
            <a:solidFill>
              <a:srgbClr val="059669"/>
            </a:solidFill>
            <a:prstDash val="solid"/>
          </a:ln>
        </p:spPr>
        <p:txBody>
          <a:bodyPr/>
          <a:lstStyle/>
          <a:p>
            <a:endParaRPr lang="tr-TR"/>
          </a:p>
        </p:txBody>
      </p:sp>
      <p:sp>
        <p:nvSpPr>
          <p:cNvPr id="41" name="Text 39"/>
          <p:cNvSpPr/>
          <p:nvPr/>
        </p:nvSpPr>
        <p:spPr>
          <a:xfrm>
            <a:off x="365760" y="3615538"/>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08</a:t>
            </a:r>
            <a:endParaRPr lang="en-US" sz="850" dirty="0"/>
          </a:p>
        </p:txBody>
      </p:sp>
      <p:sp>
        <p:nvSpPr>
          <p:cNvPr id="42" name="Text 40"/>
          <p:cNvSpPr/>
          <p:nvPr/>
        </p:nvSpPr>
        <p:spPr>
          <a:xfrm>
            <a:off x="841248" y="3633826"/>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LSTM Ağları</a:t>
            </a:r>
            <a:endParaRPr lang="en-US" sz="1000" dirty="0"/>
          </a:p>
        </p:txBody>
      </p:sp>
      <p:sp>
        <p:nvSpPr>
          <p:cNvPr id="43" name="Text 41"/>
          <p:cNvSpPr/>
          <p:nvPr/>
        </p:nvSpPr>
        <p:spPr>
          <a:xfrm>
            <a:off x="841248" y="3789274"/>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Kapı mekanizmaları, denklemler, CEC</a:t>
            </a:r>
            <a:endParaRPr lang="en-US" sz="800" dirty="0"/>
          </a:p>
        </p:txBody>
      </p:sp>
      <p:sp>
        <p:nvSpPr>
          <p:cNvPr id="44" name="Shape 42"/>
          <p:cNvSpPr/>
          <p:nvPr/>
        </p:nvSpPr>
        <p:spPr>
          <a:xfrm>
            <a:off x="365760" y="3964838"/>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5" name="Shape 43"/>
          <p:cNvSpPr/>
          <p:nvPr/>
        </p:nvSpPr>
        <p:spPr>
          <a:xfrm>
            <a:off x="365760" y="3964838"/>
            <a:ext cx="420624" cy="310896"/>
          </a:xfrm>
          <a:prstGeom prst="rect">
            <a:avLst/>
          </a:prstGeom>
          <a:solidFill>
            <a:srgbClr val="D97706"/>
          </a:solidFill>
          <a:ln w="12700">
            <a:solidFill>
              <a:srgbClr val="D97706"/>
            </a:solidFill>
            <a:prstDash val="solid"/>
          </a:ln>
        </p:spPr>
        <p:txBody>
          <a:bodyPr/>
          <a:lstStyle/>
          <a:p>
            <a:endParaRPr lang="tr-TR"/>
          </a:p>
        </p:txBody>
      </p:sp>
      <p:sp>
        <p:nvSpPr>
          <p:cNvPr id="46" name="Text 44"/>
          <p:cNvSpPr/>
          <p:nvPr/>
        </p:nvSpPr>
        <p:spPr>
          <a:xfrm>
            <a:off x="365760" y="3964838"/>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09</a:t>
            </a:r>
            <a:endParaRPr lang="en-US" sz="850" dirty="0"/>
          </a:p>
        </p:txBody>
      </p:sp>
      <p:sp>
        <p:nvSpPr>
          <p:cNvPr id="47" name="Text 45"/>
          <p:cNvSpPr/>
          <p:nvPr/>
        </p:nvSpPr>
        <p:spPr>
          <a:xfrm>
            <a:off x="841248" y="3983126"/>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D-FFNN Detayı</a:t>
            </a:r>
            <a:endParaRPr lang="en-US" sz="1000" dirty="0"/>
          </a:p>
        </p:txBody>
      </p:sp>
      <p:sp>
        <p:nvSpPr>
          <p:cNvPr id="48" name="Text 46"/>
          <p:cNvSpPr/>
          <p:nvPr/>
        </p:nvSpPr>
        <p:spPr>
          <a:xfrm>
            <a:off x="841248" y="4138574"/>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Evrensel yaklaşım, sığ vs derin, SGD</a:t>
            </a:r>
            <a:endParaRPr lang="en-US" sz="800" dirty="0"/>
          </a:p>
        </p:txBody>
      </p:sp>
      <p:sp>
        <p:nvSpPr>
          <p:cNvPr id="49" name="Shape 47"/>
          <p:cNvSpPr/>
          <p:nvPr/>
        </p:nvSpPr>
        <p:spPr>
          <a:xfrm>
            <a:off x="365760" y="4314139"/>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50" name="Shape 48"/>
          <p:cNvSpPr/>
          <p:nvPr/>
        </p:nvSpPr>
        <p:spPr>
          <a:xfrm>
            <a:off x="365760" y="4314139"/>
            <a:ext cx="420624" cy="310896"/>
          </a:xfrm>
          <a:prstGeom prst="rect">
            <a:avLst/>
          </a:prstGeom>
          <a:solidFill>
            <a:srgbClr val="EF4444"/>
          </a:solidFill>
          <a:ln w="12700">
            <a:solidFill>
              <a:srgbClr val="EF4444"/>
            </a:solidFill>
            <a:prstDash val="solid"/>
          </a:ln>
        </p:spPr>
        <p:txBody>
          <a:bodyPr/>
          <a:lstStyle/>
          <a:p>
            <a:endParaRPr lang="tr-TR"/>
          </a:p>
        </p:txBody>
      </p:sp>
      <p:sp>
        <p:nvSpPr>
          <p:cNvPr id="51" name="Text 49"/>
          <p:cNvSpPr/>
          <p:nvPr/>
        </p:nvSpPr>
        <p:spPr>
          <a:xfrm>
            <a:off x="365760" y="4314139"/>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10</a:t>
            </a:r>
            <a:endParaRPr lang="en-US" sz="850" dirty="0"/>
          </a:p>
        </p:txBody>
      </p:sp>
      <p:sp>
        <p:nvSpPr>
          <p:cNvPr id="52" name="Text 50"/>
          <p:cNvSpPr/>
          <p:nvPr/>
        </p:nvSpPr>
        <p:spPr>
          <a:xfrm>
            <a:off x="841248" y="4332427"/>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Hopfield &amp; Boltzmann</a:t>
            </a:r>
            <a:endParaRPr lang="en-US" sz="1000" dirty="0"/>
          </a:p>
        </p:txBody>
      </p:sp>
      <p:sp>
        <p:nvSpPr>
          <p:cNvPr id="53" name="Text 51"/>
          <p:cNvSpPr/>
          <p:nvPr/>
        </p:nvSpPr>
        <p:spPr>
          <a:xfrm>
            <a:off x="841248" y="4487875"/>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Asosiyatif bellek, enerji modeli, RBM</a:t>
            </a:r>
            <a:endParaRPr lang="en-US" sz="800" dirty="0"/>
          </a:p>
        </p:txBody>
      </p:sp>
      <p:sp>
        <p:nvSpPr>
          <p:cNvPr id="54" name="Shape 52"/>
          <p:cNvSpPr/>
          <p:nvPr/>
        </p:nvSpPr>
        <p:spPr>
          <a:xfrm>
            <a:off x="365760" y="4663440"/>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55" name="Shape 53"/>
          <p:cNvSpPr/>
          <p:nvPr/>
        </p:nvSpPr>
        <p:spPr>
          <a:xfrm>
            <a:off x="365760" y="4663440"/>
            <a:ext cx="420624" cy="310896"/>
          </a:xfrm>
          <a:prstGeom prst="rect">
            <a:avLst/>
          </a:prstGeom>
          <a:solidFill>
            <a:srgbClr val="0891B2"/>
          </a:solidFill>
          <a:ln w="12700">
            <a:solidFill>
              <a:srgbClr val="0891B2"/>
            </a:solidFill>
            <a:prstDash val="solid"/>
          </a:ln>
        </p:spPr>
        <p:txBody>
          <a:bodyPr/>
          <a:lstStyle/>
          <a:p>
            <a:endParaRPr lang="tr-TR"/>
          </a:p>
        </p:txBody>
      </p:sp>
      <p:sp>
        <p:nvSpPr>
          <p:cNvPr id="56" name="Text 54"/>
          <p:cNvSpPr/>
          <p:nvPr/>
        </p:nvSpPr>
        <p:spPr>
          <a:xfrm>
            <a:off x="365760" y="4663440"/>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11</a:t>
            </a:r>
            <a:endParaRPr lang="en-US" sz="850" dirty="0"/>
          </a:p>
        </p:txBody>
      </p:sp>
      <p:sp>
        <p:nvSpPr>
          <p:cNvPr id="57" name="Text 55"/>
          <p:cNvSpPr/>
          <p:nvPr/>
        </p:nvSpPr>
        <p:spPr>
          <a:xfrm>
            <a:off x="841248" y="4681728"/>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CNN Hesap Detayı</a:t>
            </a:r>
            <a:endParaRPr lang="en-US" sz="1000" dirty="0"/>
          </a:p>
        </p:txBody>
      </p:sp>
      <p:sp>
        <p:nvSpPr>
          <p:cNvPr id="58" name="Text 56"/>
          <p:cNvSpPr/>
          <p:nvPr/>
        </p:nvSpPr>
        <p:spPr>
          <a:xfrm>
            <a:off x="841248" y="4837176"/>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Evrişim formülü, 6×6 örnek, pooling türleri</a:t>
            </a:r>
            <a:endParaRPr lang="en-US" sz="800" dirty="0"/>
          </a:p>
        </p:txBody>
      </p:sp>
      <p:sp>
        <p:nvSpPr>
          <p:cNvPr id="59" name="Shape 57"/>
          <p:cNvSpPr/>
          <p:nvPr/>
        </p:nvSpPr>
        <p:spPr>
          <a:xfrm>
            <a:off x="4754880" y="1170432"/>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60" name="Shape 58"/>
          <p:cNvSpPr/>
          <p:nvPr/>
        </p:nvSpPr>
        <p:spPr>
          <a:xfrm>
            <a:off x="4754880" y="1170432"/>
            <a:ext cx="420624" cy="310896"/>
          </a:xfrm>
          <a:prstGeom prst="rect">
            <a:avLst/>
          </a:prstGeom>
          <a:solidFill>
            <a:srgbClr val="7C3AED"/>
          </a:solidFill>
          <a:ln w="12700">
            <a:solidFill>
              <a:srgbClr val="7C3AED"/>
            </a:solidFill>
            <a:prstDash val="solid"/>
          </a:ln>
        </p:spPr>
        <p:txBody>
          <a:bodyPr/>
          <a:lstStyle/>
          <a:p>
            <a:endParaRPr lang="tr-TR"/>
          </a:p>
        </p:txBody>
      </p:sp>
      <p:sp>
        <p:nvSpPr>
          <p:cNvPr id="61" name="Text 59"/>
          <p:cNvSpPr/>
          <p:nvPr/>
        </p:nvSpPr>
        <p:spPr>
          <a:xfrm>
            <a:off x="4754880" y="1170432"/>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12</a:t>
            </a:r>
            <a:endParaRPr lang="en-US" sz="850" dirty="0"/>
          </a:p>
        </p:txBody>
      </p:sp>
      <p:sp>
        <p:nvSpPr>
          <p:cNvPr id="62" name="Text 60"/>
          <p:cNvSpPr/>
          <p:nvPr/>
        </p:nvSpPr>
        <p:spPr>
          <a:xfrm>
            <a:off x="5230368" y="1188720"/>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RBM &amp; CD Algoritması</a:t>
            </a:r>
            <a:endParaRPr lang="en-US" sz="1000" dirty="0"/>
          </a:p>
        </p:txBody>
      </p:sp>
      <p:sp>
        <p:nvSpPr>
          <p:cNvPr id="63" name="Text 61"/>
          <p:cNvSpPr/>
          <p:nvPr/>
        </p:nvSpPr>
        <p:spPr>
          <a:xfrm>
            <a:off x="5230368" y="1344168"/>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Enerji fonksiyonu, Gibbs örneklemesi</a:t>
            </a:r>
            <a:endParaRPr lang="en-US" sz="800" dirty="0"/>
          </a:p>
        </p:txBody>
      </p:sp>
      <p:sp>
        <p:nvSpPr>
          <p:cNvPr id="64" name="Shape 62"/>
          <p:cNvSpPr/>
          <p:nvPr/>
        </p:nvSpPr>
        <p:spPr>
          <a:xfrm>
            <a:off x="4754880" y="1519733"/>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65" name="Shape 63"/>
          <p:cNvSpPr/>
          <p:nvPr/>
        </p:nvSpPr>
        <p:spPr>
          <a:xfrm>
            <a:off x="4754880" y="1519733"/>
            <a:ext cx="420624" cy="310896"/>
          </a:xfrm>
          <a:prstGeom prst="rect">
            <a:avLst/>
          </a:prstGeom>
          <a:solidFill>
            <a:srgbClr val="059669"/>
          </a:solidFill>
          <a:ln w="12700">
            <a:solidFill>
              <a:srgbClr val="059669"/>
            </a:solidFill>
            <a:prstDash val="solid"/>
          </a:ln>
        </p:spPr>
        <p:txBody>
          <a:bodyPr/>
          <a:lstStyle/>
          <a:p>
            <a:endParaRPr lang="tr-TR"/>
          </a:p>
        </p:txBody>
      </p:sp>
      <p:sp>
        <p:nvSpPr>
          <p:cNvPr id="66" name="Text 64"/>
          <p:cNvSpPr/>
          <p:nvPr/>
        </p:nvSpPr>
        <p:spPr>
          <a:xfrm>
            <a:off x="4754880" y="1519733"/>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13</a:t>
            </a:r>
            <a:endParaRPr lang="en-US" sz="850" dirty="0"/>
          </a:p>
        </p:txBody>
      </p:sp>
      <p:sp>
        <p:nvSpPr>
          <p:cNvPr id="67" name="Text 65"/>
          <p:cNvSpPr/>
          <p:nvPr/>
        </p:nvSpPr>
        <p:spPr>
          <a:xfrm>
            <a:off x="5230368" y="1538021"/>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DBN Eğitim Süreci</a:t>
            </a:r>
            <a:endParaRPr lang="en-US" sz="1000" dirty="0"/>
          </a:p>
        </p:txBody>
      </p:sp>
      <p:sp>
        <p:nvSpPr>
          <p:cNvPr id="68" name="Text 66"/>
          <p:cNvSpPr/>
          <p:nvPr/>
        </p:nvSpPr>
        <p:spPr>
          <a:xfrm>
            <a:off x="5230368" y="1693469"/>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Adım adım RBM istifleme diyagramı</a:t>
            </a:r>
            <a:endParaRPr lang="en-US" sz="800" dirty="0"/>
          </a:p>
        </p:txBody>
      </p:sp>
      <p:sp>
        <p:nvSpPr>
          <p:cNvPr id="69" name="Shape 67"/>
          <p:cNvSpPr/>
          <p:nvPr/>
        </p:nvSpPr>
        <p:spPr>
          <a:xfrm>
            <a:off x="4754880" y="1869034"/>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70" name="Shape 68"/>
          <p:cNvSpPr/>
          <p:nvPr/>
        </p:nvSpPr>
        <p:spPr>
          <a:xfrm>
            <a:off x="4754880" y="1869034"/>
            <a:ext cx="420624" cy="310896"/>
          </a:xfrm>
          <a:prstGeom prst="rect">
            <a:avLst/>
          </a:prstGeom>
          <a:solidFill>
            <a:srgbClr val="D97706"/>
          </a:solidFill>
          <a:ln w="12700">
            <a:solidFill>
              <a:srgbClr val="D97706"/>
            </a:solidFill>
            <a:prstDash val="solid"/>
          </a:ln>
        </p:spPr>
        <p:txBody>
          <a:bodyPr/>
          <a:lstStyle/>
          <a:p>
            <a:endParaRPr lang="tr-TR"/>
          </a:p>
        </p:txBody>
      </p:sp>
      <p:sp>
        <p:nvSpPr>
          <p:cNvPr id="71" name="Text 69"/>
          <p:cNvSpPr/>
          <p:nvPr/>
        </p:nvSpPr>
        <p:spPr>
          <a:xfrm>
            <a:off x="4754880" y="1869034"/>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14</a:t>
            </a:r>
            <a:endParaRPr lang="en-US" sz="850" dirty="0"/>
          </a:p>
        </p:txBody>
      </p:sp>
      <p:sp>
        <p:nvSpPr>
          <p:cNvPr id="72" name="Text 70"/>
          <p:cNvSpPr/>
          <p:nvPr/>
        </p:nvSpPr>
        <p:spPr>
          <a:xfrm>
            <a:off x="5230368" y="1887322"/>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AE Varyantları</a:t>
            </a:r>
            <a:endParaRPr lang="en-US" sz="1000" dirty="0"/>
          </a:p>
        </p:txBody>
      </p:sp>
      <p:sp>
        <p:nvSpPr>
          <p:cNvPr id="73" name="Text 71"/>
          <p:cNvSpPr/>
          <p:nvPr/>
        </p:nvSpPr>
        <p:spPr>
          <a:xfrm>
            <a:off x="5230368" y="2042770"/>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Standart, Seyrek, Gürültü Giderici, VAE</a:t>
            </a:r>
            <a:endParaRPr lang="en-US" sz="800" dirty="0"/>
          </a:p>
        </p:txBody>
      </p:sp>
      <p:sp>
        <p:nvSpPr>
          <p:cNvPr id="74" name="Shape 72"/>
          <p:cNvSpPr/>
          <p:nvPr/>
        </p:nvSpPr>
        <p:spPr>
          <a:xfrm>
            <a:off x="4754880" y="2218334"/>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75" name="Shape 73"/>
          <p:cNvSpPr/>
          <p:nvPr/>
        </p:nvSpPr>
        <p:spPr>
          <a:xfrm>
            <a:off x="4754880" y="2218334"/>
            <a:ext cx="420624" cy="310896"/>
          </a:xfrm>
          <a:prstGeom prst="rect">
            <a:avLst/>
          </a:prstGeom>
          <a:solidFill>
            <a:srgbClr val="EF4444"/>
          </a:solidFill>
          <a:ln w="12700">
            <a:solidFill>
              <a:srgbClr val="EF4444"/>
            </a:solidFill>
            <a:prstDash val="solid"/>
          </a:ln>
        </p:spPr>
        <p:txBody>
          <a:bodyPr/>
          <a:lstStyle/>
          <a:p>
            <a:endParaRPr lang="tr-TR"/>
          </a:p>
        </p:txBody>
      </p:sp>
      <p:sp>
        <p:nvSpPr>
          <p:cNvPr id="76" name="Text 74"/>
          <p:cNvSpPr/>
          <p:nvPr/>
        </p:nvSpPr>
        <p:spPr>
          <a:xfrm>
            <a:off x="4754880" y="2218334"/>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15</a:t>
            </a:r>
            <a:endParaRPr lang="en-US" sz="850" dirty="0"/>
          </a:p>
        </p:txBody>
      </p:sp>
      <p:sp>
        <p:nvSpPr>
          <p:cNvPr id="77" name="Text 75"/>
          <p:cNvSpPr/>
          <p:nvPr/>
        </p:nvSpPr>
        <p:spPr>
          <a:xfrm>
            <a:off x="5230368" y="2236622"/>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LSTM Metin Sınıflandırma</a:t>
            </a:r>
            <a:endParaRPr lang="en-US" sz="1000" dirty="0"/>
          </a:p>
        </p:txBody>
      </p:sp>
      <p:sp>
        <p:nvSpPr>
          <p:cNvPr id="78" name="Text 76"/>
          <p:cNvSpPr/>
          <p:nvPr/>
        </p:nvSpPr>
        <p:spPr>
          <a:xfrm>
            <a:off x="5230368" y="2392070"/>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Kelime gömme, açılmış zaman serisi</a:t>
            </a:r>
            <a:endParaRPr lang="en-US" sz="800" dirty="0"/>
          </a:p>
        </p:txBody>
      </p:sp>
      <p:sp>
        <p:nvSpPr>
          <p:cNvPr id="79" name="Shape 77"/>
          <p:cNvSpPr/>
          <p:nvPr/>
        </p:nvSpPr>
        <p:spPr>
          <a:xfrm>
            <a:off x="4754880" y="2567635"/>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80" name="Shape 78"/>
          <p:cNvSpPr/>
          <p:nvPr/>
        </p:nvSpPr>
        <p:spPr>
          <a:xfrm>
            <a:off x="4754880" y="2567635"/>
            <a:ext cx="420624" cy="310896"/>
          </a:xfrm>
          <a:prstGeom prst="rect">
            <a:avLst/>
          </a:prstGeom>
          <a:solidFill>
            <a:srgbClr val="0891B2"/>
          </a:solidFill>
          <a:ln w="12700">
            <a:solidFill>
              <a:srgbClr val="0891B2"/>
            </a:solidFill>
            <a:prstDash val="solid"/>
          </a:ln>
        </p:spPr>
        <p:txBody>
          <a:bodyPr/>
          <a:lstStyle/>
          <a:p>
            <a:endParaRPr lang="tr-TR"/>
          </a:p>
        </p:txBody>
      </p:sp>
      <p:sp>
        <p:nvSpPr>
          <p:cNvPr id="81" name="Text 79"/>
          <p:cNvSpPr/>
          <p:nvPr/>
        </p:nvSpPr>
        <p:spPr>
          <a:xfrm>
            <a:off x="4754880" y="2567635"/>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16</a:t>
            </a:r>
            <a:endParaRPr lang="en-US" sz="850" dirty="0"/>
          </a:p>
        </p:txBody>
      </p:sp>
      <p:sp>
        <p:nvSpPr>
          <p:cNvPr id="82" name="Text 80"/>
          <p:cNvSpPr/>
          <p:nvPr/>
        </p:nvSpPr>
        <p:spPr>
          <a:xfrm>
            <a:off x="5230368" y="2585923"/>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Peephole LSTM &amp; GRU</a:t>
            </a:r>
            <a:endParaRPr lang="en-US" sz="1000" dirty="0"/>
          </a:p>
        </p:txBody>
      </p:sp>
      <p:sp>
        <p:nvSpPr>
          <p:cNvPr id="83" name="Text 81"/>
          <p:cNvSpPr/>
          <p:nvPr/>
        </p:nvSpPr>
        <p:spPr>
          <a:xfrm>
            <a:off x="5230368" y="2741371"/>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Karşılaştırmalı denklemler ve tablo</a:t>
            </a:r>
            <a:endParaRPr lang="en-US" sz="800" dirty="0"/>
          </a:p>
        </p:txBody>
      </p:sp>
      <p:sp>
        <p:nvSpPr>
          <p:cNvPr id="84" name="Shape 82"/>
          <p:cNvSpPr/>
          <p:nvPr/>
        </p:nvSpPr>
        <p:spPr>
          <a:xfrm>
            <a:off x="4754880" y="2916936"/>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85" name="Shape 83"/>
          <p:cNvSpPr/>
          <p:nvPr/>
        </p:nvSpPr>
        <p:spPr>
          <a:xfrm>
            <a:off x="4754880" y="2916936"/>
            <a:ext cx="420624" cy="310896"/>
          </a:xfrm>
          <a:prstGeom prst="rect">
            <a:avLst/>
          </a:prstGeom>
          <a:solidFill>
            <a:srgbClr val="7C3AED"/>
          </a:solidFill>
          <a:ln w="12700">
            <a:solidFill>
              <a:srgbClr val="7C3AED"/>
            </a:solidFill>
            <a:prstDash val="solid"/>
          </a:ln>
        </p:spPr>
        <p:txBody>
          <a:bodyPr/>
          <a:lstStyle/>
          <a:p>
            <a:endParaRPr lang="tr-TR"/>
          </a:p>
        </p:txBody>
      </p:sp>
      <p:sp>
        <p:nvSpPr>
          <p:cNvPr id="86" name="Text 84"/>
          <p:cNvSpPr/>
          <p:nvPr/>
        </p:nvSpPr>
        <p:spPr>
          <a:xfrm>
            <a:off x="4754880" y="2916936"/>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17</a:t>
            </a:r>
            <a:endParaRPr lang="en-US" sz="850" dirty="0"/>
          </a:p>
        </p:txBody>
      </p:sp>
      <p:sp>
        <p:nvSpPr>
          <p:cNvPr id="87" name="Text 85"/>
          <p:cNvSpPr/>
          <p:nvPr/>
        </p:nvSpPr>
        <p:spPr>
          <a:xfrm>
            <a:off x="5230368" y="2935224"/>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GAN &amp; İleri Modeller</a:t>
            </a:r>
            <a:endParaRPr lang="en-US" sz="1000" dirty="0"/>
          </a:p>
        </p:txBody>
      </p:sp>
      <p:sp>
        <p:nvSpPr>
          <p:cNvPr id="88" name="Text 86"/>
          <p:cNvSpPr/>
          <p:nvPr/>
        </p:nvSpPr>
        <p:spPr>
          <a:xfrm>
            <a:off x="5230368" y="3090672"/>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Minimax oyun, derin RL, GCN, VAE</a:t>
            </a:r>
            <a:endParaRPr lang="en-US" sz="800" dirty="0"/>
          </a:p>
        </p:txBody>
      </p:sp>
      <p:sp>
        <p:nvSpPr>
          <p:cNvPr id="89" name="Shape 87"/>
          <p:cNvSpPr/>
          <p:nvPr/>
        </p:nvSpPr>
        <p:spPr>
          <a:xfrm>
            <a:off x="4754880" y="3266237"/>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90" name="Shape 88"/>
          <p:cNvSpPr/>
          <p:nvPr/>
        </p:nvSpPr>
        <p:spPr>
          <a:xfrm>
            <a:off x="4754880" y="3266237"/>
            <a:ext cx="420624" cy="310896"/>
          </a:xfrm>
          <a:prstGeom prst="rect">
            <a:avLst/>
          </a:prstGeom>
          <a:solidFill>
            <a:srgbClr val="059669"/>
          </a:solidFill>
          <a:ln w="12700">
            <a:solidFill>
              <a:srgbClr val="059669"/>
            </a:solidFill>
            <a:prstDash val="solid"/>
          </a:ln>
        </p:spPr>
        <p:txBody>
          <a:bodyPr/>
          <a:lstStyle/>
          <a:p>
            <a:endParaRPr lang="tr-TR"/>
          </a:p>
        </p:txBody>
      </p:sp>
      <p:sp>
        <p:nvSpPr>
          <p:cNvPr id="91" name="Text 89"/>
          <p:cNvSpPr/>
          <p:nvPr/>
        </p:nvSpPr>
        <p:spPr>
          <a:xfrm>
            <a:off x="4754880" y="3266237"/>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18</a:t>
            </a:r>
            <a:endParaRPr lang="en-US" sz="850" dirty="0"/>
          </a:p>
        </p:txBody>
      </p:sp>
      <p:sp>
        <p:nvSpPr>
          <p:cNvPr id="92" name="Text 90"/>
          <p:cNvSpPr/>
          <p:nvPr/>
        </p:nvSpPr>
        <p:spPr>
          <a:xfrm>
            <a:off x="5230368" y="3284525"/>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Yazılım Ekosistemi</a:t>
            </a:r>
            <a:endParaRPr lang="en-US" sz="1000" dirty="0"/>
          </a:p>
        </p:txBody>
      </p:sp>
      <p:sp>
        <p:nvSpPr>
          <p:cNvPr id="93" name="Text 91"/>
          <p:cNvSpPr/>
          <p:nvPr/>
        </p:nvSpPr>
        <p:spPr>
          <a:xfrm>
            <a:off x="5230368" y="3439973"/>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TensorFlow, Keras, PyTorch, MXNet...</a:t>
            </a:r>
            <a:endParaRPr lang="en-US" sz="800" dirty="0"/>
          </a:p>
        </p:txBody>
      </p:sp>
      <p:sp>
        <p:nvSpPr>
          <p:cNvPr id="94" name="Shape 92"/>
          <p:cNvSpPr/>
          <p:nvPr/>
        </p:nvSpPr>
        <p:spPr>
          <a:xfrm>
            <a:off x="4754880" y="3615538"/>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95" name="Shape 93"/>
          <p:cNvSpPr/>
          <p:nvPr/>
        </p:nvSpPr>
        <p:spPr>
          <a:xfrm>
            <a:off x="4754880" y="3615538"/>
            <a:ext cx="420624" cy="310896"/>
          </a:xfrm>
          <a:prstGeom prst="rect">
            <a:avLst/>
          </a:prstGeom>
          <a:solidFill>
            <a:srgbClr val="D97706"/>
          </a:solidFill>
          <a:ln w="12700">
            <a:solidFill>
              <a:srgbClr val="D97706"/>
            </a:solidFill>
            <a:prstDash val="solid"/>
          </a:ln>
        </p:spPr>
        <p:txBody>
          <a:bodyPr/>
          <a:lstStyle/>
          <a:p>
            <a:endParaRPr lang="tr-TR"/>
          </a:p>
        </p:txBody>
      </p:sp>
      <p:sp>
        <p:nvSpPr>
          <p:cNvPr id="96" name="Text 94"/>
          <p:cNvSpPr/>
          <p:nvPr/>
        </p:nvSpPr>
        <p:spPr>
          <a:xfrm>
            <a:off x="4754880" y="3615538"/>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19</a:t>
            </a:r>
            <a:endParaRPr lang="en-US" sz="850" dirty="0"/>
          </a:p>
        </p:txBody>
      </p:sp>
      <p:sp>
        <p:nvSpPr>
          <p:cNvPr id="97" name="Text 95"/>
          <p:cNvSpPr/>
          <p:nvPr/>
        </p:nvSpPr>
        <p:spPr>
          <a:xfrm>
            <a:off x="5230368" y="3633826"/>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Uygulama Örnekleri</a:t>
            </a:r>
            <a:endParaRPr lang="en-US" sz="1000" dirty="0"/>
          </a:p>
        </p:txBody>
      </p:sp>
      <p:sp>
        <p:nvSpPr>
          <p:cNvPr id="98" name="Text 96"/>
          <p:cNvSpPr/>
          <p:nvPr/>
        </p:nvSpPr>
        <p:spPr>
          <a:xfrm>
            <a:off x="5230368" y="3789274"/>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Tıp, genomik, ses, metin — 8 örnek</a:t>
            </a:r>
            <a:endParaRPr lang="en-US" sz="800" dirty="0"/>
          </a:p>
        </p:txBody>
      </p:sp>
      <p:sp>
        <p:nvSpPr>
          <p:cNvPr id="99" name="Shape 97"/>
          <p:cNvSpPr/>
          <p:nvPr/>
        </p:nvSpPr>
        <p:spPr>
          <a:xfrm>
            <a:off x="4754880" y="3964838"/>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100" name="Shape 98"/>
          <p:cNvSpPr/>
          <p:nvPr/>
        </p:nvSpPr>
        <p:spPr>
          <a:xfrm>
            <a:off x="4754880" y="3964838"/>
            <a:ext cx="420624" cy="310896"/>
          </a:xfrm>
          <a:prstGeom prst="rect">
            <a:avLst/>
          </a:prstGeom>
          <a:solidFill>
            <a:srgbClr val="EF4444"/>
          </a:solidFill>
          <a:ln w="12700">
            <a:solidFill>
              <a:srgbClr val="EF4444"/>
            </a:solidFill>
            <a:prstDash val="solid"/>
          </a:ln>
        </p:spPr>
        <p:txBody>
          <a:bodyPr/>
          <a:lstStyle/>
          <a:p>
            <a:endParaRPr lang="tr-TR"/>
          </a:p>
        </p:txBody>
      </p:sp>
      <p:sp>
        <p:nvSpPr>
          <p:cNvPr id="101" name="Text 99"/>
          <p:cNvSpPr/>
          <p:nvPr/>
        </p:nvSpPr>
        <p:spPr>
          <a:xfrm>
            <a:off x="4754880" y="3964838"/>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20</a:t>
            </a:r>
            <a:endParaRPr lang="en-US" sz="850" dirty="0"/>
          </a:p>
        </p:txBody>
      </p:sp>
      <p:sp>
        <p:nvSpPr>
          <p:cNvPr id="102" name="Text 100"/>
          <p:cNvSpPr/>
          <p:nvPr/>
        </p:nvSpPr>
        <p:spPr>
          <a:xfrm>
            <a:off x="5230368" y="3983126"/>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Veri Türleri &amp; Model Seçimi</a:t>
            </a:r>
            <a:endParaRPr lang="en-US" sz="1000" dirty="0"/>
          </a:p>
        </p:txBody>
      </p:sp>
      <p:sp>
        <p:nvSpPr>
          <p:cNvPr id="103" name="Text 101"/>
          <p:cNvSpPr/>
          <p:nvPr/>
        </p:nvSpPr>
        <p:spPr>
          <a:xfrm>
            <a:off x="5230368" y="4138574"/>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Her veri tipine uygun mimari rehberi</a:t>
            </a:r>
            <a:endParaRPr lang="en-US" sz="800" dirty="0"/>
          </a:p>
        </p:txBody>
      </p:sp>
      <p:sp>
        <p:nvSpPr>
          <p:cNvPr id="104" name="Shape 102"/>
          <p:cNvSpPr/>
          <p:nvPr/>
        </p:nvSpPr>
        <p:spPr>
          <a:xfrm>
            <a:off x="4754880" y="4314139"/>
            <a:ext cx="4114800" cy="310896"/>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105" name="Shape 103"/>
          <p:cNvSpPr/>
          <p:nvPr/>
        </p:nvSpPr>
        <p:spPr>
          <a:xfrm>
            <a:off x="4754880" y="4314139"/>
            <a:ext cx="420624" cy="310896"/>
          </a:xfrm>
          <a:prstGeom prst="rect">
            <a:avLst/>
          </a:prstGeom>
          <a:solidFill>
            <a:srgbClr val="0891B2"/>
          </a:solidFill>
          <a:ln w="12700">
            <a:solidFill>
              <a:srgbClr val="0891B2"/>
            </a:solidFill>
            <a:prstDash val="solid"/>
          </a:ln>
        </p:spPr>
        <p:txBody>
          <a:bodyPr/>
          <a:lstStyle/>
          <a:p>
            <a:endParaRPr lang="tr-TR"/>
          </a:p>
        </p:txBody>
      </p:sp>
      <p:sp>
        <p:nvSpPr>
          <p:cNvPr id="106" name="Text 104"/>
          <p:cNvSpPr/>
          <p:nvPr/>
        </p:nvSpPr>
        <p:spPr>
          <a:xfrm>
            <a:off x="4754880" y="4314139"/>
            <a:ext cx="420624"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21–25</a:t>
            </a:r>
            <a:endParaRPr lang="en-US" sz="850" dirty="0"/>
          </a:p>
        </p:txBody>
      </p:sp>
      <p:sp>
        <p:nvSpPr>
          <p:cNvPr id="107" name="Text 105"/>
          <p:cNvSpPr/>
          <p:nvPr/>
        </p:nvSpPr>
        <p:spPr>
          <a:xfrm>
            <a:off x="5230368" y="4332427"/>
            <a:ext cx="2194560" cy="16459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Model Karşılaştırması &amp; Sonuç</a:t>
            </a:r>
            <a:endParaRPr lang="en-US" sz="1000" dirty="0"/>
          </a:p>
        </p:txBody>
      </p:sp>
      <p:sp>
        <p:nvSpPr>
          <p:cNvPr id="108" name="Text 106"/>
          <p:cNvSpPr/>
          <p:nvPr/>
        </p:nvSpPr>
        <p:spPr>
          <a:xfrm>
            <a:off x="5230368" y="4487875"/>
            <a:ext cx="3547872" cy="128016"/>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Tartışma, XAI, büyük veri, kaynaklar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01 — GİRİŞ</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Büyük Veri Çağında Derin Öğrenme</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115568"/>
            <a:ext cx="2633472" cy="1417320"/>
          </a:xfrm>
          <a:prstGeom prst="rect">
            <a:avLst/>
          </a:prstGeom>
          <a:solidFill>
            <a:srgbClr val="243B55"/>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7" name="Shape 5"/>
          <p:cNvSpPr/>
          <p:nvPr/>
        </p:nvSpPr>
        <p:spPr>
          <a:xfrm>
            <a:off x="365760" y="1115568"/>
            <a:ext cx="2633472" cy="54864"/>
          </a:xfrm>
          <a:prstGeom prst="rect">
            <a:avLst/>
          </a:prstGeom>
          <a:solidFill>
            <a:srgbClr val="0891B2"/>
          </a:solidFill>
          <a:ln w="12700">
            <a:solidFill>
              <a:srgbClr val="0891B2"/>
            </a:solidFill>
            <a:prstDash val="solid"/>
          </a:ln>
        </p:spPr>
        <p:txBody>
          <a:bodyPr/>
          <a:lstStyle/>
          <a:p>
            <a:endParaRPr lang="tr-TR"/>
          </a:p>
        </p:txBody>
      </p:sp>
      <p:sp>
        <p:nvSpPr>
          <p:cNvPr id="8" name="Text 6"/>
          <p:cNvSpPr/>
          <p:nvPr/>
        </p:nvSpPr>
        <p:spPr>
          <a:xfrm>
            <a:off x="365760" y="1243584"/>
            <a:ext cx="2633472" cy="594360"/>
          </a:xfrm>
          <a:prstGeom prst="rect">
            <a:avLst/>
          </a:prstGeom>
          <a:noFill/>
          <a:ln/>
        </p:spPr>
        <p:txBody>
          <a:bodyPr wrap="square" lIns="0" tIns="0" rIns="0" bIns="0" rtlCol="0" anchor="ctr"/>
          <a:lstStyle/>
          <a:p>
            <a:pPr marL="0" indent="0" algn="ctr">
              <a:buNone/>
            </a:pPr>
            <a:r>
              <a:rPr lang="en-US" sz="3400" b="1" dirty="0">
                <a:solidFill>
                  <a:srgbClr val="0891B2"/>
                </a:solidFill>
                <a:latin typeface="Calibri" pitchFamily="34" charset="0"/>
                <a:ea typeface="Calibri" pitchFamily="34" charset="-122"/>
                <a:cs typeface="Calibri" pitchFamily="34" charset="-120"/>
              </a:rPr>
              <a:t>0.21%</a:t>
            </a:r>
            <a:endParaRPr lang="en-US" sz="3400" dirty="0"/>
          </a:p>
        </p:txBody>
      </p:sp>
      <p:sp>
        <p:nvSpPr>
          <p:cNvPr id="9" name="Text 7"/>
          <p:cNvSpPr/>
          <p:nvPr/>
        </p:nvSpPr>
        <p:spPr>
          <a:xfrm>
            <a:off x="365760" y="1847088"/>
            <a:ext cx="2633472"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MNIST Hata Oranı</a:t>
            </a:r>
            <a:endParaRPr lang="en-US" sz="1050" dirty="0"/>
          </a:p>
        </p:txBody>
      </p:sp>
      <p:sp>
        <p:nvSpPr>
          <p:cNvPr id="10" name="Text 8"/>
          <p:cNvSpPr/>
          <p:nvPr/>
        </p:nvSpPr>
        <p:spPr>
          <a:xfrm>
            <a:off x="365760" y="2103120"/>
            <a:ext cx="2633472" cy="182880"/>
          </a:xfrm>
          <a:prstGeom prst="rect">
            <a:avLst/>
          </a:prstGeom>
          <a:noFill/>
          <a:ln/>
        </p:spPr>
        <p:txBody>
          <a:bodyPr wrap="square" lIns="0" tIns="0" rIns="0" bIns="0"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El yazısı rakam tanıma en iyi skoru</a:t>
            </a:r>
            <a:endParaRPr lang="en-US" sz="850" dirty="0"/>
          </a:p>
        </p:txBody>
      </p:sp>
      <p:sp>
        <p:nvSpPr>
          <p:cNvPr id="11" name="Text 9"/>
          <p:cNvSpPr/>
          <p:nvPr/>
        </p:nvSpPr>
        <p:spPr>
          <a:xfrm>
            <a:off x="365760" y="2304288"/>
            <a:ext cx="2633472" cy="16459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 Wan et al., 2013</a:t>
            </a:r>
            <a:endParaRPr lang="en-US" sz="800" dirty="0"/>
          </a:p>
        </p:txBody>
      </p:sp>
      <p:sp>
        <p:nvSpPr>
          <p:cNvPr id="12" name="Shape 10"/>
          <p:cNvSpPr/>
          <p:nvPr/>
        </p:nvSpPr>
        <p:spPr>
          <a:xfrm>
            <a:off x="3200400" y="1115568"/>
            <a:ext cx="2633472" cy="1417320"/>
          </a:xfrm>
          <a:prstGeom prst="rect">
            <a:avLst/>
          </a:prstGeom>
          <a:solidFill>
            <a:srgbClr val="243B55"/>
          </a:solidFill>
          <a:ln w="12700">
            <a:solidFill>
              <a:srgbClr val="7C3AED"/>
            </a:solidFill>
            <a:prstDash val="solid"/>
          </a:ln>
          <a:effectLst>
            <a:outerShdw blurRad="127000" dist="50800" dir="8100000" algn="bl" rotWithShape="0">
              <a:srgbClr val="000000">
                <a:alpha val="12000"/>
              </a:srgbClr>
            </a:outerShdw>
          </a:effectLst>
        </p:spPr>
        <p:txBody>
          <a:bodyPr/>
          <a:lstStyle/>
          <a:p>
            <a:endParaRPr lang="tr-TR"/>
          </a:p>
        </p:txBody>
      </p:sp>
      <p:sp>
        <p:nvSpPr>
          <p:cNvPr id="13" name="Shape 11"/>
          <p:cNvSpPr/>
          <p:nvPr/>
        </p:nvSpPr>
        <p:spPr>
          <a:xfrm>
            <a:off x="3200400" y="1115568"/>
            <a:ext cx="2633472" cy="54864"/>
          </a:xfrm>
          <a:prstGeom prst="rect">
            <a:avLst/>
          </a:prstGeom>
          <a:solidFill>
            <a:srgbClr val="7C3AED"/>
          </a:solidFill>
          <a:ln w="12700">
            <a:solidFill>
              <a:srgbClr val="7C3AED"/>
            </a:solidFill>
            <a:prstDash val="solid"/>
          </a:ln>
        </p:spPr>
        <p:txBody>
          <a:bodyPr/>
          <a:lstStyle/>
          <a:p>
            <a:endParaRPr lang="tr-TR"/>
          </a:p>
        </p:txBody>
      </p:sp>
      <p:sp>
        <p:nvSpPr>
          <p:cNvPr id="14" name="Text 12"/>
          <p:cNvSpPr/>
          <p:nvPr/>
        </p:nvSpPr>
        <p:spPr>
          <a:xfrm>
            <a:off x="3200400" y="1243584"/>
            <a:ext cx="2633472" cy="594360"/>
          </a:xfrm>
          <a:prstGeom prst="rect">
            <a:avLst/>
          </a:prstGeom>
          <a:noFill/>
          <a:ln/>
        </p:spPr>
        <p:txBody>
          <a:bodyPr wrap="square" lIns="0" tIns="0" rIns="0" bIns="0" rtlCol="0" anchor="ctr"/>
          <a:lstStyle/>
          <a:p>
            <a:pPr marL="0" indent="0" algn="ctr">
              <a:buNone/>
            </a:pPr>
            <a:r>
              <a:rPr lang="en-US" sz="3400" b="1" dirty="0">
                <a:solidFill>
                  <a:srgbClr val="7C3AED"/>
                </a:solidFill>
                <a:latin typeface="Calibri" pitchFamily="34" charset="0"/>
                <a:ea typeface="Calibri" pitchFamily="34" charset="-122"/>
                <a:cs typeface="Calibri" pitchFamily="34" charset="-120"/>
              </a:rPr>
              <a:t>2006</a:t>
            </a:r>
            <a:endParaRPr lang="en-US" sz="3400" dirty="0"/>
          </a:p>
        </p:txBody>
      </p:sp>
      <p:sp>
        <p:nvSpPr>
          <p:cNvPr id="15" name="Text 13"/>
          <p:cNvSpPr/>
          <p:nvPr/>
        </p:nvSpPr>
        <p:spPr>
          <a:xfrm>
            <a:off x="3200400" y="1847088"/>
            <a:ext cx="2633472"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Modern DÖ Başlangıcı</a:t>
            </a:r>
            <a:endParaRPr lang="en-US" sz="1050" dirty="0"/>
          </a:p>
        </p:txBody>
      </p:sp>
      <p:sp>
        <p:nvSpPr>
          <p:cNvPr id="16" name="Text 14"/>
          <p:cNvSpPr/>
          <p:nvPr/>
        </p:nvSpPr>
        <p:spPr>
          <a:xfrm>
            <a:off x="3200400" y="2103120"/>
            <a:ext cx="2633472" cy="182880"/>
          </a:xfrm>
          <a:prstGeom prst="rect">
            <a:avLst/>
          </a:prstGeom>
          <a:noFill/>
          <a:ln/>
        </p:spPr>
        <p:txBody>
          <a:bodyPr wrap="square" lIns="0" tIns="0" rIns="0" bIns="0"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Derin İnanç Ağları ile 3. dalga</a:t>
            </a:r>
            <a:endParaRPr lang="en-US" sz="850" dirty="0"/>
          </a:p>
        </p:txBody>
      </p:sp>
      <p:sp>
        <p:nvSpPr>
          <p:cNvPr id="17" name="Text 15"/>
          <p:cNvSpPr/>
          <p:nvPr/>
        </p:nvSpPr>
        <p:spPr>
          <a:xfrm>
            <a:off x="3200400" y="2304288"/>
            <a:ext cx="2633472" cy="16459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 Hinton et al., 2006</a:t>
            </a:r>
            <a:endParaRPr lang="en-US" sz="800" dirty="0"/>
          </a:p>
        </p:txBody>
      </p:sp>
      <p:sp>
        <p:nvSpPr>
          <p:cNvPr id="18" name="Shape 16"/>
          <p:cNvSpPr/>
          <p:nvPr/>
        </p:nvSpPr>
        <p:spPr>
          <a:xfrm>
            <a:off x="6035040" y="1115568"/>
            <a:ext cx="2633472" cy="1417320"/>
          </a:xfrm>
          <a:prstGeom prst="rect">
            <a:avLst/>
          </a:prstGeom>
          <a:solidFill>
            <a:srgbClr val="243B55"/>
          </a:solidFill>
          <a:ln w="12700">
            <a:solidFill>
              <a:srgbClr val="059669"/>
            </a:solidFill>
            <a:prstDash val="solid"/>
          </a:ln>
          <a:effectLst>
            <a:outerShdw blurRad="127000" dist="50800" dir="8100000" algn="bl" rotWithShape="0">
              <a:srgbClr val="000000">
                <a:alpha val="12000"/>
              </a:srgbClr>
            </a:outerShdw>
          </a:effectLst>
        </p:spPr>
        <p:txBody>
          <a:bodyPr/>
          <a:lstStyle/>
          <a:p>
            <a:endParaRPr lang="tr-TR"/>
          </a:p>
        </p:txBody>
      </p:sp>
      <p:sp>
        <p:nvSpPr>
          <p:cNvPr id="19" name="Shape 17"/>
          <p:cNvSpPr/>
          <p:nvPr/>
        </p:nvSpPr>
        <p:spPr>
          <a:xfrm>
            <a:off x="6035040" y="1115568"/>
            <a:ext cx="2633472" cy="54864"/>
          </a:xfrm>
          <a:prstGeom prst="rect">
            <a:avLst/>
          </a:prstGeom>
          <a:solidFill>
            <a:srgbClr val="059669"/>
          </a:solidFill>
          <a:ln w="12700">
            <a:solidFill>
              <a:srgbClr val="059669"/>
            </a:solidFill>
            <a:prstDash val="solid"/>
          </a:ln>
        </p:spPr>
        <p:txBody>
          <a:bodyPr/>
          <a:lstStyle/>
          <a:p>
            <a:endParaRPr lang="tr-TR"/>
          </a:p>
        </p:txBody>
      </p:sp>
      <p:sp>
        <p:nvSpPr>
          <p:cNvPr id="20" name="Text 18"/>
          <p:cNvSpPr/>
          <p:nvPr/>
        </p:nvSpPr>
        <p:spPr>
          <a:xfrm>
            <a:off x="6035040" y="1243584"/>
            <a:ext cx="2633472" cy="594360"/>
          </a:xfrm>
          <a:prstGeom prst="rect">
            <a:avLst/>
          </a:prstGeom>
          <a:noFill/>
          <a:ln/>
        </p:spPr>
        <p:txBody>
          <a:bodyPr wrap="square" lIns="0" tIns="0" rIns="0" bIns="0" rtlCol="0" anchor="ctr"/>
          <a:lstStyle/>
          <a:p>
            <a:pPr marL="0" indent="0" algn="ctr">
              <a:buNone/>
            </a:pPr>
            <a:r>
              <a:rPr lang="en-US" sz="3400" b="1" dirty="0">
                <a:solidFill>
                  <a:srgbClr val="059669"/>
                </a:solidFill>
                <a:latin typeface="Calibri" pitchFamily="34" charset="0"/>
                <a:ea typeface="Calibri" pitchFamily="34" charset="-122"/>
                <a:cs typeface="Calibri" pitchFamily="34" charset="-120"/>
              </a:rPr>
              <a:t>30,230</a:t>
            </a:r>
            <a:endParaRPr lang="en-US" sz="3400" dirty="0"/>
          </a:p>
        </p:txBody>
      </p:sp>
      <p:sp>
        <p:nvSpPr>
          <p:cNvPr id="21" name="Text 19"/>
          <p:cNvSpPr/>
          <p:nvPr/>
        </p:nvSpPr>
        <p:spPr>
          <a:xfrm>
            <a:off x="6035040" y="1847088"/>
            <a:ext cx="2633472"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Toplam Yayın Sayısı</a:t>
            </a:r>
            <a:endParaRPr lang="en-US" sz="1050" dirty="0"/>
          </a:p>
        </p:txBody>
      </p:sp>
      <p:sp>
        <p:nvSpPr>
          <p:cNvPr id="22" name="Text 20"/>
          <p:cNvSpPr/>
          <p:nvPr/>
        </p:nvSpPr>
        <p:spPr>
          <a:xfrm>
            <a:off x="6035040" y="2103120"/>
            <a:ext cx="2633472" cy="182880"/>
          </a:xfrm>
          <a:prstGeom prst="rect">
            <a:avLst/>
          </a:prstGeom>
          <a:noFill/>
          <a:ln/>
        </p:spPr>
        <p:txBody>
          <a:bodyPr wrap="square" lIns="0" tIns="0" rIns="0" bIns="0"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Web of Science veritabanı taraması</a:t>
            </a:r>
            <a:endParaRPr lang="en-US" sz="850" dirty="0"/>
          </a:p>
        </p:txBody>
      </p:sp>
      <p:sp>
        <p:nvSpPr>
          <p:cNvPr id="23" name="Text 21"/>
          <p:cNvSpPr/>
          <p:nvPr/>
        </p:nvSpPr>
        <p:spPr>
          <a:xfrm>
            <a:off x="6035040" y="2304288"/>
            <a:ext cx="2633472" cy="16459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 Emmert-Streib et al., 2020</a:t>
            </a:r>
            <a:endParaRPr lang="en-US" sz="800" dirty="0"/>
          </a:p>
        </p:txBody>
      </p:sp>
      <p:sp>
        <p:nvSpPr>
          <p:cNvPr id="24" name="Text 22"/>
          <p:cNvSpPr/>
          <p:nvPr/>
        </p:nvSpPr>
        <p:spPr>
          <a:xfrm>
            <a:off x="365760" y="2670048"/>
            <a:ext cx="4114800" cy="292608"/>
          </a:xfrm>
          <a:prstGeom prst="rect">
            <a:avLst/>
          </a:prstGeom>
          <a:noFill/>
          <a:ln/>
        </p:spPr>
        <p:txBody>
          <a:bodyPr wrap="square" lIns="0" tIns="0" rIns="0" bIns="0"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Neden Derin Öğrenme?</a:t>
            </a:r>
            <a:endParaRPr lang="en-US" sz="1200" dirty="0"/>
          </a:p>
        </p:txBody>
      </p:sp>
      <p:sp>
        <p:nvSpPr>
          <p:cNvPr id="25" name="Shape 23"/>
          <p:cNvSpPr/>
          <p:nvPr/>
        </p:nvSpPr>
        <p:spPr>
          <a:xfrm>
            <a:off x="365760" y="2999232"/>
            <a:ext cx="4114800" cy="1938528"/>
          </a:xfrm>
          <a:prstGeom prst="rect">
            <a:avLst/>
          </a:prstGeom>
          <a:solidFill>
            <a:srgbClr val="243B55"/>
          </a:solidFill>
          <a:ln w="12700">
            <a:solidFill>
              <a:srgbClr val="0891B2"/>
            </a:solidFill>
            <a:prstDash val="solid"/>
          </a:ln>
        </p:spPr>
        <p:txBody>
          <a:bodyPr/>
          <a:lstStyle/>
          <a:p>
            <a:endParaRPr lang="tr-TR"/>
          </a:p>
        </p:txBody>
      </p:sp>
      <p:sp>
        <p:nvSpPr>
          <p:cNvPr id="26" name="Text 24"/>
          <p:cNvSpPr/>
          <p:nvPr/>
        </p:nvSpPr>
        <p:spPr>
          <a:xfrm>
            <a:off x="502920" y="3063240"/>
            <a:ext cx="3858768" cy="1828800"/>
          </a:xfrm>
          <a:prstGeom prst="rect">
            <a:avLst/>
          </a:prstGeom>
          <a:noFill/>
          <a:ln/>
        </p:spPr>
        <p:txBody>
          <a:bodyPr wrap="square" rtlCol="0" anchor="t"/>
          <a:lstStyle/>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Görüntü tanıma: ImageNet'te %99.79 doğruluk (2017)</a:t>
            </a:r>
            <a:endParaRPr lang="en-US" sz="950" dirty="0"/>
          </a:p>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Konuşma tanıma: İnsan seviyesinde hata oranı (2016)</a:t>
            </a:r>
            <a:endParaRPr lang="en-US" sz="950" dirty="0"/>
          </a:p>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Tıbbi görüntü: Dermatoloji uzmanı seviyesinde tanı</a:t>
            </a:r>
            <a:endParaRPr lang="en-US" sz="950" dirty="0"/>
          </a:p>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Doğal Dil İşleme: GPT serisi dil modelleri</a:t>
            </a:r>
            <a:endParaRPr lang="en-US" sz="950" dirty="0"/>
          </a:p>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Hesaplamalı biyoloji &amp; genomik analiz</a:t>
            </a:r>
            <a:endParaRPr lang="en-US" sz="950" dirty="0"/>
          </a:p>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Otonom araçlar ve robotik sistemler</a:t>
            </a:r>
            <a:endParaRPr lang="en-US" sz="950" dirty="0"/>
          </a:p>
        </p:txBody>
      </p:sp>
      <p:sp>
        <p:nvSpPr>
          <p:cNvPr id="27" name="Text 25"/>
          <p:cNvSpPr/>
          <p:nvPr/>
        </p:nvSpPr>
        <p:spPr>
          <a:xfrm>
            <a:off x="4709160" y="2670048"/>
            <a:ext cx="4114800" cy="292608"/>
          </a:xfrm>
          <a:prstGeom prst="rect">
            <a:avLst/>
          </a:prstGeom>
          <a:noFill/>
          <a:ln/>
        </p:spPr>
        <p:txBody>
          <a:bodyPr wrap="square" lIns="0" tIns="0" rIns="0" bIns="0"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Yayın Dağılımı — Web of Science</a:t>
            </a:r>
            <a:endParaRPr lang="en-US" sz="1200" dirty="0"/>
          </a:p>
        </p:txBody>
      </p:sp>
      <p:sp>
        <p:nvSpPr>
          <p:cNvPr id="28" name="Shape 26"/>
          <p:cNvSpPr/>
          <p:nvPr/>
        </p:nvSpPr>
        <p:spPr>
          <a:xfrm>
            <a:off x="4709160" y="3063240"/>
            <a:ext cx="3566160" cy="274320"/>
          </a:xfrm>
          <a:prstGeom prst="rect">
            <a:avLst/>
          </a:prstGeom>
          <a:solidFill>
            <a:srgbClr val="1B2F4A"/>
          </a:solidFill>
          <a:ln w="12700">
            <a:solidFill>
              <a:srgbClr val="1B2F4A"/>
            </a:solidFill>
            <a:prstDash val="solid"/>
          </a:ln>
        </p:spPr>
        <p:txBody>
          <a:bodyPr/>
          <a:lstStyle/>
          <a:p>
            <a:endParaRPr lang="tr-TR"/>
          </a:p>
        </p:txBody>
      </p:sp>
      <p:sp>
        <p:nvSpPr>
          <p:cNvPr id="29" name="Shape 27"/>
          <p:cNvSpPr/>
          <p:nvPr/>
        </p:nvSpPr>
        <p:spPr>
          <a:xfrm>
            <a:off x="4709160" y="3063240"/>
            <a:ext cx="1857969" cy="274320"/>
          </a:xfrm>
          <a:prstGeom prst="rect">
            <a:avLst/>
          </a:prstGeom>
          <a:solidFill>
            <a:srgbClr val="0891B2"/>
          </a:solidFill>
          <a:ln w="12700">
            <a:solidFill>
              <a:srgbClr val="0891B2"/>
            </a:solidFill>
            <a:prstDash val="solid"/>
          </a:ln>
        </p:spPr>
        <p:txBody>
          <a:bodyPr/>
          <a:lstStyle/>
          <a:p>
            <a:endParaRPr lang="tr-TR"/>
          </a:p>
        </p:txBody>
      </p:sp>
      <p:sp>
        <p:nvSpPr>
          <p:cNvPr id="30" name="Text 28"/>
          <p:cNvSpPr/>
          <p:nvPr/>
        </p:nvSpPr>
        <p:spPr>
          <a:xfrm>
            <a:off x="4736592" y="3063240"/>
            <a:ext cx="3520440" cy="274320"/>
          </a:xfrm>
          <a:prstGeom prst="rect">
            <a:avLst/>
          </a:prstGeom>
          <a:noFill/>
          <a:ln/>
        </p:spPr>
        <p:txBody>
          <a:bodyPr wrap="square" lIns="38100" tIns="38100" rIns="38100" bIns="38100" rtlCol="0" anchor="ctr"/>
          <a:lstStyle/>
          <a:p>
            <a:pPr marL="0" indent="0">
              <a:buNone/>
            </a:pPr>
            <a:r>
              <a:rPr lang="en-US" sz="950" dirty="0">
                <a:solidFill>
                  <a:srgbClr val="FFFFFF"/>
                </a:solidFill>
                <a:latin typeface="Calibri" pitchFamily="34" charset="0"/>
                <a:ea typeface="Calibri" pitchFamily="34" charset="-122"/>
                <a:cs typeface="Calibri" pitchFamily="34" charset="-120"/>
              </a:rPr>
              <a:t>Bilgisayar Bilimi  52.1%</a:t>
            </a:r>
            <a:endParaRPr lang="en-US" sz="950" dirty="0"/>
          </a:p>
        </p:txBody>
      </p:sp>
      <p:sp>
        <p:nvSpPr>
          <p:cNvPr id="31" name="Shape 29"/>
          <p:cNvSpPr/>
          <p:nvPr/>
        </p:nvSpPr>
        <p:spPr>
          <a:xfrm>
            <a:off x="4709160" y="3447288"/>
            <a:ext cx="3566160" cy="274320"/>
          </a:xfrm>
          <a:prstGeom prst="rect">
            <a:avLst/>
          </a:prstGeom>
          <a:solidFill>
            <a:srgbClr val="1B2F4A"/>
          </a:solidFill>
          <a:ln w="12700">
            <a:solidFill>
              <a:srgbClr val="1B2F4A"/>
            </a:solidFill>
            <a:prstDash val="solid"/>
          </a:ln>
        </p:spPr>
        <p:txBody>
          <a:bodyPr/>
          <a:lstStyle/>
          <a:p>
            <a:endParaRPr lang="tr-TR"/>
          </a:p>
        </p:txBody>
      </p:sp>
      <p:sp>
        <p:nvSpPr>
          <p:cNvPr id="32" name="Shape 30"/>
          <p:cNvSpPr/>
          <p:nvPr/>
        </p:nvSpPr>
        <p:spPr>
          <a:xfrm>
            <a:off x="4709160" y="3447288"/>
            <a:ext cx="1479956" cy="274320"/>
          </a:xfrm>
          <a:prstGeom prst="rect">
            <a:avLst/>
          </a:prstGeom>
          <a:solidFill>
            <a:srgbClr val="7C3AED"/>
          </a:solidFill>
          <a:ln w="12700">
            <a:solidFill>
              <a:srgbClr val="7C3AED"/>
            </a:solidFill>
            <a:prstDash val="solid"/>
          </a:ln>
        </p:spPr>
        <p:txBody>
          <a:bodyPr/>
          <a:lstStyle/>
          <a:p>
            <a:endParaRPr lang="tr-TR"/>
          </a:p>
        </p:txBody>
      </p:sp>
      <p:sp>
        <p:nvSpPr>
          <p:cNvPr id="33" name="Text 31"/>
          <p:cNvSpPr/>
          <p:nvPr/>
        </p:nvSpPr>
        <p:spPr>
          <a:xfrm>
            <a:off x="4736592" y="3447288"/>
            <a:ext cx="3520440" cy="274320"/>
          </a:xfrm>
          <a:prstGeom prst="rect">
            <a:avLst/>
          </a:prstGeom>
          <a:noFill/>
          <a:ln/>
        </p:spPr>
        <p:txBody>
          <a:bodyPr wrap="square" lIns="38100" tIns="38100" rIns="38100" bIns="38100" rtlCol="0" anchor="ctr"/>
          <a:lstStyle/>
          <a:p>
            <a:pPr marL="0" indent="0">
              <a:buNone/>
            </a:pPr>
            <a:r>
              <a:rPr lang="en-US" sz="950" dirty="0">
                <a:solidFill>
                  <a:srgbClr val="FFFFFF"/>
                </a:solidFill>
                <a:latin typeface="Calibri" pitchFamily="34" charset="0"/>
                <a:ea typeface="Calibri" pitchFamily="34" charset="-122"/>
                <a:cs typeface="Calibri" pitchFamily="34" charset="-120"/>
              </a:rPr>
              <a:t>Mühendislik  41.5%</a:t>
            </a:r>
            <a:endParaRPr lang="en-US" sz="950" dirty="0"/>
          </a:p>
        </p:txBody>
      </p:sp>
      <p:sp>
        <p:nvSpPr>
          <p:cNvPr id="34" name="Shape 32"/>
          <p:cNvSpPr/>
          <p:nvPr/>
        </p:nvSpPr>
        <p:spPr>
          <a:xfrm>
            <a:off x="4709160" y="3831336"/>
            <a:ext cx="3566160" cy="274320"/>
          </a:xfrm>
          <a:prstGeom prst="rect">
            <a:avLst/>
          </a:prstGeom>
          <a:solidFill>
            <a:srgbClr val="1B2F4A"/>
          </a:solidFill>
          <a:ln w="12700">
            <a:solidFill>
              <a:srgbClr val="1B2F4A"/>
            </a:solidFill>
            <a:prstDash val="solid"/>
          </a:ln>
        </p:spPr>
        <p:txBody>
          <a:bodyPr/>
          <a:lstStyle/>
          <a:p>
            <a:endParaRPr lang="tr-TR"/>
          </a:p>
        </p:txBody>
      </p:sp>
      <p:sp>
        <p:nvSpPr>
          <p:cNvPr id="35" name="Shape 33"/>
          <p:cNvSpPr/>
          <p:nvPr/>
        </p:nvSpPr>
        <p:spPr>
          <a:xfrm>
            <a:off x="4709160" y="3831336"/>
            <a:ext cx="221102" cy="274320"/>
          </a:xfrm>
          <a:prstGeom prst="rect">
            <a:avLst/>
          </a:prstGeom>
          <a:solidFill>
            <a:srgbClr val="059669"/>
          </a:solidFill>
          <a:ln w="12700">
            <a:solidFill>
              <a:srgbClr val="059669"/>
            </a:solidFill>
            <a:prstDash val="solid"/>
          </a:ln>
        </p:spPr>
        <p:txBody>
          <a:bodyPr/>
          <a:lstStyle/>
          <a:p>
            <a:endParaRPr lang="tr-TR"/>
          </a:p>
        </p:txBody>
      </p:sp>
      <p:sp>
        <p:nvSpPr>
          <p:cNvPr id="36" name="Text 34"/>
          <p:cNvSpPr/>
          <p:nvPr/>
        </p:nvSpPr>
        <p:spPr>
          <a:xfrm>
            <a:off x="4736592" y="3831336"/>
            <a:ext cx="3520440" cy="274320"/>
          </a:xfrm>
          <a:prstGeom prst="rect">
            <a:avLst/>
          </a:prstGeom>
          <a:noFill/>
          <a:ln/>
        </p:spPr>
        <p:txBody>
          <a:bodyPr wrap="square" lIns="38100" tIns="38100" rIns="38100" bIns="38100" rtlCol="0" anchor="ctr"/>
          <a:lstStyle/>
          <a:p>
            <a:pPr marL="0" indent="0">
              <a:buNone/>
            </a:pPr>
            <a:r>
              <a:rPr lang="en-US" sz="950" dirty="0">
                <a:solidFill>
                  <a:srgbClr val="FFFFFF"/>
                </a:solidFill>
                <a:latin typeface="Calibri" pitchFamily="34" charset="0"/>
                <a:ea typeface="Calibri" pitchFamily="34" charset="-122"/>
                <a:cs typeface="Calibri" pitchFamily="34" charset="-120"/>
              </a:rPr>
              <a:t>Tıbbi Görüntüleme  6.2%</a:t>
            </a:r>
            <a:endParaRPr lang="en-US" sz="950" dirty="0"/>
          </a:p>
        </p:txBody>
      </p:sp>
      <p:sp>
        <p:nvSpPr>
          <p:cNvPr id="37" name="Shape 35"/>
          <p:cNvSpPr/>
          <p:nvPr/>
        </p:nvSpPr>
        <p:spPr>
          <a:xfrm>
            <a:off x="4709160" y="4215384"/>
            <a:ext cx="3566160" cy="274320"/>
          </a:xfrm>
          <a:prstGeom prst="rect">
            <a:avLst/>
          </a:prstGeom>
          <a:solidFill>
            <a:srgbClr val="1B2F4A"/>
          </a:solidFill>
          <a:ln w="12700">
            <a:solidFill>
              <a:srgbClr val="1B2F4A"/>
            </a:solidFill>
            <a:prstDash val="solid"/>
          </a:ln>
        </p:spPr>
        <p:txBody>
          <a:bodyPr/>
          <a:lstStyle/>
          <a:p>
            <a:endParaRPr lang="tr-TR"/>
          </a:p>
        </p:txBody>
      </p:sp>
      <p:sp>
        <p:nvSpPr>
          <p:cNvPr id="38" name="Shape 36"/>
          <p:cNvSpPr/>
          <p:nvPr/>
        </p:nvSpPr>
        <p:spPr>
          <a:xfrm>
            <a:off x="4709160" y="4215384"/>
            <a:ext cx="92720" cy="274320"/>
          </a:xfrm>
          <a:prstGeom prst="rect">
            <a:avLst/>
          </a:prstGeom>
          <a:solidFill>
            <a:srgbClr val="F59E0B"/>
          </a:solidFill>
          <a:ln w="12700">
            <a:solidFill>
              <a:srgbClr val="F59E0B"/>
            </a:solidFill>
            <a:prstDash val="solid"/>
          </a:ln>
        </p:spPr>
        <p:txBody>
          <a:bodyPr/>
          <a:lstStyle/>
          <a:p>
            <a:endParaRPr lang="tr-TR"/>
          </a:p>
        </p:txBody>
      </p:sp>
      <p:sp>
        <p:nvSpPr>
          <p:cNvPr id="39" name="Text 37"/>
          <p:cNvSpPr/>
          <p:nvPr/>
        </p:nvSpPr>
        <p:spPr>
          <a:xfrm>
            <a:off x="4736592" y="4215384"/>
            <a:ext cx="3520440" cy="274320"/>
          </a:xfrm>
          <a:prstGeom prst="rect">
            <a:avLst/>
          </a:prstGeom>
          <a:noFill/>
          <a:ln/>
        </p:spPr>
        <p:txBody>
          <a:bodyPr wrap="square" lIns="38100" tIns="38100" rIns="38100" bIns="38100" rtlCol="0" anchor="ctr"/>
          <a:lstStyle/>
          <a:p>
            <a:pPr marL="0" indent="0">
              <a:buNone/>
            </a:pPr>
            <a:r>
              <a:rPr lang="en-US" sz="950" dirty="0">
                <a:solidFill>
                  <a:srgbClr val="FFFFFF"/>
                </a:solidFill>
                <a:latin typeface="Calibri" pitchFamily="34" charset="0"/>
                <a:ea typeface="Calibri" pitchFamily="34" charset="-122"/>
                <a:cs typeface="Calibri" pitchFamily="34" charset="-120"/>
              </a:rPr>
              <a:t>Robotik  2.6%</a:t>
            </a:r>
            <a:endParaRPr lang="en-US" sz="950" dirty="0"/>
          </a:p>
        </p:txBody>
      </p:sp>
      <p:sp>
        <p:nvSpPr>
          <p:cNvPr id="40" name="Shape 38"/>
          <p:cNvSpPr/>
          <p:nvPr/>
        </p:nvSpPr>
        <p:spPr>
          <a:xfrm>
            <a:off x="4709160" y="4599432"/>
            <a:ext cx="3566160" cy="274320"/>
          </a:xfrm>
          <a:prstGeom prst="rect">
            <a:avLst/>
          </a:prstGeom>
          <a:solidFill>
            <a:srgbClr val="1B2F4A"/>
          </a:solidFill>
          <a:ln w="12700">
            <a:solidFill>
              <a:srgbClr val="1B2F4A"/>
            </a:solidFill>
            <a:prstDash val="solid"/>
          </a:ln>
        </p:spPr>
        <p:txBody>
          <a:bodyPr/>
          <a:lstStyle/>
          <a:p>
            <a:endParaRPr lang="tr-TR"/>
          </a:p>
        </p:txBody>
      </p:sp>
      <p:sp>
        <p:nvSpPr>
          <p:cNvPr id="41" name="Shape 39"/>
          <p:cNvSpPr/>
          <p:nvPr/>
        </p:nvSpPr>
        <p:spPr>
          <a:xfrm>
            <a:off x="4709160" y="4599432"/>
            <a:ext cx="89154" cy="274320"/>
          </a:xfrm>
          <a:prstGeom prst="rect">
            <a:avLst/>
          </a:prstGeom>
          <a:solidFill>
            <a:srgbClr val="EF4444"/>
          </a:solidFill>
          <a:ln w="12700">
            <a:solidFill>
              <a:srgbClr val="EF4444"/>
            </a:solidFill>
            <a:prstDash val="solid"/>
          </a:ln>
        </p:spPr>
        <p:txBody>
          <a:bodyPr/>
          <a:lstStyle/>
          <a:p>
            <a:endParaRPr lang="tr-TR"/>
          </a:p>
        </p:txBody>
      </p:sp>
      <p:sp>
        <p:nvSpPr>
          <p:cNvPr id="42" name="Text 40"/>
          <p:cNvSpPr/>
          <p:nvPr/>
        </p:nvSpPr>
        <p:spPr>
          <a:xfrm>
            <a:off x="4736592" y="4599432"/>
            <a:ext cx="3520440" cy="274320"/>
          </a:xfrm>
          <a:prstGeom prst="rect">
            <a:avLst/>
          </a:prstGeom>
          <a:noFill/>
          <a:ln/>
        </p:spPr>
        <p:txBody>
          <a:bodyPr wrap="square" lIns="38100" tIns="38100" rIns="38100" bIns="38100" rtlCol="0" anchor="ctr"/>
          <a:lstStyle/>
          <a:p>
            <a:pPr marL="0" indent="0">
              <a:buNone/>
            </a:pPr>
            <a:r>
              <a:rPr lang="en-US" sz="950" dirty="0">
                <a:solidFill>
                  <a:srgbClr val="FFFFFF"/>
                </a:solidFill>
                <a:latin typeface="Calibri" pitchFamily="34" charset="0"/>
                <a:ea typeface="Calibri" pitchFamily="34" charset="-122"/>
                <a:cs typeface="Calibri" pitchFamily="34" charset="-120"/>
              </a:rPr>
              <a:t>Hesaplamalı Biyoloji  2.5%</a:t>
            </a:r>
            <a:endParaRPr lang="en-US" sz="950" dirty="0"/>
          </a:p>
        </p:txBody>
      </p:sp>
      <p:sp>
        <p:nvSpPr>
          <p:cNvPr id="43" name="Text 41"/>
          <p:cNvSpPr/>
          <p:nvPr/>
        </p:nvSpPr>
        <p:spPr>
          <a:xfrm>
            <a:off x="4709160" y="5029200"/>
            <a:ext cx="4114800" cy="347472"/>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Toplam: 30,230 makale analiz edildi</a:t>
            </a:r>
            <a:endParaRPr lang="en-US" sz="850" dirty="0"/>
          </a:p>
          <a:p>
            <a:pPr marL="0" indent="0">
              <a:buNone/>
            </a:pPr>
            <a:r>
              <a:rPr lang="en-US" sz="850" i="1" dirty="0">
                <a:solidFill>
                  <a:srgbClr val="94A3B8"/>
                </a:solidFill>
                <a:latin typeface="Calibri" pitchFamily="34" charset="0"/>
                <a:ea typeface="Calibri" pitchFamily="34" charset="-122"/>
                <a:cs typeface="Calibri" pitchFamily="34" charset="-120"/>
              </a:rPr>
              <a:t>Kaynak: Emmert-Streib et al. (2020), Frontiers in AI</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Yapay Sinir Ağlarının Tarihsel Gelişimi (1943–2019)</a:t>
            </a:r>
            <a:endParaRPr lang="en-US" sz="2600" dirty="0"/>
          </a:p>
        </p:txBody>
      </p:sp>
      <p:sp>
        <p:nvSpPr>
          <p:cNvPr id="3" name="Shape 1"/>
          <p:cNvSpPr/>
          <p:nvPr/>
        </p:nvSpPr>
        <p:spPr>
          <a:xfrm>
            <a:off x="365760" y="1024128"/>
            <a:ext cx="1828800" cy="45720"/>
          </a:xfrm>
          <a:prstGeom prst="rect">
            <a:avLst/>
          </a:prstGeom>
          <a:solidFill>
            <a:srgbClr val="0891B2"/>
          </a:solidFill>
          <a:ln w="12700">
            <a:solidFill>
              <a:srgbClr val="0891B2"/>
            </a:solidFill>
            <a:prstDash val="solid"/>
          </a:ln>
        </p:spPr>
        <p:txBody>
          <a:bodyPr/>
          <a:lstStyle/>
          <a:p>
            <a:endParaRPr lang="tr-TR"/>
          </a:p>
        </p:txBody>
      </p:sp>
      <p:sp>
        <p:nvSpPr>
          <p:cNvPr id="4" name="Shape 2"/>
          <p:cNvSpPr/>
          <p:nvPr/>
        </p:nvSpPr>
        <p:spPr>
          <a:xfrm>
            <a:off x="1719072" y="1078992"/>
            <a:ext cx="54864" cy="3886200"/>
          </a:xfrm>
          <a:prstGeom prst="rect">
            <a:avLst/>
          </a:prstGeom>
          <a:solidFill>
            <a:srgbClr val="0891B2"/>
          </a:solidFill>
          <a:ln w="12700">
            <a:solidFill>
              <a:srgbClr val="0891B2"/>
            </a:solidFill>
            <a:prstDash val="solid"/>
          </a:ln>
        </p:spPr>
        <p:txBody>
          <a:bodyPr/>
          <a:lstStyle/>
          <a:p>
            <a:endParaRPr lang="tr-TR"/>
          </a:p>
        </p:txBody>
      </p:sp>
      <p:sp>
        <p:nvSpPr>
          <p:cNvPr id="5" name="Shape 3"/>
          <p:cNvSpPr/>
          <p:nvPr/>
        </p:nvSpPr>
        <p:spPr>
          <a:xfrm>
            <a:off x="1627632" y="1243584"/>
            <a:ext cx="237744" cy="237744"/>
          </a:xfrm>
          <a:prstGeom prst="ellipse">
            <a:avLst/>
          </a:prstGeom>
          <a:solidFill>
            <a:srgbClr val="7C3AED"/>
          </a:solidFill>
          <a:ln w="12700">
            <a:solidFill>
              <a:srgbClr val="FFFFFF"/>
            </a:solidFill>
            <a:prstDash val="solid"/>
          </a:ln>
        </p:spPr>
        <p:txBody>
          <a:bodyPr/>
          <a:lstStyle/>
          <a:p>
            <a:endParaRPr lang="tr-TR"/>
          </a:p>
        </p:txBody>
      </p:sp>
      <p:sp>
        <p:nvSpPr>
          <p:cNvPr id="6" name="Shape 4"/>
          <p:cNvSpPr/>
          <p:nvPr/>
        </p:nvSpPr>
        <p:spPr>
          <a:xfrm>
            <a:off x="320040" y="1115568"/>
            <a:ext cx="640080" cy="256032"/>
          </a:xfrm>
          <a:prstGeom prst="rect">
            <a:avLst/>
          </a:prstGeom>
          <a:solidFill>
            <a:srgbClr val="7C3AED"/>
          </a:solidFill>
          <a:ln w="12700">
            <a:solidFill>
              <a:srgbClr val="7C3AED"/>
            </a:solidFill>
            <a:prstDash val="solid"/>
          </a:ln>
        </p:spPr>
        <p:txBody>
          <a:bodyPr/>
          <a:lstStyle/>
          <a:p>
            <a:endParaRPr lang="tr-TR"/>
          </a:p>
        </p:txBody>
      </p:sp>
      <p:sp>
        <p:nvSpPr>
          <p:cNvPr id="7" name="Text 5"/>
          <p:cNvSpPr/>
          <p:nvPr/>
        </p:nvSpPr>
        <p:spPr>
          <a:xfrm>
            <a:off x="320040" y="1115568"/>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1943</a:t>
            </a:r>
            <a:endParaRPr lang="en-US" sz="900" dirty="0"/>
          </a:p>
        </p:txBody>
      </p:sp>
      <p:sp>
        <p:nvSpPr>
          <p:cNvPr id="8" name="Text 6"/>
          <p:cNvSpPr/>
          <p:nvPr/>
        </p:nvSpPr>
        <p:spPr>
          <a:xfrm>
            <a:off x="320040" y="1389888"/>
            <a:ext cx="4114800" cy="43891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McCulloch-Pitts: İlk matematiksel nöron modeli. Biyolojik nöronu basit boolean mantıkla modellediler. Öğrenme yoktu.</a:t>
            </a:r>
            <a:endParaRPr lang="en-US" sz="900" dirty="0"/>
          </a:p>
        </p:txBody>
      </p:sp>
      <p:sp>
        <p:nvSpPr>
          <p:cNvPr id="9" name="Shape 7"/>
          <p:cNvSpPr/>
          <p:nvPr/>
        </p:nvSpPr>
        <p:spPr>
          <a:xfrm>
            <a:off x="1627632" y="2011680"/>
            <a:ext cx="237744" cy="237744"/>
          </a:xfrm>
          <a:prstGeom prst="ellipse">
            <a:avLst/>
          </a:prstGeom>
          <a:solidFill>
            <a:srgbClr val="0891B2"/>
          </a:solidFill>
          <a:ln w="12700">
            <a:solidFill>
              <a:srgbClr val="FFFFFF"/>
            </a:solidFill>
            <a:prstDash val="solid"/>
          </a:ln>
        </p:spPr>
        <p:txBody>
          <a:bodyPr/>
          <a:lstStyle/>
          <a:p>
            <a:endParaRPr lang="tr-TR"/>
          </a:p>
        </p:txBody>
      </p:sp>
      <p:sp>
        <p:nvSpPr>
          <p:cNvPr id="10" name="Shape 8"/>
          <p:cNvSpPr/>
          <p:nvPr/>
        </p:nvSpPr>
        <p:spPr>
          <a:xfrm>
            <a:off x="320040" y="1883664"/>
            <a:ext cx="640080" cy="256032"/>
          </a:xfrm>
          <a:prstGeom prst="rect">
            <a:avLst/>
          </a:prstGeom>
          <a:solidFill>
            <a:srgbClr val="0891B2"/>
          </a:solidFill>
          <a:ln w="12700">
            <a:solidFill>
              <a:srgbClr val="0891B2"/>
            </a:solidFill>
            <a:prstDash val="solid"/>
          </a:ln>
        </p:spPr>
        <p:txBody>
          <a:bodyPr/>
          <a:lstStyle/>
          <a:p>
            <a:endParaRPr lang="tr-TR"/>
          </a:p>
        </p:txBody>
      </p:sp>
      <p:sp>
        <p:nvSpPr>
          <p:cNvPr id="11" name="Text 9"/>
          <p:cNvSpPr/>
          <p:nvPr/>
        </p:nvSpPr>
        <p:spPr>
          <a:xfrm>
            <a:off x="320040" y="1883664"/>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1957</a:t>
            </a:r>
            <a:endParaRPr lang="en-US" sz="900" dirty="0"/>
          </a:p>
        </p:txBody>
      </p:sp>
      <p:sp>
        <p:nvSpPr>
          <p:cNvPr id="12" name="Text 10"/>
          <p:cNvSpPr/>
          <p:nvPr/>
        </p:nvSpPr>
        <p:spPr>
          <a:xfrm>
            <a:off x="320040" y="2157984"/>
            <a:ext cx="4114800" cy="43891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Rosenblatt: Perceptron algoritması. Doğrusal ikili sınıflandırıcı. Heaviside aktivasyon fonksiyonu kullandı.</a:t>
            </a:r>
            <a:endParaRPr lang="en-US" sz="900" dirty="0"/>
          </a:p>
        </p:txBody>
      </p:sp>
      <p:sp>
        <p:nvSpPr>
          <p:cNvPr id="13" name="Shape 11"/>
          <p:cNvSpPr/>
          <p:nvPr/>
        </p:nvSpPr>
        <p:spPr>
          <a:xfrm>
            <a:off x="1627632" y="2779776"/>
            <a:ext cx="237744" cy="237744"/>
          </a:xfrm>
          <a:prstGeom prst="ellipse">
            <a:avLst/>
          </a:prstGeom>
          <a:solidFill>
            <a:srgbClr val="EF4444"/>
          </a:solidFill>
          <a:ln w="12700">
            <a:solidFill>
              <a:srgbClr val="FFFFFF"/>
            </a:solidFill>
            <a:prstDash val="solid"/>
          </a:ln>
        </p:spPr>
        <p:txBody>
          <a:bodyPr/>
          <a:lstStyle/>
          <a:p>
            <a:endParaRPr lang="tr-TR"/>
          </a:p>
        </p:txBody>
      </p:sp>
      <p:sp>
        <p:nvSpPr>
          <p:cNvPr id="14" name="Shape 12"/>
          <p:cNvSpPr/>
          <p:nvPr/>
        </p:nvSpPr>
        <p:spPr>
          <a:xfrm>
            <a:off x="320040" y="2651760"/>
            <a:ext cx="640080" cy="256032"/>
          </a:xfrm>
          <a:prstGeom prst="rect">
            <a:avLst/>
          </a:prstGeom>
          <a:solidFill>
            <a:srgbClr val="EF4444"/>
          </a:solidFill>
          <a:ln w="12700">
            <a:solidFill>
              <a:srgbClr val="EF4444"/>
            </a:solidFill>
            <a:prstDash val="solid"/>
          </a:ln>
        </p:spPr>
        <p:txBody>
          <a:bodyPr/>
          <a:lstStyle/>
          <a:p>
            <a:endParaRPr lang="tr-TR"/>
          </a:p>
        </p:txBody>
      </p:sp>
      <p:sp>
        <p:nvSpPr>
          <p:cNvPr id="15" name="Text 13"/>
          <p:cNvSpPr/>
          <p:nvPr/>
        </p:nvSpPr>
        <p:spPr>
          <a:xfrm>
            <a:off x="320040" y="265176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1969</a:t>
            </a:r>
            <a:endParaRPr lang="en-US" sz="900" dirty="0"/>
          </a:p>
        </p:txBody>
      </p:sp>
      <p:sp>
        <p:nvSpPr>
          <p:cNvPr id="16" name="Text 14"/>
          <p:cNvSpPr/>
          <p:nvPr/>
        </p:nvSpPr>
        <p:spPr>
          <a:xfrm>
            <a:off x="320040" y="2926080"/>
            <a:ext cx="4114800" cy="43891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Minsky &amp; Papert: Perceptron'un XOR problemini çözemediğini kanıtladı → 'Yapay Zeka Kışı' başladı.</a:t>
            </a:r>
            <a:endParaRPr lang="en-US" sz="900" dirty="0"/>
          </a:p>
        </p:txBody>
      </p:sp>
      <p:sp>
        <p:nvSpPr>
          <p:cNvPr id="17" name="Shape 15"/>
          <p:cNvSpPr/>
          <p:nvPr/>
        </p:nvSpPr>
        <p:spPr>
          <a:xfrm>
            <a:off x="1627632" y="3547872"/>
            <a:ext cx="237744" cy="237744"/>
          </a:xfrm>
          <a:prstGeom prst="ellipse">
            <a:avLst/>
          </a:prstGeom>
          <a:solidFill>
            <a:srgbClr val="D97706"/>
          </a:solidFill>
          <a:ln w="12700">
            <a:solidFill>
              <a:srgbClr val="FFFFFF"/>
            </a:solidFill>
            <a:prstDash val="solid"/>
          </a:ln>
        </p:spPr>
        <p:txBody>
          <a:bodyPr/>
          <a:lstStyle/>
          <a:p>
            <a:endParaRPr lang="tr-TR"/>
          </a:p>
        </p:txBody>
      </p:sp>
      <p:sp>
        <p:nvSpPr>
          <p:cNvPr id="18" name="Shape 16"/>
          <p:cNvSpPr/>
          <p:nvPr/>
        </p:nvSpPr>
        <p:spPr>
          <a:xfrm>
            <a:off x="320040" y="3419856"/>
            <a:ext cx="640080" cy="256032"/>
          </a:xfrm>
          <a:prstGeom prst="rect">
            <a:avLst/>
          </a:prstGeom>
          <a:solidFill>
            <a:srgbClr val="D97706"/>
          </a:solidFill>
          <a:ln w="12700">
            <a:solidFill>
              <a:srgbClr val="D97706"/>
            </a:solidFill>
            <a:prstDash val="solid"/>
          </a:ln>
        </p:spPr>
        <p:txBody>
          <a:bodyPr/>
          <a:lstStyle/>
          <a:p>
            <a:endParaRPr lang="tr-TR"/>
          </a:p>
        </p:txBody>
      </p:sp>
      <p:sp>
        <p:nvSpPr>
          <p:cNvPr id="19" name="Text 17"/>
          <p:cNvSpPr/>
          <p:nvPr/>
        </p:nvSpPr>
        <p:spPr>
          <a:xfrm>
            <a:off x="320040" y="3419856"/>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1980</a:t>
            </a:r>
            <a:endParaRPr lang="en-US" sz="900" dirty="0"/>
          </a:p>
        </p:txBody>
      </p:sp>
      <p:sp>
        <p:nvSpPr>
          <p:cNvPr id="20" name="Text 18"/>
          <p:cNvSpPr/>
          <p:nvPr/>
        </p:nvSpPr>
        <p:spPr>
          <a:xfrm>
            <a:off x="320040" y="3694176"/>
            <a:ext cx="4114800" cy="43891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Fukushima: Neocognitron — ilk derin CNN öncüsü. Görsel örüntü tanıma için hiyerarşik yapı.</a:t>
            </a:r>
            <a:endParaRPr lang="en-US" sz="900" dirty="0"/>
          </a:p>
        </p:txBody>
      </p:sp>
      <p:sp>
        <p:nvSpPr>
          <p:cNvPr id="21" name="Shape 19"/>
          <p:cNvSpPr/>
          <p:nvPr/>
        </p:nvSpPr>
        <p:spPr>
          <a:xfrm>
            <a:off x="1627632" y="4315968"/>
            <a:ext cx="237744" cy="237744"/>
          </a:xfrm>
          <a:prstGeom prst="ellipse">
            <a:avLst/>
          </a:prstGeom>
          <a:solidFill>
            <a:srgbClr val="059669"/>
          </a:solidFill>
          <a:ln w="12700">
            <a:solidFill>
              <a:srgbClr val="FFFFFF"/>
            </a:solidFill>
            <a:prstDash val="solid"/>
          </a:ln>
        </p:spPr>
        <p:txBody>
          <a:bodyPr/>
          <a:lstStyle/>
          <a:p>
            <a:endParaRPr lang="tr-TR"/>
          </a:p>
        </p:txBody>
      </p:sp>
      <p:sp>
        <p:nvSpPr>
          <p:cNvPr id="22" name="Shape 20"/>
          <p:cNvSpPr/>
          <p:nvPr/>
        </p:nvSpPr>
        <p:spPr>
          <a:xfrm>
            <a:off x="320040" y="4187952"/>
            <a:ext cx="640080" cy="256032"/>
          </a:xfrm>
          <a:prstGeom prst="rect">
            <a:avLst/>
          </a:prstGeom>
          <a:solidFill>
            <a:srgbClr val="059669"/>
          </a:solidFill>
          <a:ln w="12700">
            <a:solidFill>
              <a:srgbClr val="059669"/>
            </a:solidFill>
            <a:prstDash val="solid"/>
          </a:ln>
        </p:spPr>
        <p:txBody>
          <a:bodyPr/>
          <a:lstStyle/>
          <a:p>
            <a:endParaRPr lang="tr-TR"/>
          </a:p>
        </p:txBody>
      </p:sp>
      <p:sp>
        <p:nvSpPr>
          <p:cNvPr id="23" name="Text 21"/>
          <p:cNvSpPr/>
          <p:nvPr/>
        </p:nvSpPr>
        <p:spPr>
          <a:xfrm>
            <a:off x="320040" y="4187952"/>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1986</a:t>
            </a:r>
            <a:endParaRPr lang="en-US" sz="900" dirty="0"/>
          </a:p>
        </p:txBody>
      </p:sp>
      <p:sp>
        <p:nvSpPr>
          <p:cNvPr id="24" name="Text 22"/>
          <p:cNvSpPr/>
          <p:nvPr/>
        </p:nvSpPr>
        <p:spPr>
          <a:xfrm>
            <a:off x="320040" y="4462272"/>
            <a:ext cx="4114800" cy="43891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Rumelhart, Hinton, Williams: Geri yayılım (Backpropagation) yeniden tanıtıldı. Çok katmanlı ağların pratik eğitimi mümkün hale geldi.</a:t>
            </a:r>
            <a:endParaRPr lang="en-US" sz="900" dirty="0"/>
          </a:p>
        </p:txBody>
      </p:sp>
      <p:sp>
        <p:nvSpPr>
          <p:cNvPr id="25" name="Shape 23"/>
          <p:cNvSpPr/>
          <p:nvPr/>
        </p:nvSpPr>
        <p:spPr>
          <a:xfrm>
            <a:off x="5376672" y="1243584"/>
            <a:ext cx="237744" cy="237744"/>
          </a:xfrm>
          <a:prstGeom prst="ellipse">
            <a:avLst/>
          </a:prstGeom>
          <a:solidFill>
            <a:srgbClr val="7C3AED"/>
          </a:solidFill>
          <a:ln w="12700">
            <a:solidFill>
              <a:srgbClr val="FFFFFF"/>
            </a:solidFill>
            <a:prstDash val="solid"/>
          </a:ln>
        </p:spPr>
        <p:txBody>
          <a:bodyPr/>
          <a:lstStyle/>
          <a:p>
            <a:endParaRPr lang="tr-TR"/>
          </a:p>
        </p:txBody>
      </p:sp>
      <p:sp>
        <p:nvSpPr>
          <p:cNvPr id="26" name="Shape 24"/>
          <p:cNvSpPr/>
          <p:nvPr/>
        </p:nvSpPr>
        <p:spPr>
          <a:xfrm>
            <a:off x="4800600" y="1115568"/>
            <a:ext cx="640080" cy="256032"/>
          </a:xfrm>
          <a:prstGeom prst="rect">
            <a:avLst/>
          </a:prstGeom>
          <a:solidFill>
            <a:srgbClr val="7C3AED"/>
          </a:solidFill>
          <a:ln w="12700">
            <a:solidFill>
              <a:srgbClr val="7C3AED"/>
            </a:solidFill>
            <a:prstDash val="solid"/>
          </a:ln>
        </p:spPr>
        <p:txBody>
          <a:bodyPr/>
          <a:lstStyle/>
          <a:p>
            <a:endParaRPr lang="tr-TR"/>
          </a:p>
        </p:txBody>
      </p:sp>
      <p:sp>
        <p:nvSpPr>
          <p:cNvPr id="27" name="Text 25"/>
          <p:cNvSpPr/>
          <p:nvPr/>
        </p:nvSpPr>
        <p:spPr>
          <a:xfrm>
            <a:off x="4800600" y="1115568"/>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1997</a:t>
            </a:r>
            <a:endParaRPr lang="en-US" sz="900" dirty="0"/>
          </a:p>
        </p:txBody>
      </p:sp>
      <p:sp>
        <p:nvSpPr>
          <p:cNvPr id="28" name="Text 26"/>
          <p:cNvSpPr/>
          <p:nvPr/>
        </p:nvSpPr>
        <p:spPr>
          <a:xfrm>
            <a:off x="4800600" y="1389888"/>
            <a:ext cx="4114800" cy="43891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Hochreiter &amp; Schmidhuber: LSTM yayınlandı. Kaybolan gradyan problemini çözdü. Uzun bağımlılıkları öğrenebildi.</a:t>
            </a:r>
            <a:endParaRPr lang="en-US" sz="900" dirty="0"/>
          </a:p>
        </p:txBody>
      </p:sp>
      <p:sp>
        <p:nvSpPr>
          <p:cNvPr id="29" name="Shape 27"/>
          <p:cNvSpPr/>
          <p:nvPr/>
        </p:nvSpPr>
        <p:spPr>
          <a:xfrm>
            <a:off x="5376672" y="2011680"/>
            <a:ext cx="237744" cy="237744"/>
          </a:xfrm>
          <a:prstGeom prst="ellipse">
            <a:avLst/>
          </a:prstGeom>
          <a:solidFill>
            <a:srgbClr val="0891B2"/>
          </a:solidFill>
          <a:ln w="12700">
            <a:solidFill>
              <a:srgbClr val="FFFFFF"/>
            </a:solidFill>
            <a:prstDash val="solid"/>
          </a:ln>
        </p:spPr>
        <p:txBody>
          <a:bodyPr/>
          <a:lstStyle/>
          <a:p>
            <a:endParaRPr lang="tr-TR"/>
          </a:p>
        </p:txBody>
      </p:sp>
      <p:sp>
        <p:nvSpPr>
          <p:cNvPr id="30" name="Shape 28"/>
          <p:cNvSpPr/>
          <p:nvPr/>
        </p:nvSpPr>
        <p:spPr>
          <a:xfrm>
            <a:off x="4800600" y="1883664"/>
            <a:ext cx="640080" cy="256032"/>
          </a:xfrm>
          <a:prstGeom prst="rect">
            <a:avLst/>
          </a:prstGeom>
          <a:solidFill>
            <a:srgbClr val="0891B2"/>
          </a:solidFill>
          <a:ln w="12700">
            <a:solidFill>
              <a:srgbClr val="0891B2"/>
            </a:solidFill>
            <a:prstDash val="solid"/>
          </a:ln>
        </p:spPr>
        <p:txBody>
          <a:bodyPr/>
          <a:lstStyle/>
          <a:p>
            <a:endParaRPr lang="tr-TR"/>
          </a:p>
        </p:txBody>
      </p:sp>
      <p:sp>
        <p:nvSpPr>
          <p:cNvPr id="31" name="Text 29"/>
          <p:cNvSpPr/>
          <p:nvPr/>
        </p:nvSpPr>
        <p:spPr>
          <a:xfrm>
            <a:off x="4800600" y="1883664"/>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2006</a:t>
            </a:r>
            <a:endParaRPr lang="en-US" sz="900" dirty="0"/>
          </a:p>
        </p:txBody>
      </p:sp>
      <p:sp>
        <p:nvSpPr>
          <p:cNvPr id="32" name="Text 30"/>
          <p:cNvSpPr/>
          <p:nvPr/>
        </p:nvSpPr>
        <p:spPr>
          <a:xfrm>
            <a:off x="4800600" y="2157984"/>
            <a:ext cx="4114800" cy="43891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Hinton, Osindero, Teh: Derin İnanç Ağları. Açgözlü katmanlı ön-eğitim stratejisi → 3. dalga başladı.</a:t>
            </a:r>
            <a:endParaRPr lang="en-US" sz="900" dirty="0"/>
          </a:p>
        </p:txBody>
      </p:sp>
      <p:sp>
        <p:nvSpPr>
          <p:cNvPr id="33" name="Shape 31"/>
          <p:cNvSpPr/>
          <p:nvPr/>
        </p:nvSpPr>
        <p:spPr>
          <a:xfrm>
            <a:off x="5376672" y="2779776"/>
            <a:ext cx="237744" cy="237744"/>
          </a:xfrm>
          <a:prstGeom prst="ellipse">
            <a:avLst/>
          </a:prstGeom>
          <a:solidFill>
            <a:srgbClr val="EF4444"/>
          </a:solidFill>
          <a:ln w="12700">
            <a:solidFill>
              <a:srgbClr val="FFFFFF"/>
            </a:solidFill>
            <a:prstDash val="solid"/>
          </a:ln>
        </p:spPr>
        <p:txBody>
          <a:bodyPr/>
          <a:lstStyle/>
          <a:p>
            <a:endParaRPr lang="tr-TR"/>
          </a:p>
        </p:txBody>
      </p:sp>
      <p:sp>
        <p:nvSpPr>
          <p:cNvPr id="34" name="Shape 32"/>
          <p:cNvSpPr/>
          <p:nvPr/>
        </p:nvSpPr>
        <p:spPr>
          <a:xfrm>
            <a:off x="4800600" y="2651760"/>
            <a:ext cx="640080" cy="256032"/>
          </a:xfrm>
          <a:prstGeom prst="rect">
            <a:avLst/>
          </a:prstGeom>
          <a:solidFill>
            <a:srgbClr val="EF4444"/>
          </a:solidFill>
          <a:ln w="12700">
            <a:solidFill>
              <a:srgbClr val="EF4444"/>
            </a:solidFill>
            <a:prstDash val="solid"/>
          </a:ln>
        </p:spPr>
        <p:txBody>
          <a:bodyPr/>
          <a:lstStyle/>
          <a:p>
            <a:endParaRPr lang="tr-TR"/>
          </a:p>
        </p:txBody>
      </p:sp>
      <p:sp>
        <p:nvSpPr>
          <p:cNvPr id="35" name="Text 33"/>
          <p:cNvSpPr/>
          <p:nvPr/>
        </p:nvSpPr>
        <p:spPr>
          <a:xfrm>
            <a:off x="4800600" y="265176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2012</a:t>
            </a:r>
            <a:endParaRPr lang="en-US" sz="900" dirty="0"/>
          </a:p>
        </p:txBody>
      </p:sp>
      <p:sp>
        <p:nvSpPr>
          <p:cNvPr id="36" name="Text 34"/>
          <p:cNvSpPr/>
          <p:nvPr/>
        </p:nvSpPr>
        <p:spPr>
          <a:xfrm>
            <a:off x="4800600" y="2926080"/>
            <a:ext cx="4114800" cy="43891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Krizhevsky: AlexNet. ImageNet yarışmasını ezici farkla kazandı. GPU kullanımı devrim yarattı.</a:t>
            </a:r>
            <a:endParaRPr lang="en-US" sz="900" dirty="0"/>
          </a:p>
        </p:txBody>
      </p:sp>
      <p:sp>
        <p:nvSpPr>
          <p:cNvPr id="37" name="Shape 35"/>
          <p:cNvSpPr/>
          <p:nvPr/>
        </p:nvSpPr>
        <p:spPr>
          <a:xfrm>
            <a:off x="5376672" y="3547872"/>
            <a:ext cx="237744" cy="237744"/>
          </a:xfrm>
          <a:prstGeom prst="ellipse">
            <a:avLst/>
          </a:prstGeom>
          <a:solidFill>
            <a:srgbClr val="D97706"/>
          </a:solidFill>
          <a:ln w="12700">
            <a:solidFill>
              <a:srgbClr val="FFFFFF"/>
            </a:solidFill>
            <a:prstDash val="solid"/>
          </a:ln>
        </p:spPr>
        <p:txBody>
          <a:bodyPr/>
          <a:lstStyle/>
          <a:p>
            <a:endParaRPr lang="tr-TR"/>
          </a:p>
        </p:txBody>
      </p:sp>
      <p:sp>
        <p:nvSpPr>
          <p:cNvPr id="38" name="Shape 36"/>
          <p:cNvSpPr/>
          <p:nvPr/>
        </p:nvSpPr>
        <p:spPr>
          <a:xfrm>
            <a:off x="4800600" y="3419856"/>
            <a:ext cx="640080" cy="256032"/>
          </a:xfrm>
          <a:prstGeom prst="rect">
            <a:avLst/>
          </a:prstGeom>
          <a:solidFill>
            <a:srgbClr val="D97706"/>
          </a:solidFill>
          <a:ln w="12700">
            <a:solidFill>
              <a:srgbClr val="D97706"/>
            </a:solidFill>
            <a:prstDash val="solid"/>
          </a:ln>
        </p:spPr>
        <p:txBody>
          <a:bodyPr/>
          <a:lstStyle/>
          <a:p>
            <a:endParaRPr lang="tr-TR"/>
          </a:p>
        </p:txBody>
      </p:sp>
      <p:sp>
        <p:nvSpPr>
          <p:cNvPr id="39" name="Text 37"/>
          <p:cNvSpPr/>
          <p:nvPr/>
        </p:nvSpPr>
        <p:spPr>
          <a:xfrm>
            <a:off x="4800600" y="3419856"/>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2014</a:t>
            </a:r>
            <a:endParaRPr lang="en-US" sz="900" dirty="0"/>
          </a:p>
        </p:txBody>
      </p:sp>
      <p:sp>
        <p:nvSpPr>
          <p:cNvPr id="40" name="Text 38"/>
          <p:cNvSpPr/>
          <p:nvPr/>
        </p:nvSpPr>
        <p:spPr>
          <a:xfrm>
            <a:off x="4800600" y="3694176"/>
            <a:ext cx="4114800" cy="43891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Goodfellow: GAN önerildi. 'Son 20 yılın en harika fikri' — Yann LeCun. Üretici modelleme patladı.</a:t>
            </a:r>
            <a:endParaRPr lang="en-US" sz="900" dirty="0"/>
          </a:p>
        </p:txBody>
      </p:sp>
      <p:sp>
        <p:nvSpPr>
          <p:cNvPr id="41" name="Shape 39"/>
          <p:cNvSpPr/>
          <p:nvPr/>
        </p:nvSpPr>
        <p:spPr>
          <a:xfrm>
            <a:off x="5376672" y="4315968"/>
            <a:ext cx="237744" cy="237744"/>
          </a:xfrm>
          <a:prstGeom prst="ellipse">
            <a:avLst/>
          </a:prstGeom>
          <a:solidFill>
            <a:srgbClr val="84CC16"/>
          </a:solidFill>
          <a:ln w="12700">
            <a:solidFill>
              <a:srgbClr val="FFFFFF"/>
            </a:solidFill>
            <a:prstDash val="solid"/>
          </a:ln>
        </p:spPr>
        <p:txBody>
          <a:bodyPr/>
          <a:lstStyle/>
          <a:p>
            <a:endParaRPr lang="tr-TR"/>
          </a:p>
        </p:txBody>
      </p:sp>
      <p:sp>
        <p:nvSpPr>
          <p:cNvPr id="42" name="Shape 40"/>
          <p:cNvSpPr/>
          <p:nvPr/>
        </p:nvSpPr>
        <p:spPr>
          <a:xfrm>
            <a:off x="4800600" y="4187952"/>
            <a:ext cx="640080" cy="256032"/>
          </a:xfrm>
          <a:prstGeom prst="rect">
            <a:avLst/>
          </a:prstGeom>
          <a:solidFill>
            <a:srgbClr val="84CC16"/>
          </a:solidFill>
          <a:ln w="12700">
            <a:solidFill>
              <a:srgbClr val="84CC16"/>
            </a:solidFill>
            <a:prstDash val="solid"/>
          </a:ln>
        </p:spPr>
        <p:txBody>
          <a:bodyPr/>
          <a:lstStyle/>
          <a:p>
            <a:endParaRPr lang="tr-TR"/>
          </a:p>
        </p:txBody>
      </p:sp>
      <p:sp>
        <p:nvSpPr>
          <p:cNvPr id="43" name="Text 41"/>
          <p:cNvSpPr/>
          <p:nvPr/>
        </p:nvSpPr>
        <p:spPr>
          <a:xfrm>
            <a:off x="4800600" y="4187952"/>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2019</a:t>
            </a:r>
            <a:endParaRPr lang="en-US" sz="900" dirty="0"/>
          </a:p>
        </p:txBody>
      </p:sp>
      <p:sp>
        <p:nvSpPr>
          <p:cNvPr id="44" name="Text 42"/>
          <p:cNvSpPr/>
          <p:nvPr/>
        </p:nvSpPr>
        <p:spPr>
          <a:xfrm>
            <a:off x="4800600" y="4462272"/>
            <a:ext cx="4114800" cy="438912"/>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Bengio, Hinton, LeCun: Turing Ödülü kazandı. Derin öğrenmenin bilişime katkısı tarihsel kabul gördü.</a:t>
            </a:r>
            <a:endParaRPr lang="en-US" sz="900" dirty="0"/>
          </a:p>
        </p:txBody>
      </p:sp>
      <p:sp>
        <p:nvSpPr>
          <p:cNvPr id="45" name="Shape 43"/>
          <p:cNvSpPr/>
          <p:nvPr/>
        </p:nvSpPr>
        <p:spPr>
          <a:xfrm>
            <a:off x="365760" y="4956048"/>
            <a:ext cx="8412480" cy="128016"/>
          </a:xfrm>
          <a:prstGeom prst="rect">
            <a:avLst/>
          </a:prstGeom>
          <a:solidFill>
            <a:srgbClr val="0891B2">
              <a:alpha val="30000"/>
            </a:srgbClr>
          </a:solidFill>
          <a:ln w="12700">
            <a:solidFill>
              <a:srgbClr val="0891B2"/>
            </a:solidFill>
            <a:prstDash val="solid"/>
          </a:ln>
        </p:spPr>
        <p:txBody>
          <a:bodyPr/>
          <a:lstStyle/>
          <a:p>
            <a:endParaRPr lang="tr-TR"/>
          </a:p>
        </p:txBody>
      </p:sp>
      <p:sp>
        <p:nvSpPr>
          <p:cNvPr id="46" name="Text 44"/>
          <p:cNvSpPr/>
          <p:nvPr/>
        </p:nvSpPr>
        <p:spPr>
          <a:xfrm>
            <a:off x="365760" y="4956048"/>
            <a:ext cx="8412480" cy="128016"/>
          </a:xfrm>
          <a:prstGeom prst="rect">
            <a:avLst/>
          </a:prstGeom>
          <a:noFill/>
          <a:ln/>
        </p:spPr>
        <p:txBody>
          <a:bodyPr wrap="square" lIns="38100" tIns="38100" rIns="38100" bIns="38100" rtlCol="0" anchor="ctr"/>
          <a:lstStyle/>
          <a:p>
            <a:pPr marL="0" indent="0">
              <a:buNone/>
            </a:pPr>
            <a:r>
              <a:rPr lang="en-US" sz="750" i="1" dirty="0">
                <a:solidFill>
                  <a:srgbClr val="FFFFFF"/>
                </a:solidFill>
                <a:latin typeface="Calibri" pitchFamily="34" charset="0"/>
                <a:ea typeface="Calibri" pitchFamily="34" charset="-122"/>
                <a:cs typeface="Calibri" pitchFamily="34" charset="-120"/>
              </a:rPr>
              <a:t>Kaynak: Emmert-Streib et al. (2020); Schmidhuber (2015). Deep Learning in Neural Networks: An Overview.</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02 — NÖRON MODELİ</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Yapay Nöron Modeli — Temel Yapı Taşı</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Text 4"/>
          <p:cNvSpPr/>
          <p:nvPr/>
        </p:nvSpPr>
        <p:spPr>
          <a:xfrm>
            <a:off x="365760" y="1115568"/>
            <a:ext cx="4572000" cy="274320"/>
          </a:xfrm>
          <a:prstGeom prst="rect">
            <a:avLst/>
          </a:prstGeom>
          <a:noFill/>
          <a:ln/>
        </p:spPr>
        <p:txBody>
          <a:bodyPr wrap="square" lIns="0" tIns="0" rIns="0" bIns="0"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Matematiksel Model</a:t>
            </a:r>
            <a:endParaRPr lang="en-US" sz="1200" dirty="0"/>
          </a:p>
        </p:txBody>
      </p:sp>
      <p:sp>
        <p:nvSpPr>
          <p:cNvPr id="7" name="Shape 5"/>
          <p:cNvSpPr/>
          <p:nvPr/>
        </p:nvSpPr>
        <p:spPr>
          <a:xfrm>
            <a:off x="457200" y="1417320"/>
            <a:ext cx="530352" cy="502920"/>
          </a:xfrm>
          <a:prstGeom prst="ellipse">
            <a:avLst/>
          </a:prstGeom>
          <a:solidFill>
            <a:srgbClr val="7C3AED"/>
          </a:solidFill>
          <a:ln w="12700">
            <a:solidFill>
              <a:srgbClr val="FFFFFF"/>
            </a:solidFill>
            <a:prstDash val="solid"/>
          </a:ln>
        </p:spPr>
        <p:txBody>
          <a:bodyPr/>
          <a:lstStyle/>
          <a:p>
            <a:endParaRPr lang="tr-TR"/>
          </a:p>
        </p:txBody>
      </p:sp>
      <p:sp>
        <p:nvSpPr>
          <p:cNvPr id="8" name="Text 6"/>
          <p:cNvSpPr/>
          <p:nvPr/>
        </p:nvSpPr>
        <p:spPr>
          <a:xfrm>
            <a:off x="457200" y="1417320"/>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x₁</a:t>
            </a:r>
            <a:endParaRPr lang="en-US" sz="1400" dirty="0"/>
          </a:p>
        </p:txBody>
      </p:sp>
      <p:sp>
        <p:nvSpPr>
          <p:cNvPr id="9" name="Text 7"/>
          <p:cNvSpPr/>
          <p:nvPr/>
        </p:nvSpPr>
        <p:spPr>
          <a:xfrm>
            <a:off x="1078992" y="1581912"/>
            <a:ext cx="457200" cy="201168"/>
          </a:xfrm>
          <a:prstGeom prst="rect">
            <a:avLst/>
          </a:prstGeom>
          <a:noFill/>
          <a:ln/>
        </p:spPr>
        <p:txBody>
          <a:bodyPr wrap="square" lIns="0" tIns="0" rIns="0" bIns="0" rtlCol="0" anchor="ctr"/>
          <a:lstStyle/>
          <a:p>
            <a:pPr marL="0" indent="0">
              <a:buNone/>
            </a:pPr>
            <a:r>
              <a:rPr lang="en-US" sz="1100" i="1" dirty="0">
                <a:solidFill>
                  <a:srgbClr val="84CC16"/>
                </a:solidFill>
                <a:latin typeface="Calibri" pitchFamily="34" charset="0"/>
                <a:ea typeface="Calibri" pitchFamily="34" charset="-122"/>
                <a:cs typeface="Calibri" pitchFamily="34" charset="-120"/>
              </a:rPr>
              <a:t>w1</a:t>
            </a:r>
            <a:endParaRPr lang="en-US" sz="1100" dirty="0"/>
          </a:p>
        </p:txBody>
      </p:sp>
      <p:sp>
        <p:nvSpPr>
          <p:cNvPr id="10" name="Shape 8"/>
          <p:cNvSpPr/>
          <p:nvPr/>
        </p:nvSpPr>
        <p:spPr>
          <a:xfrm>
            <a:off x="1005840" y="1655064"/>
            <a:ext cx="822960" cy="36576"/>
          </a:xfrm>
          <a:prstGeom prst="rect">
            <a:avLst/>
          </a:prstGeom>
          <a:solidFill>
            <a:srgbClr val="64748B"/>
          </a:solidFill>
          <a:ln w="12700">
            <a:solidFill>
              <a:srgbClr val="64748B"/>
            </a:solidFill>
            <a:prstDash val="solid"/>
          </a:ln>
        </p:spPr>
        <p:txBody>
          <a:bodyPr/>
          <a:lstStyle/>
          <a:p>
            <a:endParaRPr lang="tr-TR"/>
          </a:p>
        </p:txBody>
      </p:sp>
      <p:sp>
        <p:nvSpPr>
          <p:cNvPr id="11" name="Shape 9"/>
          <p:cNvSpPr/>
          <p:nvPr/>
        </p:nvSpPr>
        <p:spPr>
          <a:xfrm>
            <a:off x="457200" y="2029968"/>
            <a:ext cx="530352" cy="502920"/>
          </a:xfrm>
          <a:prstGeom prst="ellipse">
            <a:avLst/>
          </a:prstGeom>
          <a:solidFill>
            <a:srgbClr val="7C3AED"/>
          </a:solidFill>
          <a:ln w="12700">
            <a:solidFill>
              <a:srgbClr val="FFFFFF"/>
            </a:solidFill>
            <a:prstDash val="solid"/>
          </a:ln>
        </p:spPr>
        <p:txBody>
          <a:bodyPr/>
          <a:lstStyle/>
          <a:p>
            <a:endParaRPr lang="tr-TR"/>
          </a:p>
        </p:txBody>
      </p:sp>
      <p:sp>
        <p:nvSpPr>
          <p:cNvPr id="12" name="Text 10"/>
          <p:cNvSpPr/>
          <p:nvPr/>
        </p:nvSpPr>
        <p:spPr>
          <a:xfrm>
            <a:off x="457200" y="2029968"/>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x₂</a:t>
            </a:r>
            <a:endParaRPr lang="en-US" sz="1400" dirty="0"/>
          </a:p>
        </p:txBody>
      </p:sp>
      <p:sp>
        <p:nvSpPr>
          <p:cNvPr id="13" name="Text 11"/>
          <p:cNvSpPr/>
          <p:nvPr/>
        </p:nvSpPr>
        <p:spPr>
          <a:xfrm>
            <a:off x="1078992" y="2194560"/>
            <a:ext cx="457200" cy="201168"/>
          </a:xfrm>
          <a:prstGeom prst="rect">
            <a:avLst/>
          </a:prstGeom>
          <a:noFill/>
          <a:ln/>
        </p:spPr>
        <p:txBody>
          <a:bodyPr wrap="square" lIns="0" tIns="0" rIns="0" bIns="0" rtlCol="0" anchor="ctr"/>
          <a:lstStyle/>
          <a:p>
            <a:pPr marL="0" indent="0">
              <a:buNone/>
            </a:pPr>
            <a:r>
              <a:rPr lang="en-US" sz="1100" i="1" dirty="0">
                <a:solidFill>
                  <a:srgbClr val="84CC16"/>
                </a:solidFill>
                <a:latin typeface="Calibri" pitchFamily="34" charset="0"/>
                <a:ea typeface="Calibri" pitchFamily="34" charset="-122"/>
                <a:cs typeface="Calibri" pitchFamily="34" charset="-120"/>
              </a:rPr>
              <a:t>w2</a:t>
            </a:r>
            <a:endParaRPr lang="en-US" sz="1100" dirty="0"/>
          </a:p>
        </p:txBody>
      </p:sp>
      <p:sp>
        <p:nvSpPr>
          <p:cNvPr id="14" name="Shape 12"/>
          <p:cNvSpPr/>
          <p:nvPr/>
        </p:nvSpPr>
        <p:spPr>
          <a:xfrm>
            <a:off x="1005840" y="2267712"/>
            <a:ext cx="822960" cy="36576"/>
          </a:xfrm>
          <a:prstGeom prst="rect">
            <a:avLst/>
          </a:prstGeom>
          <a:solidFill>
            <a:srgbClr val="64748B"/>
          </a:solidFill>
          <a:ln w="12700">
            <a:solidFill>
              <a:srgbClr val="64748B"/>
            </a:solidFill>
            <a:prstDash val="solid"/>
          </a:ln>
        </p:spPr>
        <p:txBody>
          <a:bodyPr/>
          <a:lstStyle/>
          <a:p>
            <a:endParaRPr lang="tr-TR"/>
          </a:p>
        </p:txBody>
      </p:sp>
      <p:sp>
        <p:nvSpPr>
          <p:cNvPr id="15" name="Shape 13"/>
          <p:cNvSpPr/>
          <p:nvPr/>
        </p:nvSpPr>
        <p:spPr>
          <a:xfrm>
            <a:off x="457200" y="2642616"/>
            <a:ext cx="530352" cy="502920"/>
          </a:xfrm>
          <a:prstGeom prst="ellipse">
            <a:avLst/>
          </a:prstGeom>
          <a:solidFill>
            <a:srgbClr val="7C3AED"/>
          </a:solidFill>
          <a:ln w="12700">
            <a:solidFill>
              <a:srgbClr val="FFFFFF"/>
            </a:solidFill>
            <a:prstDash val="solid"/>
          </a:ln>
        </p:spPr>
        <p:txBody>
          <a:bodyPr/>
          <a:lstStyle/>
          <a:p>
            <a:endParaRPr lang="tr-TR"/>
          </a:p>
        </p:txBody>
      </p:sp>
      <p:sp>
        <p:nvSpPr>
          <p:cNvPr id="16" name="Text 14"/>
          <p:cNvSpPr/>
          <p:nvPr/>
        </p:nvSpPr>
        <p:spPr>
          <a:xfrm>
            <a:off x="457200" y="2642616"/>
            <a:ext cx="53035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x₃</a:t>
            </a:r>
            <a:endParaRPr lang="en-US" sz="1400" dirty="0"/>
          </a:p>
        </p:txBody>
      </p:sp>
      <p:sp>
        <p:nvSpPr>
          <p:cNvPr id="17" name="Text 15"/>
          <p:cNvSpPr/>
          <p:nvPr/>
        </p:nvSpPr>
        <p:spPr>
          <a:xfrm>
            <a:off x="1078992" y="2807208"/>
            <a:ext cx="457200" cy="201168"/>
          </a:xfrm>
          <a:prstGeom prst="rect">
            <a:avLst/>
          </a:prstGeom>
          <a:noFill/>
          <a:ln/>
        </p:spPr>
        <p:txBody>
          <a:bodyPr wrap="square" lIns="0" tIns="0" rIns="0" bIns="0" rtlCol="0" anchor="ctr"/>
          <a:lstStyle/>
          <a:p>
            <a:pPr marL="0" indent="0">
              <a:buNone/>
            </a:pPr>
            <a:r>
              <a:rPr lang="en-US" sz="1100" i="1" dirty="0">
                <a:solidFill>
                  <a:srgbClr val="84CC16"/>
                </a:solidFill>
                <a:latin typeface="Calibri" pitchFamily="34" charset="0"/>
                <a:ea typeface="Calibri" pitchFamily="34" charset="-122"/>
                <a:cs typeface="Calibri" pitchFamily="34" charset="-120"/>
              </a:rPr>
              <a:t>w3</a:t>
            </a:r>
            <a:endParaRPr lang="en-US" sz="1100" dirty="0"/>
          </a:p>
        </p:txBody>
      </p:sp>
      <p:sp>
        <p:nvSpPr>
          <p:cNvPr id="18" name="Shape 16"/>
          <p:cNvSpPr/>
          <p:nvPr/>
        </p:nvSpPr>
        <p:spPr>
          <a:xfrm>
            <a:off x="1005840" y="2880360"/>
            <a:ext cx="822960" cy="36576"/>
          </a:xfrm>
          <a:prstGeom prst="rect">
            <a:avLst/>
          </a:prstGeom>
          <a:solidFill>
            <a:srgbClr val="64748B"/>
          </a:solidFill>
          <a:ln w="12700">
            <a:solidFill>
              <a:srgbClr val="64748B"/>
            </a:solidFill>
            <a:prstDash val="solid"/>
          </a:ln>
        </p:spPr>
        <p:txBody>
          <a:bodyPr/>
          <a:lstStyle/>
          <a:p>
            <a:endParaRPr lang="tr-TR"/>
          </a:p>
        </p:txBody>
      </p:sp>
      <p:sp>
        <p:nvSpPr>
          <p:cNvPr id="19" name="Shape 17"/>
          <p:cNvSpPr/>
          <p:nvPr/>
        </p:nvSpPr>
        <p:spPr>
          <a:xfrm>
            <a:off x="1938528" y="1005840"/>
            <a:ext cx="530352" cy="438912"/>
          </a:xfrm>
          <a:prstGeom prst="ellipse">
            <a:avLst/>
          </a:prstGeom>
          <a:solidFill>
            <a:srgbClr val="0891B2"/>
          </a:solidFill>
          <a:ln w="12700">
            <a:solidFill>
              <a:srgbClr val="FFFFFF"/>
            </a:solidFill>
            <a:prstDash val="solid"/>
          </a:ln>
        </p:spPr>
        <p:txBody>
          <a:bodyPr/>
          <a:lstStyle/>
          <a:p>
            <a:endParaRPr lang="tr-TR"/>
          </a:p>
        </p:txBody>
      </p:sp>
      <p:sp>
        <p:nvSpPr>
          <p:cNvPr id="20" name="Text 18"/>
          <p:cNvSpPr/>
          <p:nvPr/>
        </p:nvSpPr>
        <p:spPr>
          <a:xfrm>
            <a:off x="1938528" y="1005840"/>
            <a:ext cx="53035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21" name="Text 19"/>
          <p:cNvSpPr/>
          <p:nvPr/>
        </p:nvSpPr>
        <p:spPr>
          <a:xfrm>
            <a:off x="1938528" y="1463040"/>
            <a:ext cx="530352" cy="182880"/>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bias</a:t>
            </a:r>
            <a:endParaRPr lang="en-US" sz="750" dirty="0"/>
          </a:p>
        </p:txBody>
      </p:sp>
      <p:sp>
        <p:nvSpPr>
          <p:cNvPr id="22" name="Shape 20"/>
          <p:cNvSpPr/>
          <p:nvPr/>
        </p:nvSpPr>
        <p:spPr>
          <a:xfrm>
            <a:off x="1965960" y="1920240"/>
            <a:ext cx="749808" cy="658368"/>
          </a:xfrm>
          <a:prstGeom prst="ellipse">
            <a:avLst/>
          </a:prstGeom>
          <a:solidFill>
            <a:srgbClr val="243B55"/>
          </a:solidFill>
          <a:ln w="12700">
            <a:solidFill>
              <a:srgbClr val="06B6D4"/>
            </a:solidFill>
            <a:prstDash val="solid"/>
          </a:ln>
        </p:spPr>
        <p:txBody>
          <a:bodyPr/>
          <a:lstStyle/>
          <a:p>
            <a:endParaRPr lang="tr-TR"/>
          </a:p>
        </p:txBody>
      </p:sp>
      <p:sp>
        <p:nvSpPr>
          <p:cNvPr id="23" name="Text 21"/>
          <p:cNvSpPr/>
          <p:nvPr/>
        </p:nvSpPr>
        <p:spPr>
          <a:xfrm>
            <a:off x="1965960" y="1920240"/>
            <a:ext cx="749808" cy="658368"/>
          </a:xfrm>
          <a:prstGeom prst="rect">
            <a:avLst/>
          </a:prstGeom>
          <a:noFill/>
          <a:ln/>
        </p:spPr>
        <p:txBody>
          <a:bodyPr wrap="square" lIns="0" tIns="0" rIns="0" bIns="0" rtlCol="0" anchor="ctr"/>
          <a:lstStyle/>
          <a:p>
            <a:pPr marL="0" indent="0" algn="ctr">
              <a:buNone/>
            </a:pPr>
            <a:r>
              <a:rPr lang="en-US" sz="2200" b="1" dirty="0">
                <a:solidFill>
                  <a:srgbClr val="06B6D4"/>
                </a:solidFill>
                <a:latin typeface="Calibri" pitchFamily="34" charset="0"/>
                <a:ea typeface="Calibri" pitchFamily="34" charset="-122"/>
                <a:cs typeface="Calibri" pitchFamily="34" charset="-120"/>
              </a:rPr>
              <a:t>Σ</a:t>
            </a:r>
            <a:endParaRPr lang="en-US" sz="2200" dirty="0"/>
          </a:p>
        </p:txBody>
      </p:sp>
      <p:sp>
        <p:nvSpPr>
          <p:cNvPr id="24" name="Shape 22"/>
          <p:cNvSpPr/>
          <p:nvPr/>
        </p:nvSpPr>
        <p:spPr>
          <a:xfrm>
            <a:off x="2734056" y="2231136"/>
            <a:ext cx="502920" cy="36576"/>
          </a:xfrm>
          <a:prstGeom prst="rect">
            <a:avLst/>
          </a:prstGeom>
          <a:solidFill>
            <a:srgbClr val="64748B"/>
          </a:solidFill>
          <a:ln w="12700">
            <a:solidFill>
              <a:srgbClr val="64748B"/>
            </a:solidFill>
            <a:prstDash val="solid"/>
          </a:ln>
        </p:spPr>
        <p:txBody>
          <a:bodyPr/>
          <a:lstStyle/>
          <a:p>
            <a:endParaRPr lang="tr-TR"/>
          </a:p>
        </p:txBody>
      </p:sp>
      <p:sp>
        <p:nvSpPr>
          <p:cNvPr id="25" name="Shape 23"/>
          <p:cNvSpPr/>
          <p:nvPr/>
        </p:nvSpPr>
        <p:spPr>
          <a:xfrm>
            <a:off x="3255264" y="1920240"/>
            <a:ext cx="749808" cy="658368"/>
          </a:xfrm>
          <a:prstGeom prst="ellipse">
            <a:avLst/>
          </a:prstGeom>
          <a:solidFill>
            <a:srgbClr val="243B55"/>
          </a:solidFill>
          <a:ln w="12700">
            <a:solidFill>
              <a:srgbClr val="84CC16"/>
            </a:solidFill>
            <a:prstDash val="solid"/>
          </a:ln>
        </p:spPr>
        <p:txBody>
          <a:bodyPr/>
          <a:lstStyle/>
          <a:p>
            <a:endParaRPr lang="tr-TR"/>
          </a:p>
        </p:txBody>
      </p:sp>
      <p:sp>
        <p:nvSpPr>
          <p:cNvPr id="26" name="Text 24"/>
          <p:cNvSpPr/>
          <p:nvPr/>
        </p:nvSpPr>
        <p:spPr>
          <a:xfrm>
            <a:off x="3255264" y="1920240"/>
            <a:ext cx="749808" cy="658368"/>
          </a:xfrm>
          <a:prstGeom prst="rect">
            <a:avLst/>
          </a:prstGeom>
          <a:noFill/>
          <a:ln/>
        </p:spPr>
        <p:txBody>
          <a:bodyPr wrap="square" lIns="0" tIns="0" rIns="0" bIns="0" rtlCol="0" anchor="ctr"/>
          <a:lstStyle/>
          <a:p>
            <a:pPr marL="0" indent="0" algn="ctr">
              <a:buNone/>
            </a:pPr>
            <a:r>
              <a:rPr lang="en-US" sz="2200" b="1" dirty="0">
                <a:solidFill>
                  <a:srgbClr val="84CC16"/>
                </a:solidFill>
                <a:latin typeface="Calibri" pitchFamily="34" charset="0"/>
                <a:ea typeface="Calibri" pitchFamily="34" charset="-122"/>
                <a:cs typeface="Calibri" pitchFamily="34" charset="-120"/>
              </a:rPr>
              <a:t>φ</a:t>
            </a:r>
            <a:endParaRPr lang="en-US" sz="2200" dirty="0"/>
          </a:p>
        </p:txBody>
      </p:sp>
      <p:sp>
        <p:nvSpPr>
          <p:cNvPr id="27" name="Shape 25"/>
          <p:cNvSpPr/>
          <p:nvPr/>
        </p:nvSpPr>
        <p:spPr>
          <a:xfrm>
            <a:off x="4023360" y="2231136"/>
            <a:ext cx="502920" cy="36576"/>
          </a:xfrm>
          <a:prstGeom prst="rect">
            <a:avLst/>
          </a:prstGeom>
          <a:solidFill>
            <a:srgbClr val="64748B"/>
          </a:solidFill>
          <a:ln w="12700">
            <a:solidFill>
              <a:srgbClr val="64748B"/>
            </a:solidFill>
            <a:prstDash val="solid"/>
          </a:ln>
        </p:spPr>
        <p:txBody>
          <a:bodyPr/>
          <a:lstStyle/>
          <a:p>
            <a:endParaRPr lang="tr-TR"/>
          </a:p>
        </p:txBody>
      </p:sp>
      <p:sp>
        <p:nvSpPr>
          <p:cNvPr id="28" name="Shape 26"/>
          <p:cNvSpPr/>
          <p:nvPr/>
        </p:nvSpPr>
        <p:spPr>
          <a:xfrm>
            <a:off x="4544568" y="1975104"/>
            <a:ext cx="621792" cy="566928"/>
          </a:xfrm>
          <a:prstGeom prst="ellipse">
            <a:avLst/>
          </a:prstGeom>
          <a:solidFill>
            <a:srgbClr val="059669"/>
          </a:solidFill>
          <a:ln w="12700">
            <a:solidFill>
              <a:srgbClr val="FFFFFF"/>
            </a:solidFill>
            <a:prstDash val="solid"/>
          </a:ln>
        </p:spPr>
        <p:txBody>
          <a:bodyPr/>
          <a:lstStyle/>
          <a:p>
            <a:endParaRPr lang="tr-TR"/>
          </a:p>
        </p:txBody>
      </p:sp>
      <p:sp>
        <p:nvSpPr>
          <p:cNvPr id="29" name="Text 27"/>
          <p:cNvSpPr/>
          <p:nvPr/>
        </p:nvSpPr>
        <p:spPr>
          <a:xfrm>
            <a:off x="4544568" y="1975104"/>
            <a:ext cx="621792"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y</a:t>
            </a:r>
            <a:endParaRPr lang="en-US" sz="1800" dirty="0"/>
          </a:p>
        </p:txBody>
      </p:sp>
      <p:sp>
        <p:nvSpPr>
          <p:cNvPr id="30" name="Text 28"/>
          <p:cNvSpPr/>
          <p:nvPr/>
        </p:nvSpPr>
        <p:spPr>
          <a:xfrm>
            <a:off x="1874520" y="2615184"/>
            <a:ext cx="1371600" cy="256032"/>
          </a:xfrm>
          <a:prstGeom prst="rect">
            <a:avLst/>
          </a:prstGeom>
          <a:noFill/>
          <a:ln/>
        </p:spPr>
        <p:txBody>
          <a:bodyPr wrap="square" lIns="0" tIns="0" rIns="0" bIns="0"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z = wᵀx + b</a:t>
            </a:r>
            <a:endParaRPr lang="en-US" sz="900" dirty="0"/>
          </a:p>
        </p:txBody>
      </p:sp>
      <p:sp>
        <p:nvSpPr>
          <p:cNvPr id="31" name="Shape 29"/>
          <p:cNvSpPr/>
          <p:nvPr/>
        </p:nvSpPr>
        <p:spPr>
          <a:xfrm>
            <a:off x="365760" y="2971800"/>
            <a:ext cx="4754880" cy="530352"/>
          </a:xfrm>
          <a:prstGeom prst="rect">
            <a:avLst/>
          </a:prstGeom>
          <a:solidFill>
            <a:srgbClr val="1B2F4A"/>
          </a:solidFill>
          <a:ln w="12700">
            <a:solidFill>
              <a:srgbClr val="0891B2"/>
            </a:solidFill>
            <a:prstDash val="solid"/>
          </a:ln>
        </p:spPr>
        <p:txBody>
          <a:bodyPr/>
          <a:lstStyle/>
          <a:p>
            <a:endParaRPr lang="tr-TR"/>
          </a:p>
        </p:txBody>
      </p:sp>
      <p:sp>
        <p:nvSpPr>
          <p:cNvPr id="32" name="Text 30"/>
          <p:cNvSpPr/>
          <p:nvPr/>
        </p:nvSpPr>
        <p:spPr>
          <a:xfrm>
            <a:off x="457200" y="2971800"/>
            <a:ext cx="4572000" cy="530352"/>
          </a:xfrm>
          <a:prstGeom prst="rect">
            <a:avLst/>
          </a:prstGeom>
          <a:noFill/>
          <a:ln/>
        </p:spPr>
        <p:txBody>
          <a:bodyPr wrap="square" lIns="0" tIns="0" rIns="0" bIns="0" rtlCol="0" anchor="ctr"/>
          <a:lstStyle/>
          <a:p>
            <a:pPr marL="0" indent="0" algn="ctr">
              <a:buNone/>
            </a:pPr>
            <a:r>
              <a:rPr lang="en-US" sz="1250" b="1" dirty="0">
                <a:solidFill>
                  <a:srgbClr val="06B6D4"/>
                </a:solidFill>
                <a:latin typeface="Calibri" pitchFamily="34" charset="0"/>
                <a:ea typeface="Calibri" pitchFamily="34" charset="-122"/>
                <a:cs typeface="Calibri" pitchFamily="34" charset="-120"/>
              </a:rPr>
              <a:t>y = φ(z) = φ(wᵀx + b)</a:t>
            </a:r>
            <a:endParaRPr lang="en-US" sz="1250" dirty="0"/>
          </a:p>
        </p:txBody>
      </p:sp>
      <p:sp>
        <p:nvSpPr>
          <p:cNvPr id="33" name="Text 31"/>
          <p:cNvSpPr/>
          <p:nvPr/>
        </p:nvSpPr>
        <p:spPr>
          <a:xfrm>
            <a:off x="365760" y="3547872"/>
            <a:ext cx="4754880" cy="219456"/>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φ: Aktivasyon fonksiyonu · w: Ağırlık vektörü · b: Bias · x: Giriş</a:t>
            </a:r>
            <a:endParaRPr lang="en-US" sz="850" dirty="0"/>
          </a:p>
        </p:txBody>
      </p:sp>
      <p:sp>
        <p:nvSpPr>
          <p:cNvPr id="34" name="Shape 32"/>
          <p:cNvSpPr/>
          <p:nvPr/>
        </p:nvSpPr>
        <p:spPr>
          <a:xfrm>
            <a:off x="365760" y="3858768"/>
            <a:ext cx="4754880" cy="1024128"/>
          </a:xfrm>
          <a:prstGeom prst="rect">
            <a:avLst/>
          </a:prstGeom>
          <a:solidFill>
            <a:srgbClr val="243B55"/>
          </a:solidFill>
          <a:ln w="12700">
            <a:solidFill>
              <a:srgbClr val="F59E0B"/>
            </a:solidFill>
            <a:prstDash val="solid"/>
          </a:ln>
        </p:spPr>
        <p:txBody>
          <a:bodyPr/>
          <a:lstStyle/>
          <a:p>
            <a:endParaRPr lang="tr-TR"/>
          </a:p>
        </p:txBody>
      </p:sp>
      <p:sp>
        <p:nvSpPr>
          <p:cNvPr id="35" name="Text 33"/>
          <p:cNvSpPr/>
          <p:nvPr/>
        </p:nvSpPr>
        <p:spPr>
          <a:xfrm>
            <a:off x="502920" y="3931920"/>
            <a:ext cx="4526280" cy="256032"/>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 Biyolojik İlham:</a:t>
            </a:r>
            <a:endParaRPr lang="en-US" sz="1100" dirty="0"/>
          </a:p>
        </p:txBody>
      </p:sp>
      <p:sp>
        <p:nvSpPr>
          <p:cNvPr id="36" name="Text 34"/>
          <p:cNvSpPr/>
          <p:nvPr/>
        </p:nvSpPr>
        <p:spPr>
          <a:xfrm>
            <a:off x="502920" y="4206240"/>
            <a:ext cx="4526280" cy="621792"/>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Gerçek nöronlar dendritlerden gelen sinyalleri toplar, yeterince güçlüyse aksiyon potansiyeli ateşler. Yapay nöron bu süreci w^Tx + b &gt; eşik koşuluyla taklit eder. McCulloch &amp; Pitts (1943) bu modeli XOR gibi lojik kapıları simüle etmek için kullandılar.</a:t>
            </a:r>
            <a:endParaRPr lang="en-US" sz="900" dirty="0"/>
          </a:p>
        </p:txBody>
      </p:sp>
      <p:sp>
        <p:nvSpPr>
          <p:cNvPr id="37" name="Text 35"/>
          <p:cNvSpPr/>
          <p:nvPr/>
        </p:nvSpPr>
        <p:spPr>
          <a:xfrm>
            <a:off x="5321808" y="1115568"/>
            <a:ext cx="3547872" cy="274320"/>
          </a:xfrm>
          <a:prstGeom prst="rect">
            <a:avLst/>
          </a:prstGeom>
          <a:noFill/>
          <a:ln/>
        </p:spPr>
        <p:txBody>
          <a:bodyPr wrap="square" lIns="0" tIns="0" rIns="0" bIns="0"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Aktivasyon Fonksiyonları — Karşılaştırma</a:t>
            </a:r>
            <a:endParaRPr lang="en-US" sz="1200" dirty="0"/>
          </a:p>
        </p:txBody>
      </p:sp>
      <p:sp>
        <p:nvSpPr>
          <p:cNvPr id="38" name="Shape 36"/>
          <p:cNvSpPr/>
          <p:nvPr/>
        </p:nvSpPr>
        <p:spPr>
          <a:xfrm>
            <a:off x="5321808" y="1463040"/>
            <a:ext cx="3547872" cy="786384"/>
          </a:xfrm>
          <a:prstGeom prst="rect">
            <a:avLst/>
          </a:prstGeom>
          <a:solidFill>
            <a:srgbClr val="243B55"/>
          </a:solidFill>
          <a:ln w="12700">
            <a:solidFill>
              <a:srgbClr val="0891B2"/>
            </a:solidFill>
            <a:prstDash val="solid"/>
          </a:ln>
          <a:effectLst>
            <a:outerShdw blurRad="63500" dist="25400" dir="8100000" algn="bl" rotWithShape="0">
              <a:srgbClr val="000000">
                <a:alpha val="8000"/>
              </a:srgbClr>
            </a:outerShdw>
          </a:effectLst>
        </p:spPr>
        <p:txBody>
          <a:bodyPr/>
          <a:lstStyle/>
          <a:p>
            <a:endParaRPr lang="tr-TR"/>
          </a:p>
        </p:txBody>
      </p:sp>
      <p:sp>
        <p:nvSpPr>
          <p:cNvPr id="39" name="Shape 37"/>
          <p:cNvSpPr/>
          <p:nvPr/>
        </p:nvSpPr>
        <p:spPr>
          <a:xfrm>
            <a:off x="5321808" y="1463040"/>
            <a:ext cx="54864" cy="786384"/>
          </a:xfrm>
          <a:prstGeom prst="rect">
            <a:avLst/>
          </a:prstGeom>
          <a:solidFill>
            <a:srgbClr val="0891B2"/>
          </a:solidFill>
          <a:ln w="12700">
            <a:solidFill>
              <a:srgbClr val="0891B2"/>
            </a:solidFill>
            <a:prstDash val="solid"/>
          </a:ln>
        </p:spPr>
        <p:txBody>
          <a:bodyPr/>
          <a:lstStyle/>
          <a:p>
            <a:endParaRPr lang="tr-TR"/>
          </a:p>
        </p:txBody>
      </p:sp>
      <p:sp>
        <p:nvSpPr>
          <p:cNvPr id="40" name="Text 38"/>
          <p:cNvSpPr/>
          <p:nvPr/>
        </p:nvSpPr>
        <p:spPr>
          <a:xfrm>
            <a:off x="5431536" y="1517904"/>
            <a:ext cx="1005840" cy="256032"/>
          </a:xfrm>
          <a:prstGeom prst="rect">
            <a:avLst/>
          </a:prstGeom>
          <a:noFill/>
          <a:ln/>
        </p:spPr>
        <p:txBody>
          <a:bodyPr wrap="square" lIns="0" tIns="0" rIns="0" bIns="0" rtlCol="0" anchor="ctr"/>
          <a:lstStyle/>
          <a:p>
            <a:pPr marL="0" indent="0">
              <a:buNone/>
            </a:pPr>
            <a:r>
              <a:rPr lang="en-US" sz="1200" b="1" dirty="0">
                <a:solidFill>
                  <a:srgbClr val="0891B2"/>
                </a:solidFill>
                <a:latin typeface="Calibri" pitchFamily="34" charset="0"/>
                <a:ea typeface="Calibri" pitchFamily="34" charset="-122"/>
                <a:cs typeface="Calibri" pitchFamily="34" charset="-120"/>
              </a:rPr>
              <a:t>ReLU</a:t>
            </a:r>
            <a:endParaRPr lang="en-US" sz="1200" dirty="0"/>
          </a:p>
        </p:txBody>
      </p:sp>
      <p:sp>
        <p:nvSpPr>
          <p:cNvPr id="41" name="Shape 39"/>
          <p:cNvSpPr/>
          <p:nvPr/>
        </p:nvSpPr>
        <p:spPr>
          <a:xfrm>
            <a:off x="6473952" y="1517904"/>
            <a:ext cx="2304288" cy="256032"/>
          </a:xfrm>
          <a:prstGeom prst="rect">
            <a:avLst/>
          </a:prstGeom>
          <a:solidFill>
            <a:srgbClr val="1B2F4A"/>
          </a:solidFill>
          <a:ln w="12700">
            <a:solidFill>
              <a:srgbClr val="1B2F4A"/>
            </a:solidFill>
            <a:prstDash val="solid"/>
          </a:ln>
        </p:spPr>
        <p:txBody>
          <a:bodyPr/>
          <a:lstStyle/>
          <a:p>
            <a:endParaRPr lang="tr-TR"/>
          </a:p>
        </p:txBody>
      </p:sp>
      <p:sp>
        <p:nvSpPr>
          <p:cNvPr id="42" name="Text 40"/>
          <p:cNvSpPr/>
          <p:nvPr/>
        </p:nvSpPr>
        <p:spPr>
          <a:xfrm>
            <a:off x="6492240" y="1517904"/>
            <a:ext cx="2267712" cy="256032"/>
          </a:xfrm>
          <a:prstGeom prst="rect">
            <a:avLst/>
          </a:prstGeom>
          <a:noFill/>
          <a:ln/>
        </p:spPr>
        <p:txBody>
          <a:bodyPr wrap="square" lIns="25400" tIns="25400" rIns="25400" bIns="2540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max(0, x)</a:t>
            </a:r>
            <a:endParaRPr lang="en-US" sz="1000" dirty="0"/>
          </a:p>
        </p:txBody>
      </p:sp>
      <p:sp>
        <p:nvSpPr>
          <p:cNvPr id="43" name="Text 41"/>
          <p:cNvSpPr/>
          <p:nvPr/>
        </p:nvSpPr>
        <p:spPr>
          <a:xfrm>
            <a:off x="5431536" y="1810512"/>
            <a:ext cx="3310128" cy="384048"/>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Aralık: [0, ∞)  ·  DÖ'de en yaygın. Kaybolan gradyanı azaltır. Hesabı ucuz.</a:t>
            </a:r>
            <a:endParaRPr lang="en-US" sz="850" dirty="0"/>
          </a:p>
        </p:txBody>
      </p:sp>
      <p:sp>
        <p:nvSpPr>
          <p:cNvPr id="44" name="Shape 42"/>
          <p:cNvSpPr/>
          <p:nvPr/>
        </p:nvSpPr>
        <p:spPr>
          <a:xfrm>
            <a:off x="5321808" y="2350008"/>
            <a:ext cx="3547872" cy="786384"/>
          </a:xfrm>
          <a:prstGeom prst="rect">
            <a:avLst/>
          </a:prstGeom>
          <a:solidFill>
            <a:srgbClr val="243B55"/>
          </a:solidFill>
          <a:ln w="12700">
            <a:solidFill>
              <a:srgbClr val="7C3AED"/>
            </a:solidFill>
            <a:prstDash val="solid"/>
          </a:ln>
          <a:effectLst>
            <a:outerShdw blurRad="63500" dist="25400" dir="8100000" algn="bl" rotWithShape="0">
              <a:srgbClr val="000000">
                <a:alpha val="8000"/>
              </a:srgbClr>
            </a:outerShdw>
          </a:effectLst>
        </p:spPr>
        <p:txBody>
          <a:bodyPr/>
          <a:lstStyle/>
          <a:p>
            <a:endParaRPr lang="tr-TR"/>
          </a:p>
        </p:txBody>
      </p:sp>
      <p:sp>
        <p:nvSpPr>
          <p:cNvPr id="45" name="Shape 43"/>
          <p:cNvSpPr/>
          <p:nvPr/>
        </p:nvSpPr>
        <p:spPr>
          <a:xfrm>
            <a:off x="5321808" y="2350008"/>
            <a:ext cx="54864" cy="786384"/>
          </a:xfrm>
          <a:prstGeom prst="rect">
            <a:avLst/>
          </a:prstGeom>
          <a:solidFill>
            <a:srgbClr val="7C3AED"/>
          </a:solidFill>
          <a:ln w="12700">
            <a:solidFill>
              <a:srgbClr val="7C3AED"/>
            </a:solidFill>
            <a:prstDash val="solid"/>
          </a:ln>
        </p:spPr>
        <p:txBody>
          <a:bodyPr/>
          <a:lstStyle/>
          <a:p>
            <a:endParaRPr lang="tr-TR"/>
          </a:p>
        </p:txBody>
      </p:sp>
      <p:sp>
        <p:nvSpPr>
          <p:cNvPr id="46" name="Text 44"/>
          <p:cNvSpPr/>
          <p:nvPr/>
        </p:nvSpPr>
        <p:spPr>
          <a:xfrm>
            <a:off x="5431536" y="2404872"/>
            <a:ext cx="1005840" cy="256032"/>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Sigmoid</a:t>
            </a:r>
            <a:endParaRPr lang="en-US" sz="1200" dirty="0"/>
          </a:p>
        </p:txBody>
      </p:sp>
      <p:sp>
        <p:nvSpPr>
          <p:cNvPr id="47" name="Shape 45"/>
          <p:cNvSpPr/>
          <p:nvPr/>
        </p:nvSpPr>
        <p:spPr>
          <a:xfrm>
            <a:off x="6473952" y="2404872"/>
            <a:ext cx="2304288" cy="256032"/>
          </a:xfrm>
          <a:prstGeom prst="rect">
            <a:avLst/>
          </a:prstGeom>
          <a:solidFill>
            <a:srgbClr val="1B2F4A"/>
          </a:solidFill>
          <a:ln w="12700">
            <a:solidFill>
              <a:srgbClr val="1B2F4A"/>
            </a:solidFill>
            <a:prstDash val="solid"/>
          </a:ln>
        </p:spPr>
        <p:txBody>
          <a:bodyPr/>
          <a:lstStyle/>
          <a:p>
            <a:endParaRPr lang="tr-TR"/>
          </a:p>
        </p:txBody>
      </p:sp>
      <p:sp>
        <p:nvSpPr>
          <p:cNvPr id="48" name="Text 46"/>
          <p:cNvSpPr/>
          <p:nvPr/>
        </p:nvSpPr>
        <p:spPr>
          <a:xfrm>
            <a:off x="6492240" y="2404872"/>
            <a:ext cx="2267712" cy="256032"/>
          </a:xfrm>
          <a:prstGeom prst="rect">
            <a:avLst/>
          </a:prstGeom>
          <a:noFill/>
          <a:ln/>
        </p:spPr>
        <p:txBody>
          <a:bodyPr wrap="square" lIns="25400" tIns="25400" rIns="25400" bIns="2540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1/(1+e⁻ˣ)</a:t>
            </a:r>
            <a:endParaRPr lang="en-US" sz="1000" dirty="0"/>
          </a:p>
        </p:txBody>
      </p:sp>
      <p:sp>
        <p:nvSpPr>
          <p:cNvPr id="49" name="Text 47"/>
          <p:cNvSpPr/>
          <p:nvPr/>
        </p:nvSpPr>
        <p:spPr>
          <a:xfrm>
            <a:off x="5431536" y="2697480"/>
            <a:ext cx="3310128" cy="384048"/>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Aralık: (0, 1)  ·  İkili sınıflandırma çıkışı. Olasılık yorumu kolay.</a:t>
            </a:r>
            <a:endParaRPr lang="en-US" sz="850" dirty="0"/>
          </a:p>
        </p:txBody>
      </p:sp>
      <p:sp>
        <p:nvSpPr>
          <p:cNvPr id="50" name="Shape 48"/>
          <p:cNvSpPr/>
          <p:nvPr/>
        </p:nvSpPr>
        <p:spPr>
          <a:xfrm>
            <a:off x="5321808" y="3236976"/>
            <a:ext cx="3547872" cy="786384"/>
          </a:xfrm>
          <a:prstGeom prst="rect">
            <a:avLst/>
          </a:prstGeom>
          <a:solidFill>
            <a:srgbClr val="243B55"/>
          </a:solidFill>
          <a:ln w="12700">
            <a:solidFill>
              <a:srgbClr val="059669"/>
            </a:solidFill>
            <a:prstDash val="solid"/>
          </a:ln>
          <a:effectLst>
            <a:outerShdw blurRad="63500" dist="25400" dir="8100000" algn="bl" rotWithShape="0">
              <a:srgbClr val="000000">
                <a:alpha val="8000"/>
              </a:srgbClr>
            </a:outerShdw>
          </a:effectLst>
        </p:spPr>
        <p:txBody>
          <a:bodyPr/>
          <a:lstStyle/>
          <a:p>
            <a:endParaRPr lang="tr-TR"/>
          </a:p>
        </p:txBody>
      </p:sp>
      <p:sp>
        <p:nvSpPr>
          <p:cNvPr id="51" name="Shape 49"/>
          <p:cNvSpPr/>
          <p:nvPr/>
        </p:nvSpPr>
        <p:spPr>
          <a:xfrm>
            <a:off x="5321808" y="3236976"/>
            <a:ext cx="54864" cy="786384"/>
          </a:xfrm>
          <a:prstGeom prst="rect">
            <a:avLst/>
          </a:prstGeom>
          <a:solidFill>
            <a:srgbClr val="059669"/>
          </a:solidFill>
          <a:ln w="12700">
            <a:solidFill>
              <a:srgbClr val="059669"/>
            </a:solidFill>
            <a:prstDash val="solid"/>
          </a:ln>
        </p:spPr>
        <p:txBody>
          <a:bodyPr/>
          <a:lstStyle/>
          <a:p>
            <a:endParaRPr lang="tr-TR"/>
          </a:p>
        </p:txBody>
      </p:sp>
      <p:sp>
        <p:nvSpPr>
          <p:cNvPr id="52" name="Text 50"/>
          <p:cNvSpPr/>
          <p:nvPr/>
        </p:nvSpPr>
        <p:spPr>
          <a:xfrm>
            <a:off x="5431536" y="3291840"/>
            <a:ext cx="1005840" cy="256032"/>
          </a:xfrm>
          <a:prstGeom prst="rect">
            <a:avLst/>
          </a:prstGeom>
          <a:noFill/>
          <a:ln/>
        </p:spPr>
        <p:txBody>
          <a:bodyPr wrap="square" lIns="0" tIns="0" rIns="0" bIns="0"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Tanh</a:t>
            </a:r>
            <a:endParaRPr lang="en-US" sz="1200" dirty="0"/>
          </a:p>
        </p:txBody>
      </p:sp>
      <p:sp>
        <p:nvSpPr>
          <p:cNvPr id="53" name="Shape 51"/>
          <p:cNvSpPr/>
          <p:nvPr/>
        </p:nvSpPr>
        <p:spPr>
          <a:xfrm>
            <a:off x="6473952" y="3291840"/>
            <a:ext cx="2304288" cy="256032"/>
          </a:xfrm>
          <a:prstGeom prst="rect">
            <a:avLst/>
          </a:prstGeom>
          <a:solidFill>
            <a:srgbClr val="1B2F4A"/>
          </a:solidFill>
          <a:ln w="12700">
            <a:solidFill>
              <a:srgbClr val="1B2F4A"/>
            </a:solidFill>
            <a:prstDash val="solid"/>
          </a:ln>
        </p:spPr>
        <p:txBody>
          <a:bodyPr/>
          <a:lstStyle/>
          <a:p>
            <a:endParaRPr lang="tr-TR"/>
          </a:p>
        </p:txBody>
      </p:sp>
      <p:sp>
        <p:nvSpPr>
          <p:cNvPr id="54" name="Text 52"/>
          <p:cNvSpPr/>
          <p:nvPr/>
        </p:nvSpPr>
        <p:spPr>
          <a:xfrm>
            <a:off x="6492240" y="3291840"/>
            <a:ext cx="2267712" cy="256032"/>
          </a:xfrm>
          <a:prstGeom prst="rect">
            <a:avLst/>
          </a:prstGeom>
          <a:noFill/>
          <a:ln/>
        </p:spPr>
        <p:txBody>
          <a:bodyPr wrap="square" lIns="25400" tIns="25400" rIns="25400" bIns="2540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(eˣ−e⁻ˣ)/(eˣ+e⁻ˣ)</a:t>
            </a:r>
            <a:endParaRPr lang="en-US" sz="1000" dirty="0"/>
          </a:p>
        </p:txBody>
      </p:sp>
      <p:sp>
        <p:nvSpPr>
          <p:cNvPr id="55" name="Text 53"/>
          <p:cNvSpPr/>
          <p:nvPr/>
        </p:nvSpPr>
        <p:spPr>
          <a:xfrm>
            <a:off x="5431536" y="3584448"/>
            <a:ext cx="3310128" cy="384048"/>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Aralık: (−1, 1)  ·  Gizli katmanlar. Sıfır merkezli → sigmoid'den iyi.</a:t>
            </a:r>
            <a:endParaRPr lang="en-US" sz="850" dirty="0"/>
          </a:p>
        </p:txBody>
      </p:sp>
      <p:sp>
        <p:nvSpPr>
          <p:cNvPr id="56" name="Shape 54"/>
          <p:cNvSpPr/>
          <p:nvPr/>
        </p:nvSpPr>
        <p:spPr>
          <a:xfrm>
            <a:off x="5321808" y="4123944"/>
            <a:ext cx="3547872" cy="786384"/>
          </a:xfrm>
          <a:prstGeom prst="rect">
            <a:avLst/>
          </a:prstGeom>
          <a:solidFill>
            <a:srgbClr val="243B55"/>
          </a:solidFill>
          <a:ln w="12700">
            <a:solidFill>
              <a:srgbClr val="F59E0B"/>
            </a:solidFill>
            <a:prstDash val="solid"/>
          </a:ln>
          <a:effectLst>
            <a:outerShdw blurRad="63500" dist="25400" dir="8100000" algn="bl" rotWithShape="0">
              <a:srgbClr val="000000">
                <a:alpha val="8000"/>
              </a:srgbClr>
            </a:outerShdw>
          </a:effectLst>
        </p:spPr>
        <p:txBody>
          <a:bodyPr/>
          <a:lstStyle/>
          <a:p>
            <a:endParaRPr lang="tr-TR"/>
          </a:p>
        </p:txBody>
      </p:sp>
      <p:sp>
        <p:nvSpPr>
          <p:cNvPr id="57" name="Shape 55"/>
          <p:cNvSpPr/>
          <p:nvPr/>
        </p:nvSpPr>
        <p:spPr>
          <a:xfrm>
            <a:off x="5321808" y="4123944"/>
            <a:ext cx="54864" cy="786384"/>
          </a:xfrm>
          <a:prstGeom prst="rect">
            <a:avLst/>
          </a:prstGeom>
          <a:solidFill>
            <a:srgbClr val="F59E0B"/>
          </a:solidFill>
          <a:ln w="12700">
            <a:solidFill>
              <a:srgbClr val="F59E0B"/>
            </a:solidFill>
            <a:prstDash val="solid"/>
          </a:ln>
        </p:spPr>
        <p:txBody>
          <a:bodyPr/>
          <a:lstStyle/>
          <a:p>
            <a:endParaRPr lang="tr-TR"/>
          </a:p>
        </p:txBody>
      </p:sp>
      <p:sp>
        <p:nvSpPr>
          <p:cNvPr id="58" name="Text 56"/>
          <p:cNvSpPr/>
          <p:nvPr/>
        </p:nvSpPr>
        <p:spPr>
          <a:xfrm>
            <a:off x="5431536" y="4178808"/>
            <a:ext cx="1005840" cy="25603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Softmax</a:t>
            </a:r>
            <a:endParaRPr lang="en-US" sz="1200" dirty="0"/>
          </a:p>
        </p:txBody>
      </p:sp>
      <p:sp>
        <p:nvSpPr>
          <p:cNvPr id="59" name="Shape 57"/>
          <p:cNvSpPr/>
          <p:nvPr/>
        </p:nvSpPr>
        <p:spPr>
          <a:xfrm>
            <a:off x="6473952" y="4178808"/>
            <a:ext cx="2304288" cy="256032"/>
          </a:xfrm>
          <a:prstGeom prst="rect">
            <a:avLst/>
          </a:prstGeom>
          <a:solidFill>
            <a:srgbClr val="1B2F4A"/>
          </a:solidFill>
          <a:ln w="12700">
            <a:solidFill>
              <a:srgbClr val="1B2F4A"/>
            </a:solidFill>
            <a:prstDash val="solid"/>
          </a:ln>
        </p:spPr>
        <p:txBody>
          <a:bodyPr/>
          <a:lstStyle/>
          <a:p>
            <a:endParaRPr lang="tr-TR"/>
          </a:p>
        </p:txBody>
      </p:sp>
      <p:sp>
        <p:nvSpPr>
          <p:cNvPr id="60" name="Text 58"/>
          <p:cNvSpPr/>
          <p:nvPr/>
        </p:nvSpPr>
        <p:spPr>
          <a:xfrm>
            <a:off x="6492240" y="4178808"/>
            <a:ext cx="2267712" cy="256032"/>
          </a:xfrm>
          <a:prstGeom prst="rect">
            <a:avLst/>
          </a:prstGeom>
          <a:noFill/>
          <a:ln/>
        </p:spPr>
        <p:txBody>
          <a:bodyPr wrap="square" lIns="25400" tIns="25400" rIns="25400" bIns="2540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eˣᵢ / Σeˣⱼ</a:t>
            </a:r>
            <a:endParaRPr lang="en-US" sz="1000" dirty="0"/>
          </a:p>
        </p:txBody>
      </p:sp>
      <p:sp>
        <p:nvSpPr>
          <p:cNvPr id="61" name="Text 59"/>
          <p:cNvSpPr/>
          <p:nvPr/>
        </p:nvSpPr>
        <p:spPr>
          <a:xfrm>
            <a:off x="5431536" y="4471416"/>
            <a:ext cx="3310128" cy="384048"/>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Aralık: (0, 1), Σ=1  ·  Çok sınıflı sınıflandırma çıktısı. Olasılık dağılımı.</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1B2F4A"/>
          </a:solidFill>
          <a:ln w="12700">
            <a:solidFill>
              <a:srgbClr val="1B2F4A"/>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03 — CNN</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Evrişimsel Sinir Ağları (CNN) — Mimari Genel Bakış</a:t>
            </a:r>
            <a:endParaRPr lang="en-US" sz="2600" dirty="0"/>
          </a:p>
        </p:txBody>
      </p:sp>
      <p:sp>
        <p:nvSpPr>
          <p:cNvPr id="5" name="Shape 3"/>
          <p:cNvSpPr/>
          <p:nvPr/>
        </p:nvSpPr>
        <p:spPr>
          <a:xfrm>
            <a:off x="365760" y="1024128"/>
            <a:ext cx="137160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20040" y="1115568"/>
            <a:ext cx="548640" cy="2103120"/>
          </a:xfrm>
          <a:prstGeom prst="rect">
            <a:avLst/>
          </a:prstGeom>
          <a:solidFill>
            <a:srgbClr val="7C3AED">
              <a:alpha val="85000"/>
            </a:srgbClr>
          </a:solidFill>
          <a:ln w="12700">
            <a:solidFill>
              <a:srgbClr val="7C3AED"/>
            </a:solidFill>
            <a:prstDash val="solid"/>
          </a:ln>
          <a:effectLst>
            <a:outerShdw blurRad="63500" dist="25400" dir="8100000" algn="bl" rotWithShape="0">
              <a:srgbClr val="000000">
                <a:alpha val="8000"/>
              </a:srgbClr>
            </a:outerShdw>
          </a:effectLst>
        </p:spPr>
        <p:txBody>
          <a:bodyPr/>
          <a:lstStyle/>
          <a:p>
            <a:endParaRPr lang="tr-TR"/>
          </a:p>
        </p:txBody>
      </p:sp>
      <p:sp>
        <p:nvSpPr>
          <p:cNvPr id="7" name="Text 5"/>
          <p:cNvSpPr/>
          <p:nvPr/>
        </p:nvSpPr>
        <p:spPr>
          <a:xfrm>
            <a:off x="320040" y="1170432"/>
            <a:ext cx="548640" cy="1993392"/>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Giriş</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Görüntüsü</a:t>
            </a:r>
            <a:endParaRPr lang="en-US" sz="800" dirty="0"/>
          </a:p>
        </p:txBody>
      </p:sp>
      <p:sp>
        <p:nvSpPr>
          <p:cNvPr id="8" name="Text 6"/>
          <p:cNvSpPr/>
          <p:nvPr/>
        </p:nvSpPr>
        <p:spPr>
          <a:xfrm>
            <a:off x="182880" y="3310128"/>
            <a:ext cx="822960" cy="475488"/>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3D tensör</a:t>
            </a:r>
            <a:endParaRPr lang="en-US" sz="750" dirty="0"/>
          </a:p>
          <a:p>
            <a:pPr marL="0" indent="0" algn="ctr">
              <a:buNone/>
            </a:pPr>
            <a:r>
              <a:rPr lang="en-US" sz="750" i="1" dirty="0">
                <a:solidFill>
                  <a:srgbClr val="475569"/>
                </a:solidFill>
                <a:latin typeface="Calibri" pitchFamily="34" charset="0"/>
                <a:ea typeface="Calibri" pitchFamily="34" charset="-122"/>
                <a:cs typeface="Calibri" pitchFamily="34" charset="-120"/>
              </a:rPr>
              <a:t>(H×W×C)</a:t>
            </a:r>
            <a:endParaRPr lang="en-US" sz="750" dirty="0"/>
          </a:p>
        </p:txBody>
      </p:sp>
      <p:sp>
        <p:nvSpPr>
          <p:cNvPr id="9" name="Shape 7"/>
          <p:cNvSpPr/>
          <p:nvPr/>
        </p:nvSpPr>
        <p:spPr>
          <a:xfrm>
            <a:off x="868680" y="2148840"/>
            <a:ext cx="201168" cy="36576"/>
          </a:xfrm>
          <a:prstGeom prst="rect">
            <a:avLst/>
          </a:prstGeom>
          <a:solidFill>
            <a:srgbClr val="64748B"/>
          </a:solidFill>
          <a:ln w="12700">
            <a:solidFill>
              <a:srgbClr val="64748B"/>
            </a:solidFill>
            <a:prstDash val="solid"/>
          </a:ln>
        </p:spPr>
        <p:txBody>
          <a:bodyPr/>
          <a:lstStyle/>
          <a:p>
            <a:endParaRPr lang="tr-TR"/>
          </a:p>
        </p:txBody>
      </p:sp>
      <p:sp>
        <p:nvSpPr>
          <p:cNvPr id="10" name="Shape 8"/>
          <p:cNvSpPr/>
          <p:nvPr/>
        </p:nvSpPr>
        <p:spPr>
          <a:xfrm>
            <a:off x="1069848" y="1115568"/>
            <a:ext cx="621792" cy="2103120"/>
          </a:xfrm>
          <a:prstGeom prst="rect">
            <a:avLst/>
          </a:prstGeom>
          <a:solidFill>
            <a:srgbClr val="0891B2">
              <a:alpha val="85000"/>
            </a:srgbClr>
          </a:solidFill>
          <a:ln w="12700">
            <a:solidFill>
              <a:srgbClr val="0891B2"/>
            </a:solidFill>
            <a:prstDash val="solid"/>
          </a:ln>
          <a:effectLst>
            <a:outerShdw blurRad="63500" dist="25400" dir="8100000" algn="bl" rotWithShape="0">
              <a:srgbClr val="000000">
                <a:alpha val="8000"/>
              </a:srgbClr>
            </a:outerShdw>
          </a:effectLst>
        </p:spPr>
        <p:txBody>
          <a:bodyPr/>
          <a:lstStyle/>
          <a:p>
            <a:endParaRPr lang="tr-TR"/>
          </a:p>
        </p:txBody>
      </p:sp>
      <p:sp>
        <p:nvSpPr>
          <p:cNvPr id="11" name="Text 9"/>
          <p:cNvSpPr/>
          <p:nvPr/>
        </p:nvSpPr>
        <p:spPr>
          <a:xfrm>
            <a:off x="1069848" y="1170432"/>
            <a:ext cx="621792" cy="1993392"/>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Evrişim</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Katmanı 1</a:t>
            </a:r>
            <a:endParaRPr lang="en-US" sz="800" dirty="0"/>
          </a:p>
        </p:txBody>
      </p:sp>
      <p:sp>
        <p:nvSpPr>
          <p:cNvPr id="12" name="Text 10"/>
          <p:cNvSpPr/>
          <p:nvPr/>
        </p:nvSpPr>
        <p:spPr>
          <a:xfrm>
            <a:off x="932688" y="3310128"/>
            <a:ext cx="896112" cy="475488"/>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Filtreler</a:t>
            </a:r>
            <a:endParaRPr lang="en-US" sz="750" dirty="0"/>
          </a:p>
          <a:p>
            <a:pPr marL="0" indent="0" algn="ctr">
              <a:buNone/>
            </a:pPr>
            <a:r>
              <a:rPr lang="en-US" sz="750" i="1" dirty="0">
                <a:solidFill>
                  <a:srgbClr val="475569"/>
                </a:solidFill>
                <a:latin typeface="Calibri" pitchFamily="34" charset="0"/>
                <a:ea typeface="Calibri" pitchFamily="34" charset="-122"/>
                <a:cs typeface="Calibri" pitchFamily="34" charset="-120"/>
              </a:rPr>
              <a:t>öznitelik haritası</a:t>
            </a:r>
            <a:endParaRPr lang="en-US" sz="750" dirty="0"/>
          </a:p>
        </p:txBody>
      </p:sp>
      <p:sp>
        <p:nvSpPr>
          <p:cNvPr id="13" name="Shape 11"/>
          <p:cNvSpPr/>
          <p:nvPr/>
        </p:nvSpPr>
        <p:spPr>
          <a:xfrm>
            <a:off x="1691640" y="2148840"/>
            <a:ext cx="201168" cy="36576"/>
          </a:xfrm>
          <a:prstGeom prst="rect">
            <a:avLst/>
          </a:prstGeom>
          <a:solidFill>
            <a:srgbClr val="64748B"/>
          </a:solidFill>
          <a:ln w="12700">
            <a:solidFill>
              <a:srgbClr val="64748B"/>
            </a:solidFill>
            <a:prstDash val="solid"/>
          </a:ln>
        </p:spPr>
        <p:txBody>
          <a:bodyPr/>
          <a:lstStyle/>
          <a:p>
            <a:endParaRPr lang="tr-TR"/>
          </a:p>
        </p:txBody>
      </p:sp>
      <p:sp>
        <p:nvSpPr>
          <p:cNvPr id="14" name="Shape 12"/>
          <p:cNvSpPr/>
          <p:nvPr/>
        </p:nvSpPr>
        <p:spPr>
          <a:xfrm>
            <a:off x="1892808" y="1115568"/>
            <a:ext cx="411480" cy="2103120"/>
          </a:xfrm>
          <a:prstGeom prst="rect">
            <a:avLst/>
          </a:prstGeom>
          <a:solidFill>
            <a:srgbClr val="84CC16">
              <a:alpha val="85000"/>
            </a:srgbClr>
          </a:solidFill>
          <a:ln w="12700">
            <a:solidFill>
              <a:srgbClr val="84CC16"/>
            </a:solidFill>
            <a:prstDash val="solid"/>
          </a:ln>
          <a:effectLst>
            <a:outerShdw blurRad="63500" dist="25400" dir="8100000" algn="bl" rotWithShape="0">
              <a:srgbClr val="000000">
                <a:alpha val="8000"/>
              </a:srgbClr>
            </a:outerShdw>
          </a:effectLst>
        </p:spPr>
        <p:txBody>
          <a:bodyPr/>
          <a:lstStyle/>
          <a:p>
            <a:endParaRPr lang="tr-TR"/>
          </a:p>
        </p:txBody>
      </p:sp>
      <p:sp>
        <p:nvSpPr>
          <p:cNvPr id="15" name="Text 13"/>
          <p:cNvSpPr/>
          <p:nvPr/>
        </p:nvSpPr>
        <p:spPr>
          <a:xfrm>
            <a:off x="1892808" y="1170432"/>
            <a:ext cx="411480" cy="1993392"/>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ReLU</a:t>
            </a:r>
            <a:endParaRPr lang="en-US" sz="800" dirty="0"/>
          </a:p>
        </p:txBody>
      </p:sp>
      <p:sp>
        <p:nvSpPr>
          <p:cNvPr id="16" name="Text 14"/>
          <p:cNvSpPr/>
          <p:nvPr/>
        </p:nvSpPr>
        <p:spPr>
          <a:xfrm>
            <a:off x="1755648" y="3310128"/>
            <a:ext cx="685800" cy="475488"/>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Doğrusal</a:t>
            </a:r>
            <a:endParaRPr lang="en-US" sz="750" dirty="0"/>
          </a:p>
          <a:p>
            <a:pPr marL="0" indent="0" algn="ctr">
              <a:buNone/>
            </a:pPr>
            <a:r>
              <a:rPr lang="en-US" sz="750" i="1" dirty="0">
                <a:solidFill>
                  <a:srgbClr val="475569"/>
                </a:solidFill>
                <a:latin typeface="Calibri" pitchFamily="34" charset="0"/>
                <a:ea typeface="Calibri" pitchFamily="34" charset="-122"/>
                <a:cs typeface="Calibri" pitchFamily="34" charset="-120"/>
              </a:rPr>
              <a:t>olmayanlık</a:t>
            </a:r>
            <a:endParaRPr lang="en-US" sz="750" dirty="0"/>
          </a:p>
        </p:txBody>
      </p:sp>
      <p:sp>
        <p:nvSpPr>
          <p:cNvPr id="17" name="Shape 15"/>
          <p:cNvSpPr/>
          <p:nvPr/>
        </p:nvSpPr>
        <p:spPr>
          <a:xfrm>
            <a:off x="2304288" y="2148840"/>
            <a:ext cx="201168" cy="36576"/>
          </a:xfrm>
          <a:prstGeom prst="rect">
            <a:avLst/>
          </a:prstGeom>
          <a:solidFill>
            <a:srgbClr val="64748B"/>
          </a:solidFill>
          <a:ln w="12700">
            <a:solidFill>
              <a:srgbClr val="64748B"/>
            </a:solidFill>
            <a:prstDash val="solid"/>
          </a:ln>
        </p:spPr>
        <p:txBody>
          <a:bodyPr/>
          <a:lstStyle/>
          <a:p>
            <a:endParaRPr lang="tr-TR"/>
          </a:p>
        </p:txBody>
      </p:sp>
      <p:sp>
        <p:nvSpPr>
          <p:cNvPr id="18" name="Shape 16"/>
          <p:cNvSpPr/>
          <p:nvPr/>
        </p:nvSpPr>
        <p:spPr>
          <a:xfrm>
            <a:off x="2505456" y="1115568"/>
            <a:ext cx="475488" cy="2103120"/>
          </a:xfrm>
          <a:prstGeom prst="rect">
            <a:avLst/>
          </a:prstGeom>
          <a:solidFill>
            <a:srgbClr val="059669">
              <a:alpha val="85000"/>
            </a:srgbClr>
          </a:solidFill>
          <a:ln w="12700">
            <a:solidFill>
              <a:srgbClr val="059669"/>
            </a:solidFill>
            <a:prstDash val="solid"/>
          </a:ln>
          <a:effectLst>
            <a:outerShdw blurRad="63500" dist="25400" dir="8100000" algn="bl" rotWithShape="0">
              <a:srgbClr val="000000">
                <a:alpha val="8000"/>
              </a:srgbClr>
            </a:outerShdw>
          </a:effectLst>
        </p:spPr>
        <p:txBody>
          <a:bodyPr/>
          <a:lstStyle/>
          <a:p>
            <a:endParaRPr lang="tr-TR"/>
          </a:p>
        </p:txBody>
      </p:sp>
      <p:sp>
        <p:nvSpPr>
          <p:cNvPr id="19" name="Text 17"/>
          <p:cNvSpPr/>
          <p:nvPr/>
        </p:nvSpPr>
        <p:spPr>
          <a:xfrm>
            <a:off x="2505456" y="1170432"/>
            <a:ext cx="475488" cy="1993392"/>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Max</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Pooling</a:t>
            </a:r>
            <a:endParaRPr lang="en-US" sz="800" dirty="0"/>
          </a:p>
        </p:txBody>
      </p:sp>
      <p:sp>
        <p:nvSpPr>
          <p:cNvPr id="20" name="Text 18"/>
          <p:cNvSpPr/>
          <p:nvPr/>
        </p:nvSpPr>
        <p:spPr>
          <a:xfrm>
            <a:off x="2368296" y="3310128"/>
            <a:ext cx="749808" cy="475488"/>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Boyut</a:t>
            </a:r>
            <a:endParaRPr lang="en-US" sz="750" dirty="0"/>
          </a:p>
          <a:p>
            <a:pPr marL="0" indent="0" algn="ctr">
              <a:buNone/>
            </a:pPr>
            <a:r>
              <a:rPr lang="en-US" sz="750" i="1" dirty="0">
                <a:solidFill>
                  <a:srgbClr val="475569"/>
                </a:solidFill>
                <a:latin typeface="Calibri" pitchFamily="34" charset="0"/>
                <a:ea typeface="Calibri" pitchFamily="34" charset="-122"/>
                <a:cs typeface="Calibri" pitchFamily="34" charset="-120"/>
              </a:rPr>
              <a:t>küçültme</a:t>
            </a:r>
            <a:endParaRPr lang="en-US" sz="750" dirty="0"/>
          </a:p>
        </p:txBody>
      </p:sp>
      <p:sp>
        <p:nvSpPr>
          <p:cNvPr id="21" name="Shape 19"/>
          <p:cNvSpPr/>
          <p:nvPr/>
        </p:nvSpPr>
        <p:spPr>
          <a:xfrm>
            <a:off x="2980944" y="2148840"/>
            <a:ext cx="201168" cy="36576"/>
          </a:xfrm>
          <a:prstGeom prst="rect">
            <a:avLst/>
          </a:prstGeom>
          <a:solidFill>
            <a:srgbClr val="64748B"/>
          </a:solidFill>
          <a:ln w="12700">
            <a:solidFill>
              <a:srgbClr val="64748B"/>
            </a:solidFill>
            <a:prstDash val="solid"/>
          </a:ln>
        </p:spPr>
        <p:txBody>
          <a:bodyPr/>
          <a:lstStyle/>
          <a:p>
            <a:endParaRPr lang="tr-TR"/>
          </a:p>
        </p:txBody>
      </p:sp>
      <p:sp>
        <p:nvSpPr>
          <p:cNvPr id="22" name="Shape 20"/>
          <p:cNvSpPr/>
          <p:nvPr/>
        </p:nvSpPr>
        <p:spPr>
          <a:xfrm>
            <a:off x="3182112" y="1115568"/>
            <a:ext cx="621792" cy="2103120"/>
          </a:xfrm>
          <a:prstGeom prst="rect">
            <a:avLst/>
          </a:prstGeom>
          <a:solidFill>
            <a:srgbClr val="0891B2">
              <a:alpha val="85000"/>
            </a:srgbClr>
          </a:solidFill>
          <a:ln w="12700">
            <a:solidFill>
              <a:srgbClr val="0891B2"/>
            </a:solidFill>
            <a:prstDash val="solid"/>
          </a:ln>
          <a:effectLst>
            <a:outerShdw blurRad="63500" dist="25400" dir="8100000" algn="bl" rotWithShape="0">
              <a:srgbClr val="000000">
                <a:alpha val="8000"/>
              </a:srgbClr>
            </a:outerShdw>
          </a:effectLst>
        </p:spPr>
        <p:txBody>
          <a:bodyPr/>
          <a:lstStyle/>
          <a:p>
            <a:endParaRPr lang="tr-TR"/>
          </a:p>
        </p:txBody>
      </p:sp>
      <p:sp>
        <p:nvSpPr>
          <p:cNvPr id="23" name="Text 21"/>
          <p:cNvSpPr/>
          <p:nvPr/>
        </p:nvSpPr>
        <p:spPr>
          <a:xfrm>
            <a:off x="3182112" y="1170432"/>
            <a:ext cx="621792" cy="1993392"/>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Evrişim</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Katmanı 2</a:t>
            </a:r>
            <a:endParaRPr lang="en-US" sz="800" dirty="0"/>
          </a:p>
        </p:txBody>
      </p:sp>
      <p:sp>
        <p:nvSpPr>
          <p:cNvPr id="24" name="Text 22"/>
          <p:cNvSpPr/>
          <p:nvPr/>
        </p:nvSpPr>
        <p:spPr>
          <a:xfrm>
            <a:off x="3044952" y="3310128"/>
            <a:ext cx="896112" cy="475488"/>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Daha derin</a:t>
            </a:r>
            <a:endParaRPr lang="en-US" sz="750" dirty="0"/>
          </a:p>
          <a:p>
            <a:pPr marL="0" indent="0" algn="ctr">
              <a:buNone/>
            </a:pPr>
            <a:r>
              <a:rPr lang="en-US" sz="750" i="1" dirty="0">
                <a:solidFill>
                  <a:srgbClr val="475569"/>
                </a:solidFill>
                <a:latin typeface="Calibri" pitchFamily="34" charset="0"/>
                <a:ea typeface="Calibri" pitchFamily="34" charset="-122"/>
                <a:cs typeface="Calibri" pitchFamily="34" charset="-120"/>
              </a:rPr>
              <a:t>öznitelikler</a:t>
            </a:r>
            <a:endParaRPr lang="en-US" sz="750" dirty="0"/>
          </a:p>
        </p:txBody>
      </p:sp>
      <p:sp>
        <p:nvSpPr>
          <p:cNvPr id="25" name="Shape 23"/>
          <p:cNvSpPr/>
          <p:nvPr/>
        </p:nvSpPr>
        <p:spPr>
          <a:xfrm>
            <a:off x="3803904" y="2148840"/>
            <a:ext cx="201168" cy="36576"/>
          </a:xfrm>
          <a:prstGeom prst="rect">
            <a:avLst/>
          </a:prstGeom>
          <a:solidFill>
            <a:srgbClr val="64748B"/>
          </a:solidFill>
          <a:ln w="12700">
            <a:solidFill>
              <a:srgbClr val="64748B"/>
            </a:solidFill>
            <a:prstDash val="solid"/>
          </a:ln>
        </p:spPr>
        <p:txBody>
          <a:bodyPr/>
          <a:lstStyle/>
          <a:p>
            <a:endParaRPr lang="tr-TR"/>
          </a:p>
        </p:txBody>
      </p:sp>
      <p:sp>
        <p:nvSpPr>
          <p:cNvPr id="26" name="Shape 24"/>
          <p:cNvSpPr/>
          <p:nvPr/>
        </p:nvSpPr>
        <p:spPr>
          <a:xfrm>
            <a:off x="4005072" y="1115568"/>
            <a:ext cx="411480" cy="2103120"/>
          </a:xfrm>
          <a:prstGeom prst="rect">
            <a:avLst/>
          </a:prstGeom>
          <a:solidFill>
            <a:srgbClr val="84CC16">
              <a:alpha val="85000"/>
            </a:srgbClr>
          </a:solidFill>
          <a:ln w="12700">
            <a:solidFill>
              <a:srgbClr val="84CC16"/>
            </a:solidFill>
            <a:prstDash val="solid"/>
          </a:ln>
          <a:effectLst>
            <a:outerShdw blurRad="63500" dist="25400" dir="8100000" algn="bl" rotWithShape="0">
              <a:srgbClr val="000000">
                <a:alpha val="8000"/>
              </a:srgbClr>
            </a:outerShdw>
          </a:effectLst>
        </p:spPr>
        <p:txBody>
          <a:bodyPr/>
          <a:lstStyle/>
          <a:p>
            <a:endParaRPr lang="tr-TR"/>
          </a:p>
        </p:txBody>
      </p:sp>
      <p:sp>
        <p:nvSpPr>
          <p:cNvPr id="27" name="Text 25"/>
          <p:cNvSpPr/>
          <p:nvPr/>
        </p:nvSpPr>
        <p:spPr>
          <a:xfrm>
            <a:off x="4005072" y="1170432"/>
            <a:ext cx="411480" cy="1993392"/>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ReLU</a:t>
            </a:r>
            <a:endParaRPr lang="en-US" sz="800" dirty="0"/>
          </a:p>
        </p:txBody>
      </p:sp>
      <p:sp>
        <p:nvSpPr>
          <p:cNvPr id="28" name="Text 26"/>
          <p:cNvSpPr/>
          <p:nvPr/>
        </p:nvSpPr>
        <p:spPr>
          <a:xfrm>
            <a:off x="3867912" y="3310128"/>
            <a:ext cx="685800" cy="475488"/>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Doğrusal</a:t>
            </a:r>
            <a:endParaRPr lang="en-US" sz="750" dirty="0"/>
          </a:p>
          <a:p>
            <a:pPr marL="0" indent="0" algn="ctr">
              <a:buNone/>
            </a:pPr>
            <a:r>
              <a:rPr lang="en-US" sz="750" i="1" dirty="0">
                <a:solidFill>
                  <a:srgbClr val="475569"/>
                </a:solidFill>
                <a:latin typeface="Calibri" pitchFamily="34" charset="0"/>
                <a:ea typeface="Calibri" pitchFamily="34" charset="-122"/>
                <a:cs typeface="Calibri" pitchFamily="34" charset="-120"/>
              </a:rPr>
              <a:t>olmayanlık</a:t>
            </a:r>
            <a:endParaRPr lang="en-US" sz="750" dirty="0"/>
          </a:p>
        </p:txBody>
      </p:sp>
      <p:sp>
        <p:nvSpPr>
          <p:cNvPr id="29" name="Shape 27"/>
          <p:cNvSpPr/>
          <p:nvPr/>
        </p:nvSpPr>
        <p:spPr>
          <a:xfrm>
            <a:off x="4416552" y="2148840"/>
            <a:ext cx="201168" cy="36576"/>
          </a:xfrm>
          <a:prstGeom prst="rect">
            <a:avLst/>
          </a:prstGeom>
          <a:solidFill>
            <a:srgbClr val="64748B"/>
          </a:solidFill>
          <a:ln w="12700">
            <a:solidFill>
              <a:srgbClr val="64748B"/>
            </a:solidFill>
            <a:prstDash val="solid"/>
          </a:ln>
        </p:spPr>
        <p:txBody>
          <a:bodyPr/>
          <a:lstStyle/>
          <a:p>
            <a:endParaRPr lang="tr-TR"/>
          </a:p>
        </p:txBody>
      </p:sp>
      <p:sp>
        <p:nvSpPr>
          <p:cNvPr id="30" name="Shape 28"/>
          <p:cNvSpPr/>
          <p:nvPr/>
        </p:nvSpPr>
        <p:spPr>
          <a:xfrm>
            <a:off x="4617720" y="1115568"/>
            <a:ext cx="475488" cy="2103120"/>
          </a:xfrm>
          <a:prstGeom prst="rect">
            <a:avLst/>
          </a:prstGeom>
          <a:solidFill>
            <a:srgbClr val="059669">
              <a:alpha val="85000"/>
            </a:srgbClr>
          </a:solidFill>
          <a:ln w="12700">
            <a:solidFill>
              <a:srgbClr val="059669"/>
            </a:solidFill>
            <a:prstDash val="solid"/>
          </a:ln>
          <a:effectLst>
            <a:outerShdw blurRad="63500" dist="25400" dir="8100000" algn="bl" rotWithShape="0">
              <a:srgbClr val="000000">
                <a:alpha val="8000"/>
              </a:srgbClr>
            </a:outerShdw>
          </a:effectLst>
        </p:spPr>
        <p:txBody>
          <a:bodyPr/>
          <a:lstStyle/>
          <a:p>
            <a:endParaRPr lang="tr-TR"/>
          </a:p>
        </p:txBody>
      </p:sp>
      <p:sp>
        <p:nvSpPr>
          <p:cNvPr id="31" name="Text 29"/>
          <p:cNvSpPr/>
          <p:nvPr/>
        </p:nvSpPr>
        <p:spPr>
          <a:xfrm>
            <a:off x="4617720" y="1170432"/>
            <a:ext cx="475488" cy="1993392"/>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Max</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Pooling</a:t>
            </a:r>
            <a:endParaRPr lang="en-US" sz="800" dirty="0"/>
          </a:p>
        </p:txBody>
      </p:sp>
      <p:sp>
        <p:nvSpPr>
          <p:cNvPr id="32" name="Text 30"/>
          <p:cNvSpPr/>
          <p:nvPr/>
        </p:nvSpPr>
        <p:spPr>
          <a:xfrm>
            <a:off x="4480560" y="3310128"/>
            <a:ext cx="749808" cy="475488"/>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Boyut</a:t>
            </a:r>
            <a:endParaRPr lang="en-US" sz="750" dirty="0"/>
          </a:p>
          <a:p>
            <a:pPr marL="0" indent="0" algn="ctr">
              <a:buNone/>
            </a:pPr>
            <a:r>
              <a:rPr lang="en-US" sz="750" i="1" dirty="0">
                <a:solidFill>
                  <a:srgbClr val="475569"/>
                </a:solidFill>
                <a:latin typeface="Calibri" pitchFamily="34" charset="0"/>
                <a:ea typeface="Calibri" pitchFamily="34" charset="-122"/>
                <a:cs typeface="Calibri" pitchFamily="34" charset="-120"/>
              </a:rPr>
              <a:t>küçültme</a:t>
            </a:r>
            <a:endParaRPr lang="en-US" sz="750" dirty="0"/>
          </a:p>
        </p:txBody>
      </p:sp>
      <p:sp>
        <p:nvSpPr>
          <p:cNvPr id="33" name="Shape 31"/>
          <p:cNvSpPr/>
          <p:nvPr/>
        </p:nvSpPr>
        <p:spPr>
          <a:xfrm>
            <a:off x="5093208" y="2148840"/>
            <a:ext cx="201168" cy="36576"/>
          </a:xfrm>
          <a:prstGeom prst="rect">
            <a:avLst/>
          </a:prstGeom>
          <a:solidFill>
            <a:srgbClr val="64748B"/>
          </a:solidFill>
          <a:ln w="12700">
            <a:solidFill>
              <a:srgbClr val="64748B"/>
            </a:solidFill>
            <a:prstDash val="solid"/>
          </a:ln>
        </p:spPr>
        <p:txBody>
          <a:bodyPr/>
          <a:lstStyle/>
          <a:p>
            <a:endParaRPr lang="tr-TR"/>
          </a:p>
        </p:txBody>
      </p:sp>
      <p:sp>
        <p:nvSpPr>
          <p:cNvPr id="34" name="Shape 32"/>
          <p:cNvSpPr/>
          <p:nvPr/>
        </p:nvSpPr>
        <p:spPr>
          <a:xfrm>
            <a:off x="5294376" y="1115568"/>
            <a:ext cx="566928" cy="2103120"/>
          </a:xfrm>
          <a:prstGeom prst="rect">
            <a:avLst/>
          </a:prstGeom>
          <a:solidFill>
            <a:srgbClr val="D97706">
              <a:alpha val="85000"/>
            </a:srgbClr>
          </a:solidFill>
          <a:ln w="12700">
            <a:solidFill>
              <a:srgbClr val="D97706"/>
            </a:solidFill>
            <a:prstDash val="solid"/>
          </a:ln>
          <a:effectLst>
            <a:outerShdw blurRad="63500" dist="25400" dir="8100000" algn="bl" rotWithShape="0">
              <a:srgbClr val="000000">
                <a:alpha val="8000"/>
              </a:srgbClr>
            </a:outerShdw>
          </a:effectLst>
        </p:spPr>
        <p:txBody>
          <a:bodyPr/>
          <a:lstStyle/>
          <a:p>
            <a:endParaRPr lang="tr-TR"/>
          </a:p>
        </p:txBody>
      </p:sp>
      <p:sp>
        <p:nvSpPr>
          <p:cNvPr id="35" name="Text 33"/>
          <p:cNvSpPr/>
          <p:nvPr/>
        </p:nvSpPr>
        <p:spPr>
          <a:xfrm>
            <a:off x="5294376" y="1170432"/>
            <a:ext cx="566928" cy="1993392"/>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Tam</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Bağlantılı</a:t>
            </a:r>
            <a:endParaRPr lang="en-US" sz="800" dirty="0"/>
          </a:p>
        </p:txBody>
      </p:sp>
      <p:sp>
        <p:nvSpPr>
          <p:cNvPr id="36" name="Text 34"/>
          <p:cNvSpPr/>
          <p:nvPr/>
        </p:nvSpPr>
        <p:spPr>
          <a:xfrm>
            <a:off x="5157216" y="3310128"/>
            <a:ext cx="841248" cy="475488"/>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Global</a:t>
            </a:r>
            <a:endParaRPr lang="en-US" sz="750" dirty="0"/>
          </a:p>
          <a:p>
            <a:pPr marL="0" indent="0" algn="ctr">
              <a:buNone/>
            </a:pPr>
            <a:r>
              <a:rPr lang="en-US" sz="750" i="1" dirty="0">
                <a:solidFill>
                  <a:srgbClr val="475569"/>
                </a:solidFill>
                <a:latin typeface="Calibri" pitchFamily="34" charset="0"/>
                <a:ea typeface="Calibri" pitchFamily="34" charset="-122"/>
                <a:cs typeface="Calibri" pitchFamily="34" charset="-120"/>
              </a:rPr>
              <a:t>öznitelik</a:t>
            </a:r>
            <a:endParaRPr lang="en-US" sz="750" dirty="0"/>
          </a:p>
        </p:txBody>
      </p:sp>
      <p:sp>
        <p:nvSpPr>
          <p:cNvPr id="37" name="Shape 35"/>
          <p:cNvSpPr/>
          <p:nvPr/>
        </p:nvSpPr>
        <p:spPr>
          <a:xfrm>
            <a:off x="5861304" y="2148840"/>
            <a:ext cx="201168" cy="36576"/>
          </a:xfrm>
          <a:prstGeom prst="rect">
            <a:avLst/>
          </a:prstGeom>
          <a:solidFill>
            <a:srgbClr val="64748B"/>
          </a:solidFill>
          <a:ln w="12700">
            <a:solidFill>
              <a:srgbClr val="64748B"/>
            </a:solidFill>
            <a:prstDash val="solid"/>
          </a:ln>
        </p:spPr>
        <p:txBody>
          <a:bodyPr/>
          <a:lstStyle/>
          <a:p>
            <a:endParaRPr lang="tr-TR"/>
          </a:p>
        </p:txBody>
      </p:sp>
      <p:sp>
        <p:nvSpPr>
          <p:cNvPr id="38" name="Shape 36"/>
          <p:cNvSpPr/>
          <p:nvPr/>
        </p:nvSpPr>
        <p:spPr>
          <a:xfrm>
            <a:off x="6062472" y="1115568"/>
            <a:ext cx="502920" cy="2103120"/>
          </a:xfrm>
          <a:prstGeom prst="rect">
            <a:avLst/>
          </a:prstGeom>
          <a:solidFill>
            <a:srgbClr val="EF4444">
              <a:alpha val="85000"/>
            </a:srgbClr>
          </a:solidFill>
          <a:ln w="12700">
            <a:solidFill>
              <a:srgbClr val="EF4444"/>
            </a:solidFill>
            <a:prstDash val="solid"/>
          </a:ln>
          <a:effectLst>
            <a:outerShdw blurRad="63500" dist="25400" dir="8100000" algn="bl" rotWithShape="0">
              <a:srgbClr val="000000">
                <a:alpha val="8000"/>
              </a:srgbClr>
            </a:outerShdw>
          </a:effectLst>
        </p:spPr>
        <p:txBody>
          <a:bodyPr/>
          <a:lstStyle/>
          <a:p>
            <a:endParaRPr lang="tr-TR"/>
          </a:p>
        </p:txBody>
      </p:sp>
      <p:sp>
        <p:nvSpPr>
          <p:cNvPr id="39" name="Text 37"/>
          <p:cNvSpPr/>
          <p:nvPr/>
        </p:nvSpPr>
        <p:spPr>
          <a:xfrm>
            <a:off x="6062472" y="1170432"/>
            <a:ext cx="502920" cy="1993392"/>
          </a:xfrm>
          <a:prstGeom prst="rect">
            <a:avLst/>
          </a:prstGeom>
          <a:noFill/>
          <a:ln/>
        </p:spPr>
        <p:txBody>
          <a:bodyPr wrap="square" lIns="25400" tIns="25400" rIns="25400" bIns="2540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Çıkış</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Softmax</a:t>
            </a:r>
            <a:endParaRPr lang="en-US" sz="800" dirty="0"/>
          </a:p>
        </p:txBody>
      </p:sp>
      <p:sp>
        <p:nvSpPr>
          <p:cNvPr id="40" name="Text 38"/>
          <p:cNvSpPr/>
          <p:nvPr/>
        </p:nvSpPr>
        <p:spPr>
          <a:xfrm>
            <a:off x="5925312" y="3310128"/>
            <a:ext cx="777240" cy="475488"/>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Sınıf</a:t>
            </a:r>
            <a:endParaRPr lang="en-US" sz="750" dirty="0"/>
          </a:p>
          <a:p>
            <a:pPr marL="0" indent="0" algn="ctr">
              <a:buNone/>
            </a:pPr>
            <a:r>
              <a:rPr lang="en-US" sz="750" i="1" dirty="0">
                <a:solidFill>
                  <a:srgbClr val="475569"/>
                </a:solidFill>
                <a:latin typeface="Calibri" pitchFamily="34" charset="0"/>
                <a:ea typeface="Calibri" pitchFamily="34" charset="-122"/>
                <a:cs typeface="Calibri" pitchFamily="34" charset="-120"/>
              </a:rPr>
              <a:t>olasılıkları</a:t>
            </a:r>
            <a:endParaRPr lang="en-US" sz="750" dirty="0"/>
          </a:p>
        </p:txBody>
      </p:sp>
      <p:sp>
        <p:nvSpPr>
          <p:cNvPr id="41" name="Text 39"/>
          <p:cNvSpPr/>
          <p:nvPr/>
        </p:nvSpPr>
        <p:spPr>
          <a:xfrm>
            <a:off x="365760" y="3913632"/>
            <a:ext cx="841248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Temel Hiper-Parametreler</a:t>
            </a:r>
            <a:endParaRPr lang="en-US" sz="1200" dirty="0"/>
          </a:p>
        </p:txBody>
      </p:sp>
      <p:sp>
        <p:nvSpPr>
          <p:cNvPr id="42" name="Shape 40"/>
          <p:cNvSpPr/>
          <p:nvPr/>
        </p:nvSpPr>
        <p:spPr>
          <a:xfrm>
            <a:off x="365760" y="4251960"/>
            <a:ext cx="2029968" cy="749808"/>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3" name="Shape 41"/>
          <p:cNvSpPr/>
          <p:nvPr/>
        </p:nvSpPr>
        <p:spPr>
          <a:xfrm>
            <a:off x="365760" y="4251960"/>
            <a:ext cx="64008" cy="749808"/>
          </a:xfrm>
          <a:prstGeom prst="rect">
            <a:avLst/>
          </a:prstGeom>
          <a:solidFill>
            <a:srgbClr val="0891B2"/>
          </a:solidFill>
          <a:ln w="12700">
            <a:solidFill>
              <a:srgbClr val="0891B2"/>
            </a:solidFill>
            <a:prstDash val="solid"/>
          </a:ln>
        </p:spPr>
        <p:txBody>
          <a:bodyPr/>
          <a:lstStyle/>
          <a:p>
            <a:endParaRPr lang="tr-TR"/>
          </a:p>
        </p:txBody>
      </p:sp>
      <p:sp>
        <p:nvSpPr>
          <p:cNvPr id="44" name="Text 42"/>
          <p:cNvSpPr/>
          <p:nvPr/>
        </p:nvSpPr>
        <p:spPr>
          <a:xfrm>
            <a:off x="493776" y="4334256"/>
            <a:ext cx="1828800" cy="27432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Çekirdek Boyutu (N)</a:t>
            </a:r>
            <a:endParaRPr lang="en-US" sz="1100" dirty="0"/>
          </a:p>
        </p:txBody>
      </p:sp>
      <p:sp>
        <p:nvSpPr>
          <p:cNvPr id="45" name="Text 43"/>
          <p:cNvSpPr/>
          <p:nvPr/>
        </p:nvSpPr>
        <p:spPr>
          <a:xfrm>
            <a:off x="493776" y="4654296"/>
            <a:ext cx="1828800"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Her filtrenin yerel alım alanı penceresi. Tipik değerler: 3×3, 5×5, 7×7. Küçük filtreler derin yığımda kullanılır (VGG).</a:t>
            </a:r>
            <a:endParaRPr lang="en-US" sz="950" dirty="0"/>
          </a:p>
        </p:txBody>
      </p:sp>
      <p:sp>
        <p:nvSpPr>
          <p:cNvPr id="46" name="Shape 44"/>
          <p:cNvSpPr/>
          <p:nvPr/>
        </p:nvSpPr>
        <p:spPr>
          <a:xfrm>
            <a:off x="2560320" y="4251960"/>
            <a:ext cx="2029968" cy="749808"/>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7" name="Shape 45"/>
          <p:cNvSpPr/>
          <p:nvPr/>
        </p:nvSpPr>
        <p:spPr>
          <a:xfrm>
            <a:off x="2560320" y="4251960"/>
            <a:ext cx="64008" cy="749808"/>
          </a:xfrm>
          <a:prstGeom prst="rect">
            <a:avLst/>
          </a:prstGeom>
          <a:solidFill>
            <a:srgbClr val="7C3AED"/>
          </a:solidFill>
          <a:ln w="12700">
            <a:solidFill>
              <a:srgbClr val="7C3AED"/>
            </a:solidFill>
            <a:prstDash val="solid"/>
          </a:ln>
        </p:spPr>
        <p:txBody>
          <a:bodyPr/>
          <a:lstStyle/>
          <a:p>
            <a:endParaRPr lang="tr-TR"/>
          </a:p>
        </p:txBody>
      </p:sp>
      <p:sp>
        <p:nvSpPr>
          <p:cNvPr id="48" name="Text 46"/>
          <p:cNvSpPr/>
          <p:nvPr/>
        </p:nvSpPr>
        <p:spPr>
          <a:xfrm>
            <a:off x="2688336" y="4334256"/>
            <a:ext cx="1828800" cy="274320"/>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Adım (Stride S)</a:t>
            </a:r>
            <a:endParaRPr lang="en-US" sz="1100" dirty="0"/>
          </a:p>
        </p:txBody>
      </p:sp>
      <p:sp>
        <p:nvSpPr>
          <p:cNvPr id="49" name="Text 47"/>
          <p:cNvSpPr/>
          <p:nvPr/>
        </p:nvSpPr>
        <p:spPr>
          <a:xfrm>
            <a:off x="2688336" y="4654296"/>
            <a:ext cx="1828800"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Çekirdeğin bir sonraki pozisyona kaydırılacağı piksel sayısı. Büyük stride → küçük çıktı haritası → hız.</a:t>
            </a:r>
            <a:endParaRPr lang="en-US" sz="950" dirty="0"/>
          </a:p>
        </p:txBody>
      </p:sp>
      <p:sp>
        <p:nvSpPr>
          <p:cNvPr id="50" name="Shape 48"/>
          <p:cNvSpPr/>
          <p:nvPr/>
        </p:nvSpPr>
        <p:spPr>
          <a:xfrm>
            <a:off x="4754880" y="4251960"/>
            <a:ext cx="2029968" cy="749808"/>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51" name="Shape 49"/>
          <p:cNvSpPr/>
          <p:nvPr/>
        </p:nvSpPr>
        <p:spPr>
          <a:xfrm>
            <a:off x="4754880" y="4251960"/>
            <a:ext cx="64008" cy="749808"/>
          </a:xfrm>
          <a:prstGeom prst="rect">
            <a:avLst/>
          </a:prstGeom>
          <a:solidFill>
            <a:srgbClr val="059669"/>
          </a:solidFill>
          <a:ln w="12700">
            <a:solidFill>
              <a:srgbClr val="059669"/>
            </a:solidFill>
            <a:prstDash val="solid"/>
          </a:ln>
        </p:spPr>
        <p:txBody>
          <a:bodyPr/>
          <a:lstStyle/>
          <a:p>
            <a:endParaRPr lang="tr-TR"/>
          </a:p>
        </p:txBody>
      </p:sp>
      <p:sp>
        <p:nvSpPr>
          <p:cNvPr id="52" name="Text 50"/>
          <p:cNvSpPr/>
          <p:nvPr/>
        </p:nvSpPr>
        <p:spPr>
          <a:xfrm>
            <a:off x="4882896" y="4334256"/>
            <a:ext cx="1828800" cy="274320"/>
          </a:xfrm>
          <a:prstGeom prst="rect">
            <a:avLst/>
          </a:prstGeom>
          <a:noFill/>
          <a:ln/>
        </p:spPr>
        <p:txBody>
          <a:bodyPr wrap="square" lIns="0" tIns="0" rIns="0" bIns="0"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Sıfır Dolgu (Padding P)</a:t>
            </a:r>
            <a:endParaRPr lang="en-US" sz="1100" dirty="0"/>
          </a:p>
        </p:txBody>
      </p:sp>
      <p:sp>
        <p:nvSpPr>
          <p:cNvPr id="53" name="Text 51"/>
          <p:cNvSpPr/>
          <p:nvPr/>
        </p:nvSpPr>
        <p:spPr>
          <a:xfrm>
            <a:off x="4882896" y="4654296"/>
            <a:ext cx="1828800"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Giriş etrafına sıfır eklenerek giriş boyutunun korunması sağlanır. 'Same' padding: Wçıkış = Wgiriş/S.</a:t>
            </a:r>
            <a:endParaRPr lang="en-US" sz="950" dirty="0"/>
          </a:p>
        </p:txBody>
      </p:sp>
      <p:sp>
        <p:nvSpPr>
          <p:cNvPr id="54" name="Shape 52"/>
          <p:cNvSpPr/>
          <p:nvPr/>
        </p:nvSpPr>
        <p:spPr>
          <a:xfrm>
            <a:off x="6949440" y="4251960"/>
            <a:ext cx="2029968" cy="749808"/>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55" name="Shape 53"/>
          <p:cNvSpPr/>
          <p:nvPr/>
        </p:nvSpPr>
        <p:spPr>
          <a:xfrm>
            <a:off x="6949440" y="4251960"/>
            <a:ext cx="64008" cy="749808"/>
          </a:xfrm>
          <a:prstGeom prst="rect">
            <a:avLst/>
          </a:prstGeom>
          <a:solidFill>
            <a:srgbClr val="F59E0B"/>
          </a:solidFill>
          <a:ln w="12700">
            <a:solidFill>
              <a:srgbClr val="F59E0B"/>
            </a:solidFill>
            <a:prstDash val="solid"/>
          </a:ln>
        </p:spPr>
        <p:txBody>
          <a:bodyPr/>
          <a:lstStyle/>
          <a:p>
            <a:endParaRPr lang="tr-TR"/>
          </a:p>
        </p:txBody>
      </p:sp>
      <p:sp>
        <p:nvSpPr>
          <p:cNvPr id="56" name="Text 54"/>
          <p:cNvSpPr/>
          <p:nvPr/>
        </p:nvSpPr>
        <p:spPr>
          <a:xfrm>
            <a:off x="7077456" y="4334256"/>
            <a:ext cx="1828800" cy="27432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Ağırlık Paylaşımı</a:t>
            </a:r>
            <a:endParaRPr lang="en-US" sz="1100" dirty="0"/>
          </a:p>
        </p:txBody>
      </p:sp>
      <p:sp>
        <p:nvSpPr>
          <p:cNvPr id="57" name="Text 55"/>
          <p:cNvSpPr/>
          <p:nvPr/>
        </p:nvSpPr>
        <p:spPr>
          <a:xfrm>
            <a:off x="7077456" y="4654296"/>
            <a:ext cx="1828800"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Aynı filtre tüm konumlara uygulanır. Bu özellik parametre sayısını dramatik biçimde azaltır ve öteleme değişmezliği sağlar.</a:t>
            </a:r>
            <a:endParaRPr lang="en-US" sz="950" dirty="0"/>
          </a:p>
        </p:txBody>
      </p:sp>
      <p:sp>
        <p:nvSpPr>
          <p:cNvPr id="58" name="Text 56"/>
          <p:cNvSpPr/>
          <p:nvPr/>
        </p:nvSpPr>
        <p:spPr>
          <a:xfrm>
            <a:off x="365760" y="5047488"/>
            <a:ext cx="8412480" cy="182880"/>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Kaynak: LeCun et al. (1989, 1998); Goodfellow et al. (2016) Deep Learning, MIT Press.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03 — CNN VARYANTLARİ</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Önemli CNN Varyantları — VGGNet · GoogLeNet · ResNet</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47472" y="1078992"/>
            <a:ext cx="2724912" cy="4005072"/>
          </a:xfrm>
          <a:prstGeom prst="rect">
            <a:avLst/>
          </a:prstGeom>
          <a:solidFill>
            <a:srgbClr val="243B55"/>
          </a:solidFill>
          <a:ln w="12700">
            <a:solidFill>
              <a:srgbClr val="7C3AED"/>
            </a:solidFill>
            <a:prstDash val="solid"/>
          </a:ln>
          <a:effectLst>
            <a:outerShdw blurRad="127000" dist="50800" dir="8100000" algn="bl" rotWithShape="0">
              <a:srgbClr val="000000">
                <a:alpha val="12000"/>
              </a:srgbClr>
            </a:outerShdw>
          </a:effectLst>
        </p:spPr>
        <p:txBody>
          <a:bodyPr/>
          <a:lstStyle/>
          <a:p>
            <a:endParaRPr lang="tr-TR"/>
          </a:p>
        </p:txBody>
      </p:sp>
      <p:sp>
        <p:nvSpPr>
          <p:cNvPr id="7" name="Shape 5"/>
          <p:cNvSpPr/>
          <p:nvPr/>
        </p:nvSpPr>
        <p:spPr>
          <a:xfrm>
            <a:off x="347472" y="1078992"/>
            <a:ext cx="2724912" cy="475488"/>
          </a:xfrm>
          <a:prstGeom prst="rect">
            <a:avLst/>
          </a:prstGeom>
          <a:solidFill>
            <a:srgbClr val="7C3AED"/>
          </a:solidFill>
          <a:ln w="12700">
            <a:solidFill>
              <a:srgbClr val="7C3AED"/>
            </a:solidFill>
            <a:prstDash val="solid"/>
          </a:ln>
        </p:spPr>
        <p:txBody>
          <a:bodyPr/>
          <a:lstStyle/>
          <a:p>
            <a:endParaRPr lang="tr-TR"/>
          </a:p>
        </p:txBody>
      </p:sp>
      <p:sp>
        <p:nvSpPr>
          <p:cNvPr id="8" name="Text 6"/>
          <p:cNvSpPr/>
          <p:nvPr/>
        </p:nvSpPr>
        <p:spPr>
          <a:xfrm>
            <a:off x="438912" y="1078992"/>
            <a:ext cx="2560320" cy="47548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VGGNet (2014)</a:t>
            </a:r>
            <a:endParaRPr lang="en-US" sz="1200" dirty="0"/>
          </a:p>
        </p:txBody>
      </p:sp>
      <p:sp>
        <p:nvSpPr>
          <p:cNvPr id="9" name="Text 7"/>
          <p:cNvSpPr/>
          <p:nvPr/>
        </p:nvSpPr>
        <p:spPr>
          <a:xfrm>
            <a:off x="438912" y="1609344"/>
            <a:ext cx="2542032" cy="237744"/>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 Oxford VGG Grubu + Google DeepMind</a:t>
            </a:r>
            <a:endParaRPr lang="en-US" sz="850" dirty="0"/>
          </a:p>
        </p:txBody>
      </p:sp>
      <p:sp>
        <p:nvSpPr>
          <p:cNvPr id="10" name="Shape 8"/>
          <p:cNvSpPr/>
          <p:nvPr/>
        </p:nvSpPr>
        <p:spPr>
          <a:xfrm>
            <a:off x="438912" y="1874520"/>
            <a:ext cx="2542032" cy="256032"/>
          </a:xfrm>
          <a:prstGeom prst="rect">
            <a:avLst/>
          </a:prstGeom>
          <a:solidFill>
            <a:srgbClr val="7C3AED">
              <a:alpha val="30000"/>
            </a:srgbClr>
          </a:solidFill>
          <a:ln w="12700">
            <a:solidFill>
              <a:srgbClr val="7C3AED"/>
            </a:solidFill>
            <a:prstDash val="solid"/>
          </a:ln>
        </p:spPr>
        <p:txBody>
          <a:bodyPr/>
          <a:lstStyle/>
          <a:p>
            <a:endParaRPr lang="tr-TR"/>
          </a:p>
        </p:txBody>
      </p:sp>
      <p:sp>
        <p:nvSpPr>
          <p:cNvPr id="11" name="Text 9"/>
          <p:cNvSpPr/>
          <p:nvPr/>
        </p:nvSpPr>
        <p:spPr>
          <a:xfrm>
            <a:off x="457200" y="1874520"/>
            <a:ext cx="2505456" cy="256032"/>
          </a:xfrm>
          <a:prstGeom prst="rect">
            <a:avLst/>
          </a:prstGeom>
          <a:noFill/>
          <a:ln/>
        </p:spPr>
        <p:txBody>
          <a:bodyPr wrap="square" lIns="25400" tIns="25400" rIns="25400" bIns="2540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19 katmana kadar derinlik</a:t>
            </a:r>
            <a:endParaRPr lang="en-US" sz="900" dirty="0"/>
          </a:p>
        </p:txBody>
      </p:sp>
      <p:sp>
        <p:nvSpPr>
          <p:cNvPr id="12" name="Text 10"/>
          <p:cNvSpPr/>
          <p:nvPr/>
        </p:nvSpPr>
        <p:spPr>
          <a:xfrm>
            <a:off x="438912" y="2194560"/>
            <a:ext cx="2542032" cy="2084832"/>
          </a:xfrm>
          <a:prstGeom prst="rect">
            <a:avLst/>
          </a:prstGeom>
          <a:noFill/>
          <a:ln/>
        </p:spPr>
        <p:txBody>
          <a:bodyPr wrap="square" rtlCol="0" anchor="ctr"/>
          <a:lstStyle/>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8 katmanlı AlexNet'ten 19 katmana çıkarıldı (11 yeni evrişim katmanı)</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Yalnızca 3×3 filtreler kullanıldı — büyük filtreleri taklit eder</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İki adet 3×3 katman → 5×5 alım alanı elde eder, daha az parametre</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ILSVRC2014 Top-5 hata: %10.4 → %8.0'a düştü</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Toplam parametre: ~138 milyon (büyük çoğunluğu tam bağlantılı katmanda)</a:t>
            </a:r>
            <a:endParaRPr lang="en-US" sz="900" dirty="0"/>
          </a:p>
        </p:txBody>
      </p:sp>
      <p:sp>
        <p:nvSpPr>
          <p:cNvPr id="13" name="Shape 11"/>
          <p:cNvSpPr/>
          <p:nvPr/>
        </p:nvSpPr>
        <p:spPr>
          <a:xfrm>
            <a:off x="438912" y="4334256"/>
            <a:ext cx="2542032" cy="603504"/>
          </a:xfrm>
          <a:prstGeom prst="rect">
            <a:avLst/>
          </a:prstGeom>
          <a:solidFill>
            <a:srgbClr val="1B2F4A"/>
          </a:solidFill>
          <a:ln w="12700">
            <a:solidFill>
              <a:srgbClr val="1B2F4A"/>
            </a:solidFill>
            <a:prstDash val="solid"/>
          </a:ln>
        </p:spPr>
        <p:txBody>
          <a:bodyPr/>
          <a:lstStyle/>
          <a:p>
            <a:endParaRPr lang="tr-TR"/>
          </a:p>
        </p:txBody>
      </p:sp>
      <p:sp>
        <p:nvSpPr>
          <p:cNvPr id="14" name="Text 12"/>
          <p:cNvSpPr/>
          <p:nvPr/>
        </p:nvSpPr>
        <p:spPr>
          <a:xfrm>
            <a:off x="475488" y="4370832"/>
            <a:ext cx="2468880" cy="530352"/>
          </a:xfrm>
          <a:prstGeom prst="rect">
            <a:avLst/>
          </a:prstGeom>
          <a:noFill/>
          <a:ln/>
        </p:spPr>
        <p:txBody>
          <a:bodyPr wrap="square" lIns="0" tIns="0" rIns="0" bIns="0" rtlCol="0" anchor="ctr"/>
          <a:lstStyle/>
          <a:p>
            <a:pPr marL="0" indent="0">
              <a:buNone/>
            </a:pPr>
            <a:r>
              <a:rPr lang="en-US" sz="850" i="1" dirty="0">
                <a:solidFill>
                  <a:srgbClr val="F59E0B"/>
                </a:solidFill>
                <a:latin typeface="Calibri" pitchFamily="34" charset="0"/>
                <a:ea typeface="Calibri" pitchFamily="34" charset="-122"/>
                <a:cs typeface="Calibri" pitchFamily="34" charset="-120"/>
              </a:rPr>
              <a:t>💡 VGG19 büyük hafıza gerektirir; inference için hızlı değildir.</a:t>
            </a:r>
            <a:endParaRPr lang="en-US" sz="850" dirty="0"/>
          </a:p>
        </p:txBody>
      </p:sp>
      <p:sp>
        <p:nvSpPr>
          <p:cNvPr id="15" name="Shape 13"/>
          <p:cNvSpPr/>
          <p:nvPr/>
        </p:nvSpPr>
        <p:spPr>
          <a:xfrm>
            <a:off x="3227832" y="1078992"/>
            <a:ext cx="2724912" cy="4005072"/>
          </a:xfrm>
          <a:prstGeom prst="rect">
            <a:avLst/>
          </a:prstGeom>
          <a:solidFill>
            <a:srgbClr val="243B55"/>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16" name="Shape 14"/>
          <p:cNvSpPr/>
          <p:nvPr/>
        </p:nvSpPr>
        <p:spPr>
          <a:xfrm>
            <a:off x="3227832" y="1078992"/>
            <a:ext cx="2724912" cy="475488"/>
          </a:xfrm>
          <a:prstGeom prst="rect">
            <a:avLst/>
          </a:prstGeom>
          <a:solidFill>
            <a:srgbClr val="0891B2"/>
          </a:solidFill>
          <a:ln w="12700">
            <a:solidFill>
              <a:srgbClr val="0891B2"/>
            </a:solidFill>
            <a:prstDash val="solid"/>
          </a:ln>
        </p:spPr>
        <p:txBody>
          <a:bodyPr/>
          <a:lstStyle/>
          <a:p>
            <a:endParaRPr lang="tr-TR"/>
          </a:p>
        </p:txBody>
      </p:sp>
      <p:sp>
        <p:nvSpPr>
          <p:cNvPr id="17" name="Text 15"/>
          <p:cNvSpPr/>
          <p:nvPr/>
        </p:nvSpPr>
        <p:spPr>
          <a:xfrm>
            <a:off x="3319272" y="1078992"/>
            <a:ext cx="2560320" cy="47548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GoogLeNet / Inception (2014)</a:t>
            </a:r>
            <a:endParaRPr lang="en-US" sz="1200" dirty="0"/>
          </a:p>
        </p:txBody>
      </p:sp>
      <p:sp>
        <p:nvSpPr>
          <p:cNvPr id="18" name="Text 16"/>
          <p:cNvSpPr/>
          <p:nvPr/>
        </p:nvSpPr>
        <p:spPr>
          <a:xfrm>
            <a:off x="3319272" y="1609344"/>
            <a:ext cx="2542032" cy="237744"/>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 Google Brain</a:t>
            </a:r>
            <a:endParaRPr lang="en-US" sz="850" dirty="0"/>
          </a:p>
        </p:txBody>
      </p:sp>
      <p:sp>
        <p:nvSpPr>
          <p:cNvPr id="19" name="Shape 17"/>
          <p:cNvSpPr/>
          <p:nvPr/>
        </p:nvSpPr>
        <p:spPr>
          <a:xfrm>
            <a:off x="3319272" y="1874520"/>
            <a:ext cx="2542032" cy="256032"/>
          </a:xfrm>
          <a:prstGeom prst="rect">
            <a:avLst/>
          </a:prstGeom>
          <a:solidFill>
            <a:srgbClr val="0891B2">
              <a:alpha val="30000"/>
            </a:srgbClr>
          </a:solidFill>
          <a:ln w="12700">
            <a:solidFill>
              <a:srgbClr val="0891B2"/>
            </a:solidFill>
            <a:prstDash val="solid"/>
          </a:ln>
        </p:spPr>
        <p:txBody>
          <a:bodyPr/>
          <a:lstStyle/>
          <a:p>
            <a:endParaRPr lang="tr-TR"/>
          </a:p>
        </p:txBody>
      </p:sp>
      <p:sp>
        <p:nvSpPr>
          <p:cNvPr id="20" name="Text 18"/>
          <p:cNvSpPr/>
          <p:nvPr/>
        </p:nvSpPr>
        <p:spPr>
          <a:xfrm>
            <a:off x="3337560" y="1874520"/>
            <a:ext cx="2505456" cy="256032"/>
          </a:xfrm>
          <a:prstGeom prst="rect">
            <a:avLst/>
          </a:prstGeom>
          <a:noFill/>
          <a:ln/>
        </p:spPr>
        <p:txBody>
          <a:bodyPr wrap="square" lIns="25400" tIns="25400" rIns="25400" bIns="2540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Inception modülü ile verimlilik</a:t>
            </a:r>
            <a:endParaRPr lang="en-US" sz="900" dirty="0"/>
          </a:p>
        </p:txBody>
      </p:sp>
      <p:sp>
        <p:nvSpPr>
          <p:cNvPr id="21" name="Text 19"/>
          <p:cNvSpPr/>
          <p:nvPr/>
        </p:nvSpPr>
        <p:spPr>
          <a:xfrm>
            <a:off x="3319272" y="2194560"/>
            <a:ext cx="2542032" cy="2084832"/>
          </a:xfrm>
          <a:prstGeom prst="rect">
            <a:avLst/>
          </a:prstGeom>
          <a:noFill/>
          <a:ln/>
        </p:spPr>
        <p:txBody>
          <a:bodyPr wrap="square" rtlCol="0" anchor="ctr"/>
          <a:lstStyle/>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1×1, 3×3, 5×5 ve 3×3 max-pool paralel uygulanır, çıktılar birleştirilir</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1×1 evrişim ile boyut indirgeme (ağırlık sayısı azaltılır)</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Daha az parametre: AlexNet'in 1/12'si (~5M parametre)</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ILSVRC2014 sınıflandırma şampiyonu</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v2, v3, v4 ile geliştirildi; Inception-ResNet hibrit versiyonları da var</a:t>
            </a:r>
            <a:endParaRPr lang="en-US" sz="900" dirty="0"/>
          </a:p>
        </p:txBody>
      </p:sp>
      <p:sp>
        <p:nvSpPr>
          <p:cNvPr id="22" name="Shape 20"/>
          <p:cNvSpPr/>
          <p:nvPr/>
        </p:nvSpPr>
        <p:spPr>
          <a:xfrm>
            <a:off x="3319272" y="4334256"/>
            <a:ext cx="2542032" cy="603504"/>
          </a:xfrm>
          <a:prstGeom prst="rect">
            <a:avLst/>
          </a:prstGeom>
          <a:solidFill>
            <a:srgbClr val="1B2F4A"/>
          </a:solidFill>
          <a:ln w="12700">
            <a:solidFill>
              <a:srgbClr val="1B2F4A"/>
            </a:solidFill>
            <a:prstDash val="solid"/>
          </a:ln>
        </p:spPr>
        <p:txBody>
          <a:bodyPr/>
          <a:lstStyle/>
          <a:p>
            <a:endParaRPr lang="tr-TR"/>
          </a:p>
        </p:txBody>
      </p:sp>
      <p:sp>
        <p:nvSpPr>
          <p:cNvPr id="23" name="Text 21"/>
          <p:cNvSpPr/>
          <p:nvPr/>
        </p:nvSpPr>
        <p:spPr>
          <a:xfrm>
            <a:off x="3355848" y="4370832"/>
            <a:ext cx="2468880" cy="530352"/>
          </a:xfrm>
          <a:prstGeom prst="rect">
            <a:avLst/>
          </a:prstGeom>
          <a:noFill/>
          <a:ln/>
        </p:spPr>
        <p:txBody>
          <a:bodyPr wrap="square" lIns="0" tIns="0" rIns="0" bIns="0" rtlCol="0" anchor="ctr"/>
          <a:lstStyle/>
          <a:p>
            <a:pPr marL="0" indent="0">
              <a:buNone/>
            </a:pPr>
            <a:r>
              <a:rPr lang="en-US" sz="850" i="1" dirty="0">
                <a:solidFill>
                  <a:srgbClr val="F59E0B"/>
                </a:solidFill>
                <a:latin typeface="Calibri" pitchFamily="34" charset="0"/>
                <a:ea typeface="Calibri" pitchFamily="34" charset="-122"/>
                <a:cs typeface="Calibri" pitchFamily="34" charset="-120"/>
              </a:rPr>
              <a:t>💡 'Seyrek ama hızlı' ilkesi: ağ mümkün olduğunca seyrek, hesap yoğun.</a:t>
            </a:r>
            <a:endParaRPr lang="en-US" sz="850" dirty="0"/>
          </a:p>
        </p:txBody>
      </p:sp>
      <p:sp>
        <p:nvSpPr>
          <p:cNvPr id="24" name="Shape 22"/>
          <p:cNvSpPr/>
          <p:nvPr/>
        </p:nvSpPr>
        <p:spPr>
          <a:xfrm>
            <a:off x="6108192" y="1078992"/>
            <a:ext cx="2724912" cy="4005072"/>
          </a:xfrm>
          <a:prstGeom prst="rect">
            <a:avLst/>
          </a:prstGeom>
          <a:solidFill>
            <a:srgbClr val="243B55"/>
          </a:solidFill>
          <a:ln w="12700">
            <a:solidFill>
              <a:srgbClr val="059669"/>
            </a:solidFill>
            <a:prstDash val="solid"/>
          </a:ln>
          <a:effectLst>
            <a:outerShdw blurRad="127000" dist="50800" dir="8100000" algn="bl" rotWithShape="0">
              <a:srgbClr val="000000">
                <a:alpha val="12000"/>
              </a:srgbClr>
            </a:outerShdw>
          </a:effectLst>
        </p:spPr>
        <p:txBody>
          <a:bodyPr/>
          <a:lstStyle/>
          <a:p>
            <a:endParaRPr lang="tr-TR"/>
          </a:p>
        </p:txBody>
      </p:sp>
      <p:sp>
        <p:nvSpPr>
          <p:cNvPr id="25" name="Shape 23"/>
          <p:cNvSpPr/>
          <p:nvPr/>
        </p:nvSpPr>
        <p:spPr>
          <a:xfrm>
            <a:off x="6108192" y="1078992"/>
            <a:ext cx="2724912" cy="475488"/>
          </a:xfrm>
          <a:prstGeom prst="rect">
            <a:avLst/>
          </a:prstGeom>
          <a:solidFill>
            <a:srgbClr val="059669"/>
          </a:solidFill>
          <a:ln w="12700">
            <a:solidFill>
              <a:srgbClr val="059669"/>
            </a:solidFill>
            <a:prstDash val="solid"/>
          </a:ln>
        </p:spPr>
        <p:txBody>
          <a:bodyPr/>
          <a:lstStyle/>
          <a:p>
            <a:endParaRPr lang="tr-TR"/>
          </a:p>
        </p:txBody>
      </p:sp>
      <p:sp>
        <p:nvSpPr>
          <p:cNvPr id="26" name="Text 24"/>
          <p:cNvSpPr/>
          <p:nvPr/>
        </p:nvSpPr>
        <p:spPr>
          <a:xfrm>
            <a:off x="6199632" y="1078992"/>
            <a:ext cx="2560320" cy="47548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ResNet (2016)</a:t>
            </a:r>
            <a:endParaRPr lang="en-US" sz="1200" dirty="0"/>
          </a:p>
        </p:txBody>
      </p:sp>
      <p:sp>
        <p:nvSpPr>
          <p:cNvPr id="27" name="Text 25"/>
          <p:cNvSpPr/>
          <p:nvPr/>
        </p:nvSpPr>
        <p:spPr>
          <a:xfrm>
            <a:off x="6199632" y="1609344"/>
            <a:ext cx="2542032" cy="237744"/>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 Microsoft Research (He, Zhang, Ren, Sun)</a:t>
            </a:r>
            <a:endParaRPr lang="en-US" sz="850" dirty="0"/>
          </a:p>
        </p:txBody>
      </p:sp>
      <p:sp>
        <p:nvSpPr>
          <p:cNvPr id="28" name="Shape 26"/>
          <p:cNvSpPr/>
          <p:nvPr/>
        </p:nvSpPr>
        <p:spPr>
          <a:xfrm>
            <a:off x="6199632" y="1874520"/>
            <a:ext cx="2542032" cy="256032"/>
          </a:xfrm>
          <a:prstGeom prst="rect">
            <a:avLst/>
          </a:prstGeom>
          <a:solidFill>
            <a:srgbClr val="059669">
              <a:alpha val="30000"/>
            </a:srgbClr>
          </a:solidFill>
          <a:ln w="12700">
            <a:solidFill>
              <a:srgbClr val="059669"/>
            </a:solidFill>
            <a:prstDash val="solid"/>
          </a:ln>
        </p:spPr>
        <p:txBody>
          <a:bodyPr/>
          <a:lstStyle/>
          <a:p>
            <a:endParaRPr lang="tr-TR"/>
          </a:p>
        </p:txBody>
      </p:sp>
      <p:sp>
        <p:nvSpPr>
          <p:cNvPr id="29" name="Text 27"/>
          <p:cNvSpPr/>
          <p:nvPr/>
        </p:nvSpPr>
        <p:spPr>
          <a:xfrm>
            <a:off x="6217920" y="1874520"/>
            <a:ext cx="2505456" cy="256032"/>
          </a:xfrm>
          <a:prstGeom prst="rect">
            <a:avLst/>
          </a:prstGeom>
          <a:noFill/>
          <a:ln/>
        </p:spPr>
        <p:txBody>
          <a:bodyPr wrap="square" lIns="25400" tIns="25400" rIns="25400" bIns="2540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Degradasyon problemini çözüyor</a:t>
            </a:r>
            <a:endParaRPr lang="en-US" sz="900" dirty="0"/>
          </a:p>
        </p:txBody>
      </p:sp>
      <p:sp>
        <p:nvSpPr>
          <p:cNvPr id="30" name="Text 28"/>
          <p:cNvSpPr/>
          <p:nvPr/>
        </p:nvSpPr>
        <p:spPr>
          <a:xfrm>
            <a:off x="6199632" y="2194560"/>
            <a:ext cx="2542032" cy="2084832"/>
          </a:xfrm>
          <a:prstGeom prst="rect">
            <a:avLst/>
          </a:prstGeom>
          <a:noFill/>
          <a:ln/>
        </p:spPr>
        <p:txBody>
          <a:bodyPr wrap="square" rtlCol="0" anchor="ctr"/>
          <a:lstStyle/>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Sorun: Daha derin ağ daha yüksek eğitim hatası verebilir (degradasyon)</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Çözüm: Atlama (shortcut) bağlantılar → H(x) = F(x) + x</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Artık ağlar: ağ kimlik eşlemesini en kötü senaryoda öğrenir</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152 katmana kadar başarılı eğitim sağlandı</a:t>
            </a:r>
            <a:endParaRPr lang="en-US" sz="900" dirty="0"/>
          </a:p>
          <a:p>
            <a:pPr marL="342900" indent="-342900">
              <a:spcAft>
                <a:spcPts val="300"/>
              </a:spcAft>
              <a:buSzPct val="100000"/>
              <a:buChar char="•"/>
            </a:pPr>
            <a:r>
              <a:rPr lang="en-US" sz="900" dirty="0">
                <a:solidFill>
                  <a:srgbClr val="F1F5F9"/>
                </a:solidFill>
                <a:latin typeface="Calibri" pitchFamily="34" charset="0"/>
                <a:ea typeface="Calibri" pitchFamily="34" charset="-122"/>
                <a:cs typeface="Calibri" pitchFamily="34" charset="-120"/>
              </a:rPr>
              <a:t>ILSVRC2016: %3.57 top-5 hata oranı (insan performansına yakın)</a:t>
            </a:r>
            <a:endParaRPr lang="en-US" sz="900" dirty="0"/>
          </a:p>
        </p:txBody>
      </p:sp>
      <p:sp>
        <p:nvSpPr>
          <p:cNvPr id="31" name="Shape 29"/>
          <p:cNvSpPr/>
          <p:nvPr/>
        </p:nvSpPr>
        <p:spPr>
          <a:xfrm>
            <a:off x="6199632" y="4334256"/>
            <a:ext cx="2542032" cy="603504"/>
          </a:xfrm>
          <a:prstGeom prst="rect">
            <a:avLst/>
          </a:prstGeom>
          <a:solidFill>
            <a:srgbClr val="1B2F4A"/>
          </a:solidFill>
          <a:ln w="12700">
            <a:solidFill>
              <a:srgbClr val="1B2F4A"/>
            </a:solidFill>
            <a:prstDash val="solid"/>
          </a:ln>
        </p:spPr>
        <p:txBody>
          <a:bodyPr/>
          <a:lstStyle/>
          <a:p>
            <a:endParaRPr lang="tr-TR"/>
          </a:p>
        </p:txBody>
      </p:sp>
      <p:sp>
        <p:nvSpPr>
          <p:cNvPr id="32" name="Text 30"/>
          <p:cNvSpPr/>
          <p:nvPr/>
        </p:nvSpPr>
        <p:spPr>
          <a:xfrm>
            <a:off x="6236208" y="4370832"/>
            <a:ext cx="2468880" cy="530352"/>
          </a:xfrm>
          <a:prstGeom prst="rect">
            <a:avLst/>
          </a:prstGeom>
          <a:noFill/>
          <a:ln/>
        </p:spPr>
        <p:txBody>
          <a:bodyPr wrap="square" lIns="0" tIns="0" rIns="0" bIns="0" rtlCol="0" anchor="ctr"/>
          <a:lstStyle/>
          <a:p>
            <a:pPr marL="0" indent="0">
              <a:buNone/>
            </a:pPr>
            <a:r>
              <a:rPr lang="en-US" sz="850" i="1" dirty="0">
                <a:solidFill>
                  <a:srgbClr val="F59E0B"/>
                </a:solidFill>
                <a:latin typeface="Calibri" pitchFamily="34" charset="0"/>
                <a:ea typeface="Calibri" pitchFamily="34" charset="-122"/>
                <a:cs typeface="Calibri" pitchFamily="34" charset="-120"/>
              </a:rPr>
              <a:t>💡 ResNet-50, ResNet-101, ResNet-152 bugün de endüstri standardı.</a:t>
            </a:r>
            <a:endParaRPr lang="en-US" sz="850" dirty="0"/>
          </a:p>
        </p:txBody>
      </p:sp>
      <p:sp>
        <p:nvSpPr>
          <p:cNvPr id="33" name="Text 31"/>
          <p:cNvSpPr/>
          <p:nvPr/>
        </p:nvSpPr>
        <p:spPr>
          <a:xfrm>
            <a:off x="347472" y="5120640"/>
            <a:ext cx="8412480" cy="164592"/>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Kaynak: Simonyan &amp; Zisserman (2014) VGGNet; Szegedy et al. (2015) GoogLeNet; He et al. (2016) ResNet — tüm CVPR/ILSVRC yarışmacıları</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1B2F4A"/>
          </a:solidFill>
          <a:ln w="12700">
            <a:solidFill>
              <a:srgbClr val="1B2F4A"/>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04 — DBN</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Derin İnanç Ağları (DBN) — İki Aşamalı Öğrenme</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097280"/>
            <a:ext cx="8412480" cy="621792"/>
          </a:xfrm>
          <a:prstGeom prst="rect">
            <a:avLst/>
          </a:prstGeom>
          <a:solidFill>
            <a:srgbClr val="FFF7ED"/>
          </a:solidFill>
          <a:ln w="12700">
            <a:solidFill>
              <a:srgbClr val="D97706"/>
            </a:solidFill>
            <a:prstDash val="solid"/>
          </a:ln>
        </p:spPr>
        <p:txBody>
          <a:bodyPr/>
          <a:lstStyle/>
          <a:p>
            <a:endParaRPr lang="tr-TR"/>
          </a:p>
        </p:txBody>
      </p:sp>
      <p:sp>
        <p:nvSpPr>
          <p:cNvPr id="7" name="Text 5"/>
          <p:cNvSpPr/>
          <p:nvPr/>
        </p:nvSpPr>
        <p:spPr>
          <a:xfrm>
            <a:off x="502920" y="1170432"/>
            <a:ext cx="914400" cy="256032"/>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 Tanım:</a:t>
            </a:r>
            <a:endParaRPr lang="en-US" sz="1000" dirty="0"/>
          </a:p>
        </p:txBody>
      </p:sp>
      <p:sp>
        <p:nvSpPr>
          <p:cNvPr id="8" name="Text 6"/>
          <p:cNvSpPr/>
          <p:nvPr/>
        </p:nvSpPr>
        <p:spPr>
          <a:xfrm>
            <a:off x="1444752" y="1143000"/>
            <a:ext cx="7205472" cy="49377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DBN (Deep Belief Network), birden fazla Kısıtlı Boltzmann Makinesi'nin (RBM) ardışık olarak istiflenmesiyle oluşturulan generatif bir modeldir. Her katman önceki katmanın gizli temsil dağılımını modeller. 2006 yılında Hinton, Osindero ve Teh tarafından önerildi ve modern derin öğrenmenin başlangıcı kabul edildi.</a:t>
            </a:r>
            <a:endParaRPr lang="en-US" sz="950" dirty="0"/>
          </a:p>
        </p:txBody>
      </p:sp>
      <p:sp>
        <p:nvSpPr>
          <p:cNvPr id="9" name="Shape 7"/>
          <p:cNvSpPr/>
          <p:nvPr/>
        </p:nvSpPr>
        <p:spPr>
          <a:xfrm>
            <a:off x="365760" y="1847088"/>
            <a:ext cx="4114800" cy="2944368"/>
          </a:xfrm>
          <a:prstGeom prst="rect">
            <a:avLst/>
          </a:prstGeom>
          <a:solidFill>
            <a:srgbClr val="EFF6FF"/>
          </a:solidFill>
          <a:ln w="12700">
            <a:solidFill>
              <a:srgbClr val="7C3AED"/>
            </a:solidFill>
            <a:prstDash val="solid"/>
          </a:ln>
          <a:effectLst>
            <a:outerShdw blurRad="127000" dist="50800" dir="8100000" algn="bl" rotWithShape="0">
              <a:srgbClr val="000000">
                <a:alpha val="12000"/>
              </a:srgbClr>
            </a:outerShdw>
          </a:effectLst>
        </p:spPr>
        <p:txBody>
          <a:bodyPr/>
          <a:lstStyle/>
          <a:p>
            <a:endParaRPr lang="tr-TR"/>
          </a:p>
        </p:txBody>
      </p:sp>
      <p:sp>
        <p:nvSpPr>
          <p:cNvPr id="10" name="Shape 8"/>
          <p:cNvSpPr/>
          <p:nvPr/>
        </p:nvSpPr>
        <p:spPr>
          <a:xfrm>
            <a:off x="365760" y="1847088"/>
            <a:ext cx="4114800" cy="420624"/>
          </a:xfrm>
          <a:prstGeom prst="rect">
            <a:avLst/>
          </a:prstGeom>
          <a:solidFill>
            <a:srgbClr val="7C3AED"/>
          </a:solidFill>
          <a:ln w="12700">
            <a:solidFill>
              <a:srgbClr val="7C3AED"/>
            </a:solidFill>
            <a:prstDash val="solid"/>
          </a:ln>
        </p:spPr>
        <p:txBody>
          <a:bodyPr/>
          <a:lstStyle/>
          <a:p>
            <a:endParaRPr lang="tr-TR"/>
          </a:p>
        </p:txBody>
      </p:sp>
      <p:sp>
        <p:nvSpPr>
          <p:cNvPr id="11" name="Text 9"/>
          <p:cNvSpPr/>
          <p:nvPr/>
        </p:nvSpPr>
        <p:spPr>
          <a:xfrm>
            <a:off x="475488" y="1847088"/>
            <a:ext cx="3931920" cy="42062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AŞAMA 1: Gözetimsiz Ön-Eğitim (Pre-training)</a:t>
            </a:r>
            <a:endParaRPr lang="en-US" sz="1100" dirty="0"/>
          </a:p>
        </p:txBody>
      </p:sp>
      <p:sp>
        <p:nvSpPr>
          <p:cNvPr id="12" name="Shape 10"/>
          <p:cNvSpPr/>
          <p:nvPr/>
        </p:nvSpPr>
        <p:spPr>
          <a:xfrm>
            <a:off x="475488" y="2340864"/>
            <a:ext cx="3877056" cy="51206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13" name="Shape 11"/>
          <p:cNvSpPr/>
          <p:nvPr/>
        </p:nvSpPr>
        <p:spPr>
          <a:xfrm>
            <a:off x="566928" y="2414016"/>
            <a:ext cx="347472" cy="347472"/>
          </a:xfrm>
          <a:prstGeom prst="ellipse">
            <a:avLst/>
          </a:prstGeom>
          <a:solidFill>
            <a:srgbClr val="7C3AED"/>
          </a:solidFill>
          <a:ln w="12700">
            <a:solidFill>
              <a:srgbClr val="7C3AED"/>
            </a:solidFill>
            <a:prstDash val="solid"/>
          </a:ln>
        </p:spPr>
        <p:txBody>
          <a:bodyPr/>
          <a:lstStyle/>
          <a:p>
            <a:endParaRPr lang="tr-TR"/>
          </a:p>
        </p:txBody>
      </p:sp>
      <p:sp>
        <p:nvSpPr>
          <p:cNvPr id="14" name="Text 12"/>
          <p:cNvSpPr/>
          <p:nvPr/>
        </p:nvSpPr>
        <p:spPr>
          <a:xfrm>
            <a:off x="566928" y="241401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p:nvPr/>
        </p:nvSpPr>
        <p:spPr>
          <a:xfrm>
            <a:off x="1005840" y="2432304"/>
            <a:ext cx="3236976"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1. RBM Eğitimi</a:t>
            </a:r>
            <a:endParaRPr lang="en-US" sz="1100" dirty="0"/>
          </a:p>
        </p:txBody>
      </p:sp>
      <p:sp>
        <p:nvSpPr>
          <p:cNvPr id="16" name="Text 14"/>
          <p:cNvSpPr/>
          <p:nvPr/>
        </p:nvSpPr>
        <p:spPr>
          <a:xfrm>
            <a:off x="1005840" y="2743200"/>
            <a:ext cx="3236976" cy="1828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Ham giriş verisi (#özellik) kullanılarak en alt RBM eğitilir. Enerji fonksiyonu E(v,h) minimize edilir. CD algoritması kullanılır.</a:t>
            </a:r>
            <a:endParaRPr lang="en-US" sz="950" dirty="0"/>
          </a:p>
        </p:txBody>
      </p:sp>
      <p:sp>
        <p:nvSpPr>
          <p:cNvPr id="17" name="Shape 15"/>
          <p:cNvSpPr/>
          <p:nvPr/>
        </p:nvSpPr>
        <p:spPr>
          <a:xfrm>
            <a:off x="475488" y="2907792"/>
            <a:ext cx="3877056" cy="51206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18" name="Shape 16"/>
          <p:cNvSpPr/>
          <p:nvPr/>
        </p:nvSpPr>
        <p:spPr>
          <a:xfrm>
            <a:off x="566928" y="2980944"/>
            <a:ext cx="347472" cy="347472"/>
          </a:xfrm>
          <a:prstGeom prst="ellipse">
            <a:avLst/>
          </a:prstGeom>
          <a:solidFill>
            <a:srgbClr val="7C3AED"/>
          </a:solidFill>
          <a:ln w="12700">
            <a:solidFill>
              <a:srgbClr val="7C3AED"/>
            </a:solidFill>
            <a:prstDash val="solid"/>
          </a:ln>
        </p:spPr>
        <p:txBody>
          <a:bodyPr/>
          <a:lstStyle/>
          <a:p>
            <a:endParaRPr lang="tr-TR"/>
          </a:p>
        </p:txBody>
      </p:sp>
      <p:sp>
        <p:nvSpPr>
          <p:cNvPr id="19" name="Text 17"/>
          <p:cNvSpPr/>
          <p:nvPr/>
        </p:nvSpPr>
        <p:spPr>
          <a:xfrm>
            <a:off x="566928" y="298094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p:nvPr/>
        </p:nvSpPr>
        <p:spPr>
          <a:xfrm>
            <a:off x="1005840" y="2999232"/>
            <a:ext cx="3236976"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2. Gizli Çıktı → Yeni Giriş</a:t>
            </a:r>
            <a:endParaRPr lang="en-US" sz="1100" dirty="0"/>
          </a:p>
        </p:txBody>
      </p:sp>
      <p:sp>
        <p:nvSpPr>
          <p:cNvPr id="21" name="Text 19"/>
          <p:cNvSpPr/>
          <p:nvPr/>
        </p:nvSpPr>
        <p:spPr>
          <a:xfrm>
            <a:off x="1005840" y="3310128"/>
            <a:ext cx="3236976" cy="1828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Birinci RBM'nin gizli katman aktivasyonları (500 boyutlu) ikinci RBM'nin görünür katmanına beslenir.</a:t>
            </a:r>
            <a:endParaRPr lang="en-US" sz="950" dirty="0"/>
          </a:p>
        </p:txBody>
      </p:sp>
      <p:sp>
        <p:nvSpPr>
          <p:cNvPr id="22" name="Shape 20"/>
          <p:cNvSpPr/>
          <p:nvPr/>
        </p:nvSpPr>
        <p:spPr>
          <a:xfrm>
            <a:off x="475488" y="3474720"/>
            <a:ext cx="3877056" cy="51206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23" name="Shape 21"/>
          <p:cNvSpPr/>
          <p:nvPr/>
        </p:nvSpPr>
        <p:spPr>
          <a:xfrm>
            <a:off x="566928" y="3547872"/>
            <a:ext cx="347472" cy="347472"/>
          </a:xfrm>
          <a:prstGeom prst="ellipse">
            <a:avLst/>
          </a:prstGeom>
          <a:solidFill>
            <a:srgbClr val="7C3AED"/>
          </a:solidFill>
          <a:ln w="12700">
            <a:solidFill>
              <a:srgbClr val="7C3AED"/>
            </a:solidFill>
            <a:prstDash val="solid"/>
          </a:ln>
        </p:spPr>
        <p:txBody>
          <a:bodyPr/>
          <a:lstStyle/>
          <a:p>
            <a:endParaRPr lang="tr-TR"/>
          </a:p>
        </p:txBody>
      </p:sp>
      <p:sp>
        <p:nvSpPr>
          <p:cNvPr id="24" name="Text 22"/>
          <p:cNvSpPr/>
          <p:nvPr/>
        </p:nvSpPr>
        <p:spPr>
          <a:xfrm>
            <a:off x="566928" y="354787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1005840" y="3566160"/>
            <a:ext cx="3236976"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3. Katman Katman İlerle</a:t>
            </a:r>
            <a:endParaRPr lang="en-US" sz="1100" dirty="0"/>
          </a:p>
        </p:txBody>
      </p:sp>
      <p:sp>
        <p:nvSpPr>
          <p:cNvPr id="26" name="Text 24"/>
          <p:cNvSpPr/>
          <p:nvPr/>
        </p:nvSpPr>
        <p:spPr>
          <a:xfrm>
            <a:off x="1005840" y="3877056"/>
            <a:ext cx="3236976" cy="1828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Bu süreç tüm katmanlar için tekrarlanır: 500→250→125→50. Her katman bir üst soyutlama seviyesi öğrenir.</a:t>
            </a:r>
            <a:endParaRPr lang="en-US" sz="950" dirty="0"/>
          </a:p>
        </p:txBody>
      </p:sp>
      <p:sp>
        <p:nvSpPr>
          <p:cNvPr id="27" name="Shape 25"/>
          <p:cNvSpPr/>
          <p:nvPr/>
        </p:nvSpPr>
        <p:spPr>
          <a:xfrm>
            <a:off x="475488" y="4041648"/>
            <a:ext cx="3877056" cy="51206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28" name="Shape 26"/>
          <p:cNvSpPr/>
          <p:nvPr/>
        </p:nvSpPr>
        <p:spPr>
          <a:xfrm>
            <a:off x="566928" y="4114800"/>
            <a:ext cx="347472" cy="347472"/>
          </a:xfrm>
          <a:prstGeom prst="ellipse">
            <a:avLst/>
          </a:prstGeom>
          <a:solidFill>
            <a:srgbClr val="7C3AED"/>
          </a:solidFill>
          <a:ln w="12700">
            <a:solidFill>
              <a:srgbClr val="7C3AED"/>
            </a:solidFill>
            <a:prstDash val="solid"/>
          </a:ln>
        </p:spPr>
        <p:txBody>
          <a:bodyPr/>
          <a:lstStyle/>
          <a:p>
            <a:endParaRPr lang="tr-TR"/>
          </a:p>
        </p:txBody>
      </p:sp>
      <p:sp>
        <p:nvSpPr>
          <p:cNvPr id="29" name="Text 27"/>
          <p:cNvSpPr/>
          <p:nvPr/>
        </p:nvSpPr>
        <p:spPr>
          <a:xfrm>
            <a:off x="566928" y="41148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8"/>
          <p:cNvSpPr/>
          <p:nvPr/>
        </p:nvSpPr>
        <p:spPr>
          <a:xfrm>
            <a:off x="1005840" y="4133088"/>
            <a:ext cx="3236976"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Açgözlü (Greedy) Algoritma</a:t>
            </a:r>
            <a:endParaRPr lang="en-US" sz="1100" dirty="0"/>
          </a:p>
        </p:txBody>
      </p:sp>
      <p:sp>
        <p:nvSpPr>
          <p:cNvPr id="31" name="Text 29"/>
          <p:cNvSpPr/>
          <p:nvPr/>
        </p:nvSpPr>
        <p:spPr>
          <a:xfrm>
            <a:off x="1005840" y="4443984"/>
            <a:ext cx="3236976" cy="1828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Katmanlar sıralı ve bağımsız olarak optimize edilir. Global optimizasyon değil, lokal iyileştirme yapılır — bu pratikte çok daha verimlidir.</a:t>
            </a:r>
            <a:endParaRPr lang="en-US" sz="950" dirty="0"/>
          </a:p>
        </p:txBody>
      </p:sp>
      <p:sp>
        <p:nvSpPr>
          <p:cNvPr id="32" name="Shape 30"/>
          <p:cNvSpPr/>
          <p:nvPr/>
        </p:nvSpPr>
        <p:spPr>
          <a:xfrm>
            <a:off x="4663440" y="1847088"/>
            <a:ext cx="4114800" cy="2944368"/>
          </a:xfrm>
          <a:prstGeom prst="rect">
            <a:avLst/>
          </a:prstGeom>
          <a:solidFill>
            <a:srgbClr val="F0FDF4"/>
          </a:solidFill>
          <a:ln w="12700">
            <a:solidFill>
              <a:srgbClr val="059669"/>
            </a:solidFill>
            <a:prstDash val="solid"/>
          </a:ln>
          <a:effectLst>
            <a:outerShdw blurRad="127000" dist="50800" dir="8100000" algn="bl" rotWithShape="0">
              <a:srgbClr val="000000">
                <a:alpha val="12000"/>
              </a:srgbClr>
            </a:outerShdw>
          </a:effectLst>
        </p:spPr>
        <p:txBody>
          <a:bodyPr/>
          <a:lstStyle/>
          <a:p>
            <a:endParaRPr lang="tr-TR"/>
          </a:p>
        </p:txBody>
      </p:sp>
      <p:sp>
        <p:nvSpPr>
          <p:cNvPr id="33" name="Shape 31"/>
          <p:cNvSpPr/>
          <p:nvPr/>
        </p:nvSpPr>
        <p:spPr>
          <a:xfrm>
            <a:off x="4663440" y="1847088"/>
            <a:ext cx="4114800" cy="420624"/>
          </a:xfrm>
          <a:prstGeom prst="rect">
            <a:avLst/>
          </a:prstGeom>
          <a:solidFill>
            <a:srgbClr val="059669"/>
          </a:solidFill>
          <a:ln w="12700">
            <a:solidFill>
              <a:srgbClr val="059669"/>
            </a:solidFill>
            <a:prstDash val="solid"/>
          </a:ln>
        </p:spPr>
        <p:txBody>
          <a:bodyPr/>
          <a:lstStyle/>
          <a:p>
            <a:endParaRPr lang="tr-TR"/>
          </a:p>
        </p:txBody>
      </p:sp>
      <p:sp>
        <p:nvSpPr>
          <p:cNvPr id="34" name="Text 32"/>
          <p:cNvSpPr/>
          <p:nvPr/>
        </p:nvSpPr>
        <p:spPr>
          <a:xfrm>
            <a:off x="4773168" y="1847088"/>
            <a:ext cx="3931920" cy="42062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AŞAMA 2: Gözetimli İnce-Ayar (Fine-tuning)</a:t>
            </a:r>
            <a:endParaRPr lang="en-US" sz="1100" dirty="0"/>
          </a:p>
        </p:txBody>
      </p:sp>
      <p:sp>
        <p:nvSpPr>
          <p:cNvPr id="35" name="Shape 33"/>
          <p:cNvSpPr/>
          <p:nvPr/>
        </p:nvSpPr>
        <p:spPr>
          <a:xfrm>
            <a:off x="4773168" y="2340864"/>
            <a:ext cx="3877056" cy="51206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36" name="Shape 34"/>
          <p:cNvSpPr/>
          <p:nvPr/>
        </p:nvSpPr>
        <p:spPr>
          <a:xfrm>
            <a:off x="4864608" y="2414016"/>
            <a:ext cx="347472" cy="347472"/>
          </a:xfrm>
          <a:prstGeom prst="ellipse">
            <a:avLst/>
          </a:prstGeom>
          <a:solidFill>
            <a:srgbClr val="059669"/>
          </a:solidFill>
          <a:ln w="12700">
            <a:solidFill>
              <a:srgbClr val="059669"/>
            </a:solidFill>
            <a:prstDash val="solid"/>
          </a:ln>
        </p:spPr>
        <p:txBody>
          <a:bodyPr/>
          <a:lstStyle/>
          <a:p>
            <a:endParaRPr lang="tr-TR"/>
          </a:p>
        </p:txBody>
      </p:sp>
      <p:sp>
        <p:nvSpPr>
          <p:cNvPr id="37" name="Text 35"/>
          <p:cNvSpPr/>
          <p:nvPr/>
        </p:nvSpPr>
        <p:spPr>
          <a:xfrm>
            <a:off x="4864608" y="241401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8" name="Text 36"/>
          <p:cNvSpPr/>
          <p:nvPr/>
        </p:nvSpPr>
        <p:spPr>
          <a:xfrm>
            <a:off x="5303520" y="2432304"/>
            <a:ext cx="3236976"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Etiketler Devreye Giriyor</a:t>
            </a:r>
            <a:endParaRPr lang="en-US" sz="1100" dirty="0"/>
          </a:p>
        </p:txBody>
      </p:sp>
      <p:sp>
        <p:nvSpPr>
          <p:cNvPr id="39" name="Text 37"/>
          <p:cNvSpPr/>
          <p:nvPr/>
        </p:nvSpPr>
        <p:spPr>
          <a:xfrm>
            <a:off x="5303520" y="2743200"/>
            <a:ext cx="3236976" cy="1828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Ön-eğitimde kullanılmayan sınıf etiketleri artık devreye girer. Son katmana sınıflandırma (softmax) katmanı eklenir.</a:t>
            </a:r>
            <a:endParaRPr lang="en-US" sz="950" dirty="0"/>
          </a:p>
        </p:txBody>
      </p:sp>
      <p:sp>
        <p:nvSpPr>
          <p:cNvPr id="40" name="Shape 38"/>
          <p:cNvSpPr/>
          <p:nvPr/>
        </p:nvSpPr>
        <p:spPr>
          <a:xfrm>
            <a:off x="4773168" y="2907792"/>
            <a:ext cx="3877056" cy="51206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1" name="Shape 39"/>
          <p:cNvSpPr/>
          <p:nvPr/>
        </p:nvSpPr>
        <p:spPr>
          <a:xfrm>
            <a:off x="4864608" y="2980944"/>
            <a:ext cx="347472" cy="347472"/>
          </a:xfrm>
          <a:prstGeom prst="ellipse">
            <a:avLst/>
          </a:prstGeom>
          <a:solidFill>
            <a:srgbClr val="059669"/>
          </a:solidFill>
          <a:ln w="12700">
            <a:solidFill>
              <a:srgbClr val="059669"/>
            </a:solidFill>
            <a:prstDash val="solid"/>
          </a:ln>
        </p:spPr>
        <p:txBody>
          <a:bodyPr/>
          <a:lstStyle/>
          <a:p>
            <a:endParaRPr lang="tr-TR"/>
          </a:p>
        </p:txBody>
      </p:sp>
      <p:sp>
        <p:nvSpPr>
          <p:cNvPr id="42" name="Text 40"/>
          <p:cNvSpPr/>
          <p:nvPr/>
        </p:nvSpPr>
        <p:spPr>
          <a:xfrm>
            <a:off x="4864608" y="298094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3" name="Text 41"/>
          <p:cNvSpPr/>
          <p:nvPr/>
        </p:nvSpPr>
        <p:spPr>
          <a:xfrm>
            <a:off x="5303520" y="2999232"/>
            <a:ext cx="3236976"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Kayıp Fonksiyonu</a:t>
            </a:r>
            <a:endParaRPr lang="en-US" sz="1100" dirty="0"/>
          </a:p>
        </p:txBody>
      </p:sp>
      <p:sp>
        <p:nvSpPr>
          <p:cNvPr id="44" name="Text 42"/>
          <p:cNvSpPr/>
          <p:nvPr/>
        </p:nvSpPr>
        <p:spPr>
          <a:xfrm>
            <a:off x="5303520" y="3310128"/>
            <a:ext cx="3236976" cy="1828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Ortalama Karesel Hata (MSE) veya çapraz entropi ile hata hesaplanır: E = (1/2n)Σ‖oᵢ−tᵢ‖²</a:t>
            </a:r>
            <a:endParaRPr lang="en-US" sz="950" dirty="0"/>
          </a:p>
        </p:txBody>
      </p:sp>
      <p:sp>
        <p:nvSpPr>
          <p:cNvPr id="45" name="Shape 43"/>
          <p:cNvSpPr/>
          <p:nvPr/>
        </p:nvSpPr>
        <p:spPr>
          <a:xfrm>
            <a:off x="4773168" y="3474720"/>
            <a:ext cx="3877056" cy="51206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6" name="Shape 44"/>
          <p:cNvSpPr/>
          <p:nvPr/>
        </p:nvSpPr>
        <p:spPr>
          <a:xfrm>
            <a:off x="4864608" y="3547872"/>
            <a:ext cx="347472" cy="347472"/>
          </a:xfrm>
          <a:prstGeom prst="ellipse">
            <a:avLst/>
          </a:prstGeom>
          <a:solidFill>
            <a:srgbClr val="059669"/>
          </a:solidFill>
          <a:ln w="12700">
            <a:solidFill>
              <a:srgbClr val="059669"/>
            </a:solidFill>
            <a:prstDash val="solid"/>
          </a:ln>
        </p:spPr>
        <p:txBody>
          <a:bodyPr/>
          <a:lstStyle/>
          <a:p>
            <a:endParaRPr lang="tr-TR"/>
          </a:p>
        </p:txBody>
      </p:sp>
      <p:sp>
        <p:nvSpPr>
          <p:cNvPr id="47" name="Text 45"/>
          <p:cNvSpPr/>
          <p:nvPr/>
        </p:nvSpPr>
        <p:spPr>
          <a:xfrm>
            <a:off x="4864608" y="354787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8" name="Text 46"/>
          <p:cNvSpPr/>
          <p:nvPr/>
        </p:nvSpPr>
        <p:spPr>
          <a:xfrm>
            <a:off x="5303520" y="3566160"/>
            <a:ext cx="3236976"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Geri Yayılım (Backprop)</a:t>
            </a:r>
            <a:endParaRPr lang="en-US" sz="1100" dirty="0"/>
          </a:p>
        </p:txBody>
      </p:sp>
      <p:sp>
        <p:nvSpPr>
          <p:cNvPr id="49" name="Text 47"/>
          <p:cNvSpPr/>
          <p:nvPr/>
        </p:nvSpPr>
        <p:spPr>
          <a:xfrm>
            <a:off x="5303520" y="3877056"/>
            <a:ext cx="3236976" cy="1828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Hata gradyanı tüm ağda geri yayılır. Zincir kuralı ile her katmanın parametreleri güncellenir.</a:t>
            </a:r>
            <a:endParaRPr lang="en-US" sz="950" dirty="0"/>
          </a:p>
        </p:txBody>
      </p:sp>
      <p:sp>
        <p:nvSpPr>
          <p:cNvPr id="50" name="Shape 48"/>
          <p:cNvSpPr/>
          <p:nvPr/>
        </p:nvSpPr>
        <p:spPr>
          <a:xfrm>
            <a:off x="4773168" y="4041648"/>
            <a:ext cx="3877056" cy="51206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51" name="Shape 49"/>
          <p:cNvSpPr/>
          <p:nvPr/>
        </p:nvSpPr>
        <p:spPr>
          <a:xfrm>
            <a:off x="4864608" y="4114800"/>
            <a:ext cx="347472" cy="347472"/>
          </a:xfrm>
          <a:prstGeom prst="ellipse">
            <a:avLst/>
          </a:prstGeom>
          <a:solidFill>
            <a:srgbClr val="059669"/>
          </a:solidFill>
          <a:ln w="12700">
            <a:solidFill>
              <a:srgbClr val="059669"/>
            </a:solidFill>
            <a:prstDash val="solid"/>
          </a:ln>
        </p:spPr>
        <p:txBody>
          <a:bodyPr/>
          <a:lstStyle/>
          <a:p>
            <a:endParaRPr lang="tr-TR"/>
          </a:p>
        </p:txBody>
      </p:sp>
      <p:sp>
        <p:nvSpPr>
          <p:cNvPr id="52" name="Text 50"/>
          <p:cNvSpPr/>
          <p:nvPr/>
        </p:nvSpPr>
        <p:spPr>
          <a:xfrm>
            <a:off x="4864608" y="41148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3" name="Text 51"/>
          <p:cNvSpPr/>
          <p:nvPr/>
        </p:nvSpPr>
        <p:spPr>
          <a:xfrm>
            <a:off x="5303520" y="4133088"/>
            <a:ext cx="3236976"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SGD ile Güncelleme</a:t>
            </a:r>
            <a:endParaRPr lang="en-US" sz="1100" dirty="0"/>
          </a:p>
        </p:txBody>
      </p:sp>
      <p:sp>
        <p:nvSpPr>
          <p:cNvPr id="54" name="Text 52"/>
          <p:cNvSpPr/>
          <p:nvPr/>
        </p:nvSpPr>
        <p:spPr>
          <a:xfrm>
            <a:off x="5303520" y="4443984"/>
            <a:ext cx="3236976" cy="1828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θ⁽ᵗ⁺¹⁾ = θ⁽ᵗ⁾ − η·∂E/∂θ − λθ⁽ᵗ⁾ + ν·Δθ⁽ᵗ⁻¹⁾  (öğrenme hızı η, ağırlık bozunumu λ, momentum ν)</a:t>
            </a:r>
            <a:endParaRPr lang="en-US" sz="950" dirty="0"/>
          </a:p>
        </p:txBody>
      </p:sp>
      <p:sp>
        <p:nvSpPr>
          <p:cNvPr id="55" name="Shape 53"/>
          <p:cNvSpPr/>
          <p:nvPr/>
        </p:nvSpPr>
        <p:spPr>
          <a:xfrm>
            <a:off x="365760" y="4846320"/>
            <a:ext cx="8412480" cy="256032"/>
          </a:xfrm>
          <a:prstGeom prst="rect">
            <a:avLst/>
          </a:prstGeom>
          <a:solidFill>
            <a:srgbClr val="EFF6FF"/>
          </a:solidFill>
          <a:ln w="12700">
            <a:solidFill>
              <a:srgbClr val="0891B2"/>
            </a:solidFill>
            <a:prstDash val="solid"/>
          </a:ln>
        </p:spPr>
        <p:txBody>
          <a:bodyPr/>
          <a:lstStyle/>
          <a:p>
            <a:endParaRPr lang="tr-TR"/>
          </a:p>
        </p:txBody>
      </p:sp>
      <p:sp>
        <p:nvSpPr>
          <p:cNvPr id="56" name="Text 54"/>
          <p:cNvSpPr/>
          <p:nvPr/>
        </p:nvSpPr>
        <p:spPr>
          <a:xfrm>
            <a:off x="502920" y="4846320"/>
            <a:ext cx="8229600" cy="256032"/>
          </a:xfrm>
          <a:prstGeom prst="rect">
            <a:avLst/>
          </a:prstGeom>
          <a:noFill/>
          <a:ln/>
        </p:spPr>
        <p:txBody>
          <a:bodyPr wrap="square" lIns="0" tIns="0" rIns="0" bIns="0" rtlCol="0" anchor="ctr"/>
          <a:lstStyle/>
          <a:p>
            <a:pPr marL="0" indent="0">
              <a:buNone/>
            </a:pPr>
            <a:r>
              <a:rPr lang="en-US" sz="850" i="1" dirty="0">
                <a:solidFill>
                  <a:srgbClr val="1E3A5F"/>
                </a:solidFill>
                <a:latin typeface="Calibri" pitchFamily="34" charset="0"/>
                <a:ea typeface="Calibri" pitchFamily="34" charset="-122"/>
                <a:cs typeface="Calibri" pitchFamily="34" charset="-120"/>
              </a:rPr>
              <a:t>💡 Not: Yeterli eğitim verisi varsa (büyük veri), ön-eğitim olmadan yalnızca backpropagation ile de başarılı sonuçlar elde edilebilir (LeCun et al., 2015). Kaynak: Hinton et al. (2006) Neural Computation.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05 — OTOKODLAYici</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Otokodlayıcılar (Autoencoder) — Temsil Öğrenimi</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Text 4"/>
          <p:cNvSpPr/>
          <p:nvPr/>
        </p:nvSpPr>
        <p:spPr>
          <a:xfrm>
            <a:off x="365760" y="1115568"/>
            <a:ext cx="8412480" cy="274320"/>
          </a:xfrm>
          <a:prstGeom prst="rect">
            <a:avLst/>
          </a:prstGeom>
          <a:noFill/>
          <a:ln/>
        </p:spPr>
        <p:txBody>
          <a:bodyPr wrap="square" lIns="0" tIns="0" rIns="0" bIns="0"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Mimari: Kodlayıcı → Şişe Boynu → Kod Çözücü</a:t>
            </a:r>
            <a:endParaRPr lang="en-US" sz="1200" dirty="0"/>
          </a:p>
        </p:txBody>
      </p:sp>
      <p:sp>
        <p:nvSpPr>
          <p:cNvPr id="7" name="Shape 5"/>
          <p:cNvSpPr/>
          <p:nvPr/>
        </p:nvSpPr>
        <p:spPr>
          <a:xfrm>
            <a:off x="502920" y="969264"/>
            <a:ext cx="274320" cy="274320"/>
          </a:xfrm>
          <a:prstGeom prst="ellipse">
            <a:avLst/>
          </a:prstGeom>
          <a:solidFill>
            <a:srgbClr val="7C3AED"/>
          </a:solidFill>
          <a:ln w="12700">
            <a:solidFill>
              <a:srgbClr val="FFFFFF"/>
            </a:solidFill>
            <a:prstDash val="solid"/>
          </a:ln>
        </p:spPr>
        <p:txBody>
          <a:bodyPr/>
          <a:lstStyle/>
          <a:p>
            <a:endParaRPr lang="tr-TR"/>
          </a:p>
        </p:txBody>
      </p:sp>
      <p:sp>
        <p:nvSpPr>
          <p:cNvPr id="8" name="Shape 6"/>
          <p:cNvSpPr/>
          <p:nvPr/>
        </p:nvSpPr>
        <p:spPr>
          <a:xfrm>
            <a:off x="502920" y="1353312"/>
            <a:ext cx="274320" cy="274320"/>
          </a:xfrm>
          <a:prstGeom prst="ellipse">
            <a:avLst/>
          </a:prstGeom>
          <a:solidFill>
            <a:srgbClr val="7C3AED"/>
          </a:solidFill>
          <a:ln w="12700">
            <a:solidFill>
              <a:srgbClr val="FFFFFF"/>
            </a:solidFill>
            <a:prstDash val="solid"/>
          </a:ln>
        </p:spPr>
        <p:txBody>
          <a:bodyPr/>
          <a:lstStyle/>
          <a:p>
            <a:endParaRPr lang="tr-TR"/>
          </a:p>
        </p:txBody>
      </p:sp>
      <p:sp>
        <p:nvSpPr>
          <p:cNvPr id="9" name="Shape 7"/>
          <p:cNvSpPr/>
          <p:nvPr/>
        </p:nvSpPr>
        <p:spPr>
          <a:xfrm>
            <a:off x="502920" y="1737360"/>
            <a:ext cx="274320" cy="274320"/>
          </a:xfrm>
          <a:prstGeom prst="ellipse">
            <a:avLst/>
          </a:prstGeom>
          <a:solidFill>
            <a:srgbClr val="7C3AED"/>
          </a:solidFill>
          <a:ln w="12700">
            <a:solidFill>
              <a:srgbClr val="FFFFFF"/>
            </a:solidFill>
            <a:prstDash val="solid"/>
          </a:ln>
        </p:spPr>
        <p:txBody>
          <a:bodyPr/>
          <a:lstStyle/>
          <a:p>
            <a:endParaRPr lang="tr-TR"/>
          </a:p>
        </p:txBody>
      </p:sp>
      <p:sp>
        <p:nvSpPr>
          <p:cNvPr id="10" name="Shape 8"/>
          <p:cNvSpPr/>
          <p:nvPr/>
        </p:nvSpPr>
        <p:spPr>
          <a:xfrm>
            <a:off x="502920" y="2121408"/>
            <a:ext cx="274320" cy="274320"/>
          </a:xfrm>
          <a:prstGeom prst="ellipse">
            <a:avLst/>
          </a:prstGeom>
          <a:solidFill>
            <a:srgbClr val="7C3AED"/>
          </a:solidFill>
          <a:ln w="12700">
            <a:solidFill>
              <a:srgbClr val="FFFFFF"/>
            </a:solidFill>
            <a:prstDash val="solid"/>
          </a:ln>
        </p:spPr>
        <p:txBody>
          <a:bodyPr/>
          <a:lstStyle/>
          <a:p>
            <a:endParaRPr lang="tr-TR"/>
          </a:p>
        </p:txBody>
      </p:sp>
      <p:sp>
        <p:nvSpPr>
          <p:cNvPr id="11" name="Shape 9"/>
          <p:cNvSpPr/>
          <p:nvPr/>
        </p:nvSpPr>
        <p:spPr>
          <a:xfrm>
            <a:off x="502920" y="2505456"/>
            <a:ext cx="274320" cy="274320"/>
          </a:xfrm>
          <a:prstGeom prst="ellipse">
            <a:avLst/>
          </a:prstGeom>
          <a:solidFill>
            <a:srgbClr val="7C3AED"/>
          </a:solidFill>
          <a:ln w="12700">
            <a:solidFill>
              <a:srgbClr val="FFFFFF"/>
            </a:solidFill>
            <a:prstDash val="solid"/>
          </a:ln>
        </p:spPr>
        <p:txBody>
          <a:bodyPr/>
          <a:lstStyle/>
          <a:p>
            <a:endParaRPr lang="tr-TR"/>
          </a:p>
        </p:txBody>
      </p:sp>
      <p:sp>
        <p:nvSpPr>
          <p:cNvPr id="12" name="Shape 10"/>
          <p:cNvSpPr/>
          <p:nvPr/>
        </p:nvSpPr>
        <p:spPr>
          <a:xfrm>
            <a:off x="502920" y="2889504"/>
            <a:ext cx="274320" cy="274320"/>
          </a:xfrm>
          <a:prstGeom prst="ellipse">
            <a:avLst/>
          </a:prstGeom>
          <a:solidFill>
            <a:srgbClr val="7C3AED"/>
          </a:solidFill>
          <a:ln w="12700">
            <a:solidFill>
              <a:srgbClr val="FFFFFF"/>
            </a:solidFill>
            <a:prstDash val="solid"/>
          </a:ln>
        </p:spPr>
        <p:txBody>
          <a:bodyPr/>
          <a:lstStyle/>
          <a:p>
            <a:endParaRPr lang="tr-TR"/>
          </a:p>
        </p:txBody>
      </p:sp>
      <p:sp>
        <p:nvSpPr>
          <p:cNvPr id="13" name="Text 11"/>
          <p:cNvSpPr/>
          <p:nvPr/>
        </p:nvSpPr>
        <p:spPr>
          <a:xfrm>
            <a:off x="274320" y="2816352"/>
            <a:ext cx="749808" cy="475488"/>
          </a:xfrm>
          <a:prstGeom prst="rect">
            <a:avLst/>
          </a:prstGeom>
          <a:noFill/>
          <a:ln/>
        </p:spPr>
        <p:txBody>
          <a:bodyPr wrap="square" lIns="0" tIns="0" rIns="0" bIns="0" rtlCol="0" anchor="ctr"/>
          <a:lstStyle/>
          <a:p>
            <a:pPr marL="0" indent="0" algn="ctr">
              <a:buNone/>
            </a:pPr>
            <a:r>
              <a:rPr lang="en-US" sz="750" b="1" dirty="0">
                <a:solidFill>
                  <a:srgbClr val="7C3AED"/>
                </a:solidFill>
                <a:latin typeface="Calibri" pitchFamily="34" charset="0"/>
                <a:ea typeface="Calibri" pitchFamily="34" charset="-122"/>
                <a:cs typeface="Calibri" pitchFamily="34" charset="-120"/>
              </a:rPr>
              <a:t>GİRİŞ</a:t>
            </a:r>
            <a:endParaRPr lang="en-US" sz="750" dirty="0"/>
          </a:p>
          <a:p>
            <a:pPr marL="0" indent="0" algn="ctr">
              <a:buNone/>
            </a:pPr>
            <a:r>
              <a:rPr lang="en-US" sz="750" b="1" dirty="0">
                <a:solidFill>
                  <a:srgbClr val="7C3AED"/>
                </a:solidFill>
                <a:latin typeface="Calibri" pitchFamily="34" charset="0"/>
                <a:ea typeface="Calibri" pitchFamily="34" charset="-122"/>
                <a:cs typeface="Calibri" pitchFamily="34" charset="-120"/>
              </a:rPr>
              <a:t>#Özellik</a:t>
            </a:r>
            <a:endParaRPr lang="en-US" sz="750" dirty="0"/>
          </a:p>
        </p:txBody>
      </p:sp>
      <p:sp>
        <p:nvSpPr>
          <p:cNvPr id="14" name="Shape 12"/>
          <p:cNvSpPr/>
          <p:nvPr/>
        </p:nvSpPr>
        <p:spPr>
          <a:xfrm>
            <a:off x="1024128" y="2103120"/>
            <a:ext cx="457200" cy="36576"/>
          </a:xfrm>
          <a:prstGeom prst="rect">
            <a:avLst/>
          </a:prstGeom>
          <a:solidFill>
            <a:srgbClr val="64748B"/>
          </a:solidFill>
          <a:ln w="12700">
            <a:solidFill>
              <a:srgbClr val="64748B"/>
            </a:solidFill>
            <a:prstDash val="solid"/>
          </a:ln>
        </p:spPr>
        <p:txBody>
          <a:bodyPr/>
          <a:lstStyle/>
          <a:p>
            <a:endParaRPr lang="tr-TR"/>
          </a:p>
        </p:txBody>
      </p:sp>
      <p:sp>
        <p:nvSpPr>
          <p:cNvPr id="15" name="Shape 13"/>
          <p:cNvSpPr/>
          <p:nvPr/>
        </p:nvSpPr>
        <p:spPr>
          <a:xfrm>
            <a:off x="1709928" y="1161288"/>
            <a:ext cx="274320" cy="274320"/>
          </a:xfrm>
          <a:prstGeom prst="ellipse">
            <a:avLst/>
          </a:prstGeom>
          <a:solidFill>
            <a:srgbClr val="0891B2"/>
          </a:solidFill>
          <a:ln w="12700">
            <a:solidFill>
              <a:srgbClr val="FFFFFF"/>
            </a:solidFill>
            <a:prstDash val="solid"/>
          </a:ln>
        </p:spPr>
        <p:txBody>
          <a:bodyPr/>
          <a:lstStyle/>
          <a:p>
            <a:endParaRPr lang="tr-TR"/>
          </a:p>
        </p:txBody>
      </p:sp>
      <p:sp>
        <p:nvSpPr>
          <p:cNvPr id="16" name="Shape 14"/>
          <p:cNvSpPr/>
          <p:nvPr/>
        </p:nvSpPr>
        <p:spPr>
          <a:xfrm>
            <a:off x="1709928" y="1545336"/>
            <a:ext cx="274320" cy="274320"/>
          </a:xfrm>
          <a:prstGeom prst="ellipse">
            <a:avLst/>
          </a:prstGeom>
          <a:solidFill>
            <a:srgbClr val="0891B2"/>
          </a:solidFill>
          <a:ln w="12700">
            <a:solidFill>
              <a:srgbClr val="FFFFFF"/>
            </a:solidFill>
            <a:prstDash val="solid"/>
          </a:ln>
        </p:spPr>
        <p:txBody>
          <a:bodyPr/>
          <a:lstStyle/>
          <a:p>
            <a:endParaRPr lang="tr-TR"/>
          </a:p>
        </p:txBody>
      </p:sp>
      <p:sp>
        <p:nvSpPr>
          <p:cNvPr id="17" name="Shape 15"/>
          <p:cNvSpPr/>
          <p:nvPr/>
        </p:nvSpPr>
        <p:spPr>
          <a:xfrm>
            <a:off x="1709928" y="1929384"/>
            <a:ext cx="274320" cy="274320"/>
          </a:xfrm>
          <a:prstGeom prst="ellipse">
            <a:avLst/>
          </a:prstGeom>
          <a:solidFill>
            <a:srgbClr val="0891B2"/>
          </a:solidFill>
          <a:ln w="12700">
            <a:solidFill>
              <a:srgbClr val="FFFFFF"/>
            </a:solidFill>
            <a:prstDash val="solid"/>
          </a:ln>
        </p:spPr>
        <p:txBody>
          <a:bodyPr/>
          <a:lstStyle/>
          <a:p>
            <a:endParaRPr lang="tr-TR"/>
          </a:p>
        </p:txBody>
      </p:sp>
      <p:sp>
        <p:nvSpPr>
          <p:cNvPr id="18" name="Shape 16"/>
          <p:cNvSpPr/>
          <p:nvPr/>
        </p:nvSpPr>
        <p:spPr>
          <a:xfrm>
            <a:off x="1709928" y="2313432"/>
            <a:ext cx="274320" cy="274320"/>
          </a:xfrm>
          <a:prstGeom prst="ellipse">
            <a:avLst/>
          </a:prstGeom>
          <a:solidFill>
            <a:srgbClr val="0891B2"/>
          </a:solidFill>
          <a:ln w="12700">
            <a:solidFill>
              <a:srgbClr val="FFFFFF"/>
            </a:solidFill>
            <a:prstDash val="solid"/>
          </a:ln>
        </p:spPr>
        <p:txBody>
          <a:bodyPr/>
          <a:lstStyle/>
          <a:p>
            <a:endParaRPr lang="tr-TR"/>
          </a:p>
        </p:txBody>
      </p:sp>
      <p:sp>
        <p:nvSpPr>
          <p:cNvPr id="19" name="Shape 17"/>
          <p:cNvSpPr/>
          <p:nvPr/>
        </p:nvSpPr>
        <p:spPr>
          <a:xfrm>
            <a:off x="1709928" y="2697480"/>
            <a:ext cx="274320" cy="274320"/>
          </a:xfrm>
          <a:prstGeom prst="ellipse">
            <a:avLst/>
          </a:prstGeom>
          <a:solidFill>
            <a:srgbClr val="0891B2"/>
          </a:solidFill>
          <a:ln w="12700">
            <a:solidFill>
              <a:srgbClr val="FFFFFF"/>
            </a:solidFill>
            <a:prstDash val="solid"/>
          </a:ln>
        </p:spPr>
        <p:txBody>
          <a:bodyPr/>
          <a:lstStyle/>
          <a:p>
            <a:endParaRPr lang="tr-TR"/>
          </a:p>
        </p:txBody>
      </p:sp>
      <p:sp>
        <p:nvSpPr>
          <p:cNvPr id="20" name="Text 18"/>
          <p:cNvSpPr/>
          <p:nvPr/>
        </p:nvSpPr>
        <p:spPr>
          <a:xfrm>
            <a:off x="1481328" y="2816352"/>
            <a:ext cx="749808" cy="475488"/>
          </a:xfrm>
          <a:prstGeom prst="rect">
            <a:avLst/>
          </a:prstGeom>
          <a:noFill/>
          <a:ln/>
        </p:spPr>
        <p:txBody>
          <a:bodyPr wrap="square" lIns="0" tIns="0" rIns="0" bIns="0" rtlCol="0" anchor="ctr"/>
          <a:lstStyle/>
          <a:p>
            <a:pPr marL="0" indent="0" algn="ctr">
              <a:buNone/>
            </a:pPr>
            <a:r>
              <a:rPr lang="en-US" sz="750" b="1" dirty="0">
                <a:solidFill>
                  <a:srgbClr val="0891B2"/>
                </a:solidFill>
                <a:latin typeface="Calibri" pitchFamily="34" charset="0"/>
                <a:ea typeface="Calibri" pitchFamily="34" charset="-122"/>
                <a:cs typeface="Calibri" pitchFamily="34" charset="-120"/>
              </a:rPr>
              <a:t>Kodlayıcı</a:t>
            </a:r>
            <a:endParaRPr lang="en-US" sz="750" dirty="0"/>
          </a:p>
          <a:p>
            <a:pPr marL="0" indent="0" algn="ctr">
              <a:buNone/>
            </a:pPr>
            <a:r>
              <a:rPr lang="en-US" sz="750" b="1" dirty="0">
                <a:solidFill>
                  <a:srgbClr val="0891B2"/>
                </a:solidFill>
                <a:latin typeface="Calibri" pitchFamily="34" charset="0"/>
                <a:ea typeface="Calibri" pitchFamily="34" charset="-122"/>
                <a:cs typeface="Calibri" pitchFamily="34" charset="-120"/>
              </a:rPr>
              <a:t>500</a:t>
            </a:r>
            <a:endParaRPr lang="en-US" sz="750" dirty="0"/>
          </a:p>
        </p:txBody>
      </p:sp>
      <p:sp>
        <p:nvSpPr>
          <p:cNvPr id="21" name="Shape 19"/>
          <p:cNvSpPr/>
          <p:nvPr/>
        </p:nvSpPr>
        <p:spPr>
          <a:xfrm>
            <a:off x="2231136" y="2103120"/>
            <a:ext cx="457200" cy="36576"/>
          </a:xfrm>
          <a:prstGeom prst="rect">
            <a:avLst/>
          </a:prstGeom>
          <a:solidFill>
            <a:srgbClr val="64748B"/>
          </a:solidFill>
          <a:ln w="12700">
            <a:solidFill>
              <a:srgbClr val="64748B"/>
            </a:solidFill>
            <a:prstDash val="solid"/>
          </a:ln>
        </p:spPr>
        <p:txBody>
          <a:bodyPr/>
          <a:lstStyle/>
          <a:p>
            <a:endParaRPr lang="tr-TR"/>
          </a:p>
        </p:txBody>
      </p:sp>
      <p:sp>
        <p:nvSpPr>
          <p:cNvPr id="22" name="Shape 20"/>
          <p:cNvSpPr/>
          <p:nvPr/>
        </p:nvSpPr>
        <p:spPr>
          <a:xfrm>
            <a:off x="2916936" y="1353312"/>
            <a:ext cx="274320" cy="274320"/>
          </a:xfrm>
          <a:prstGeom prst="ellipse">
            <a:avLst/>
          </a:prstGeom>
          <a:solidFill>
            <a:srgbClr val="0891B2"/>
          </a:solidFill>
          <a:ln w="12700">
            <a:solidFill>
              <a:srgbClr val="FFFFFF"/>
            </a:solidFill>
            <a:prstDash val="solid"/>
          </a:ln>
        </p:spPr>
        <p:txBody>
          <a:bodyPr/>
          <a:lstStyle/>
          <a:p>
            <a:endParaRPr lang="tr-TR"/>
          </a:p>
        </p:txBody>
      </p:sp>
      <p:sp>
        <p:nvSpPr>
          <p:cNvPr id="23" name="Shape 21"/>
          <p:cNvSpPr/>
          <p:nvPr/>
        </p:nvSpPr>
        <p:spPr>
          <a:xfrm>
            <a:off x="2916936" y="1737360"/>
            <a:ext cx="274320" cy="274320"/>
          </a:xfrm>
          <a:prstGeom prst="ellipse">
            <a:avLst/>
          </a:prstGeom>
          <a:solidFill>
            <a:srgbClr val="0891B2"/>
          </a:solidFill>
          <a:ln w="12700">
            <a:solidFill>
              <a:srgbClr val="FFFFFF"/>
            </a:solidFill>
            <a:prstDash val="solid"/>
          </a:ln>
        </p:spPr>
        <p:txBody>
          <a:bodyPr/>
          <a:lstStyle/>
          <a:p>
            <a:endParaRPr lang="tr-TR"/>
          </a:p>
        </p:txBody>
      </p:sp>
      <p:sp>
        <p:nvSpPr>
          <p:cNvPr id="24" name="Shape 22"/>
          <p:cNvSpPr/>
          <p:nvPr/>
        </p:nvSpPr>
        <p:spPr>
          <a:xfrm>
            <a:off x="2916936" y="2121408"/>
            <a:ext cx="274320" cy="274320"/>
          </a:xfrm>
          <a:prstGeom prst="ellipse">
            <a:avLst/>
          </a:prstGeom>
          <a:solidFill>
            <a:srgbClr val="0891B2"/>
          </a:solidFill>
          <a:ln w="12700">
            <a:solidFill>
              <a:srgbClr val="FFFFFF"/>
            </a:solidFill>
            <a:prstDash val="solid"/>
          </a:ln>
        </p:spPr>
        <p:txBody>
          <a:bodyPr/>
          <a:lstStyle/>
          <a:p>
            <a:endParaRPr lang="tr-TR"/>
          </a:p>
        </p:txBody>
      </p:sp>
      <p:sp>
        <p:nvSpPr>
          <p:cNvPr id="25" name="Shape 23"/>
          <p:cNvSpPr/>
          <p:nvPr/>
        </p:nvSpPr>
        <p:spPr>
          <a:xfrm>
            <a:off x="2916936" y="2505456"/>
            <a:ext cx="274320" cy="274320"/>
          </a:xfrm>
          <a:prstGeom prst="ellipse">
            <a:avLst/>
          </a:prstGeom>
          <a:solidFill>
            <a:srgbClr val="0891B2"/>
          </a:solidFill>
          <a:ln w="12700">
            <a:solidFill>
              <a:srgbClr val="FFFFFF"/>
            </a:solidFill>
            <a:prstDash val="solid"/>
          </a:ln>
        </p:spPr>
        <p:txBody>
          <a:bodyPr/>
          <a:lstStyle/>
          <a:p>
            <a:endParaRPr lang="tr-TR"/>
          </a:p>
        </p:txBody>
      </p:sp>
      <p:sp>
        <p:nvSpPr>
          <p:cNvPr id="26" name="Text 24"/>
          <p:cNvSpPr/>
          <p:nvPr/>
        </p:nvSpPr>
        <p:spPr>
          <a:xfrm>
            <a:off x="2688336" y="2816352"/>
            <a:ext cx="749808" cy="475488"/>
          </a:xfrm>
          <a:prstGeom prst="rect">
            <a:avLst/>
          </a:prstGeom>
          <a:noFill/>
          <a:ln/>
        </p:spPr>
        <p:txBody>
          <a:bodyPr wrap="square" lIns="0" tIns="0" rIns="0" bIns="0" rtlCol="0" anchor="ctr"/>
          <a:lstStyle/>
          <a:p>
            <a:pPr marL="0" indent="0" algn="ctr">
              <a:buNone/>
            </a:pPr>
            <a:r>
              <a:rPr lang="en-US" sz="750" b="1" dirty="0">
                <a:solidFill>
                  <a:srgbClr val="0891B2"/>
                </a:solidFill>
                <a:latin typeface="Calibri" pitchFamily="34" charset="0"/>
                <a:ea typeface="Calibri" pitchFamily="34" charset="-122"/>
                <a:cs typeface="Calibri" pitchFamily="34" charset="-120"/>
              </a:rPr>
              <a:t>Kodlayıcı</a:t>
            </a:r>
            <a:endParaRPr lang="en-US" sz="750" dirty="0"/>
          </a:p>
          <a:p>
            <a:pPr marL="0" indent="0" algn="ctr">
              <a:buNone/>
            </a:pPr>
            <a:r>
              <a:rPr lang="en-US" sz="750" b="1" dirty="0">
                <a:solidFill>
                  <a:srgbClr val="0891B2"/>
                </a:solidFill>
                <a:latin typeface="Calibri" pitchFamily="34" charset="0"/>
                <a:ea typeface="Calibri" pitchFamily="34" charset="-122"/>
                <a:cs typeface="Calibri" pitchFamily="34" charset="-120"/>
              </a:rPr>
              <a:t>250</a:t>
            </a:r>
            <a:endParaRPr lang="en-US" sz="750" dirty="0"/>
          </a:p>
        </p:txBody>
      </p:sp>
      <p:sp>
        <p:nvSpPr>
          <p:cNvPr id="27" name="Shape 25"/>
          <p:cNvSpPr/>
          <p:nvPr/>
        </p:nvSpPr>
        <p:spPr>
          <a:xfrm>
            <a:off x="3438144" y="2103120"/>
            <a:ext cx="457200" cy="36576"/>
          </a:xfrm>
          <a:prstGeom prst="rect">
            <a:avLst/>
          </a:prstGeom>
          <a:solidFill>
            <a:srgbClr val="64748B"/>
          </a:solidFill>
          <a:ln w="12700">
            <a:solidFill>
              <a:srgbClr val="64748B"/>
            </a:solidFill>
            <a:prstDash val="solid"/>
          </a:ln>
        </p:spPr>
        <p:txBody>
          <a:bodyPr/>
          <a:lstStyle/>
          <a:p>
            <a:endParaRPr lang="tr-TR"/>
          </a:p>
        </p:txBody>
      </p:sp>
      <p:sp>
        <p:nvSpPr>
          <p:cNvPr id="28" name="Shape 26"/>
          <p:cNvSpPr/>
          <p:nvPr/>
        </p:nvSpPr>
        <p:spPr>
          <a:xfrm>
            <a:off x="4123944" y="1737360"/>
            <a:ext cx="274320" cy="274320"/>
          </a:xfrm>
          <a:prstGeom prst="ellipse">
            <a:avLst/>
          </a:prstGeom>
          <a:solidFill>
            <a:srgbClr val="84CC16"/>
          </a:solidFill>
          <a:ln w="12700">
            <a:solidFill>
              <a:srgbClr val="FFFFFF"/>
            </a:solidFill>
            <a:prstDash val="solid"/>
          </a:ln>
        </p:spPr>
        <p:txBody>
          <a:bodyPr/>
          <a:lstStyle/>
          <a:p>
            <a:endParaRPr lang="tr-TR"/>
          </a:p>
        </p:txBody>
      </p:sp>
      <p:sp>
        <p:nvSpPr>
          <p:cNvPr id="29" name="Shape 27"/>
          <p:cNvSpPr/>
          <p:nvPr/>
        </p:nvSpPr>
        <p:spPr>
          <a:xfrm>
            <a:off x="4123944" y="2121408"/>
            <a:ext cx="274320" cy="274320"/>
          </a:xfrm>
          <a:prstGeom prst="ellipse">
            <a:avLst/>
          </a:prstGeom>
          <a:solidFill>
            <a:srgbClr val="84CC16"/>
          </a:solidFill>
          <a:ln w="12700">
            <a:solidFill>
              <a:srgbClr val="FFFFFF"/>
            </a:solidFill>
            <a:prstDash val="solid"/>
          </a:ln>
        </p:spPr>
        <p:txBody>
          <a:bodyPr/>
          <a:lstStyle/>
          <a:p>
            <a:endParaRPr lang="tr-TR"/>
          </a:p>
        </p:txBody>
      </p:sp>
      <p:sp>
        <p:nvSpPr>
          <p:cNvPr id="30" name="Text 28"/>
          <p:cNvSpPr/>
          <p:nvPr/>
        </p:nvSpPr>
        <p:spPr>
          <a:xfrm>
            <a:off x="3895344" y="2816352"/>
            <a:ext cx="749808" cy="475488"/>
          </a:xfrm>
          <a:prstGeom prst="rect">
            <a:avLst/>
          </a:prstGeom>
          <a:noFill/>
          <a:ln/>
        </p:spPr>
        <p:txBody>
          <a:bodyPr wrap="square" lIns="0" tIns="0" rIns="0" bIns="0" rtlCol="0" anchor="ctr"/>
          <a:lstStyle/>
          <a:p>
            <a:pPr marL="0" indent="0" algn="ctr">
              <a:buNone/>
            </a:pPr>
            <a:r>
              <a:rPr lang="en-US" sz="750" b="1" dirty="0">
                <a:solidFill>
                  <a:srgbClr val="84CC16"/>
                </a:solidFill>
                <a:latin typeface="Calibri" pitchFamily="34" charset="0"/>
                <a:ea typeface="Calibri" pitchFamily="34" charset="-122"/>
                <a:cs typeface="Calibri" pitchFamily="34" charset="-120"/>
              </a:rPr>
              <a:t>KOD</a:t>
            </a:r>
            <a:endParaRPr lang="en-US" sz="750" dirty="0"/>
          </a:p>
          <a:p>
            <a:pPr marL="0" indent="0" algn="ctr">
              <a:buNone/>
            </a:pPr>
            <a:r>
              <a:rPr lang="en-US" sz="750" b="1" dirty="0">
                <a:solidFill>
                  <a:srgbClr val="84CC16"/>
                </a:solidFill>
                <a:latin typeface="Calibri" pitchFamily="34" charset="0"/>
                <a:ea typeface="Calibri" pitchFamily="34" charset="-122"/>
                <a:cs typeface="Calibri" pitchFamily="34" charset="-120"/>
              </a:rPr>
              <a:t>(latent)</a:t>
            </a:r>
            <a:endParaRPr lang="en-US" sz="750" dirty="0"/>
          </a:p>
        </p:txBody>
      </p:sp>
      <p:sp>
        <p:nvSpPr>
          <p:cNvPr id="31" name="Shape 29"/>
          <p:cNvSpPr/>
          <p:nvPr/>
        </p:nvSpPr>
        <p:spPr>
          <a:xfrm>
            <a:off x="4645152" y="2103120"/>
            <a:ext cx="457200" cy="36576"/>
          </a:xfrm>
          <a:prstGeom prst="rect">
            <a:avLst/>
          </a:prstGeom>
          <a:solidFill>
            <a:srgbClr val="64748B"/>
          </a:solidFill>
          <a:ln w="12700">
            <a:solidFill>
              <a:srgbClr val="64748B"/>
            </a:solidFill>
            <a:prstDash val="solid"/>
          </a:ln>
        </p:spPr>
        <p:txBody>
          <a:bodyPr/>
          <a:lstStyle/>
          <a:p>
            <a:endParaRPr lang="tr-TR"/>
          </a:p>
        </p:txBody>
      </p:sp>
      <p:sp>
        <p:nvSpPr>
          <p:cNvPr id="32" name="Shape 30"/>
          <p:cNvSpPr/>
          <p:nvPr/>
        </p:nvSpPr>
        <p:spPr>
          <a:xfrm>
            <a:off x="5330952" y="1353312"/>
            <a:ext cx="274320" cy="274320"/>
          </a:xfrm>
          <a:prstGeom prst="ellipse">
            <a:avLst/>
          </a:prstGeom>
          <a:solidFill>
            <a:srgbClr val="06B6D4"/>
          </a:solidFill>
          <a:ln w="12700">
            <a:solidFill>
              <a:srgbClr val="FFFFFF"/>
            </a:solidFill>
            <a:prstDash val="solid"/>
          </a:ln>
        </p:spPr>
        <p:txBody>
          <a:bodyPr/>
          <a:lstStyle/>
          <a:p>
            <a:endParaRPr lang="tr-TR"/>
          </a:p>
        </p:txBody>
      </p:sp>
      <p:sp>
        <p:nvSpPr>
          <p:cNvPr id="33" name="Shape 31"/>
          <p:cNvSpPr/>
          <p:nvPr/>
        </p:nvSpPr>
        <p:spPr>
          <a:xfrm>
            <a:off x="5330952" y="1737360"/>
            <a:ext cx="274320" cy="274320"/>
          </a:xfrm>
          <a:prstGeom prst="ellipse">
            <a:avLst/>
          </a:prstGeom>
          <a:solidFill>
            <a:srgbClr val="06B6D4"/>
          </a:solidFill>
          <a:ln w="12700">
            <a:solidFill>
              <a:srgbClr val="FFFFFF"/>
            </a:solidFill>
            <a:prstDash val="solid"/>
          </a:ln>
        </p:spPr>
        <p:txBody>
          <a:bodyPr/>
          <a:lstStyle/>
          <a:p>
            <a:endParaRPr lang="tr-TR"/>
          </a:p>
        </p:txBody>
      </p:sp>
      <p:sp>
        <p:nvSpPr>
          <p:cNvPr id="34" name="Shape 32"/>
          <p:cNvSpPr/>
          <p:nvPr/>
        </p:nvSpPr>
        <p:spPr>
          <a:xfrm>
            <a:off x="5330952" y="2121408"/>
            <a:ext cx="274320" cy="274320"/>
          </a:xfrm>
          <a:prstGeom prst="ellipse">
            <a:avLst/>
          </a:prstGeom>
          <a:solidFill>
            <a:srgbClr val="06B6D4"/>
          </a:solidFill>
          <a:ln w="12700">
            <a:solidFill>
              <a:srgbClr val="FFFFFF"/>
            </a:solidFill>
            <a:prstDash val="solid"/>
          </a:ln>
        </p:spPr>
        <p:txBody>
          <a:bodyPr/>
          <a:lstStyle/>
          <a:p>
            <a:endParaRPr lang="tr-TR"/>
          </a:p>
        </p:txBody>
      </p:sp>
      <p:sp>
        <p:nvSpPr>
          <p:cNvPr id="35" name="Shape 33"/>
          <p:cNvSpPr/>
          <p:nvPr/>
        </p:nvSpPr>
        <p:spPr>
          <a:xfrm>
            <a:off x="5330952" y="2505456"/>
            <a:ext cx="274320" cy="274320"/>
          </a:xfrm>
          <a:prstGeom prst="ellipse">
            <a:avLst/>
          </a:prstGeom>
          <a:solidFill>
            <a:srgbClr val="06B6D4"/>
          </a:solidFill>
          <a:ln w="12700">
            <a:solidFill>
              <a:srgbClr val="FFFFFF"/>
            </a:solidFill>
            <a:prstDash val="solid"/>
          </a:ln>
        </p:spPr>
        <p:txBody>
          <a:bodyPr/>
          <a:lstStyle/>
          <a:p>
            <a:endParaRPr lang="tr-TR"/>
          </a:p>
        </p:txBody>
      </p:sp>
      <p:sp>
        <p:nvSpPr>
          <p:cNvPr id="36" name="Text 34"/>
          <p:cNvSpPr/>
          <p:nvPr/>
        </p:nvSpPr>
        <p:spPr>
          <a:xfrm>
            <a:off x="5102352" y="2816352"/>
            <a:ext cx="749808" cy="475488"/>
          </a:xfrm>
          <a:prstGeom prst="rect">
            <a:avLst/>
          </a:prstGeom>
          <a:noFill/>
          <a:ln/>
        </p:spPr>
        <p:txBody>
          <a:bodyPr wrap="square" lIns="0" tIns="0" rIns="0" bIns="0" rtlCol="0" anchor="ctr"/>
          <a:lstStyle/>
          <a:p>
            <a:pPr marL="0" indent="0" algn="ctr">
              <a:buNone/>
            </a:pPr>
            <a:r>
              <a:rPr lang="en-US" sz="750" b="1" dirty="0">
                <a:solidFill>
                  <a:srgbClr val="06B6D4"/>
                </a:solidFill>
                <a:latin typeface="Calibri" pitchFamily="34" charset="0"/>
                <a:ea typeface="Calibri" pitchFamily="34" charset="-122"/>
                <a:cs typeface="Calibri" pitchFamily="34" charset="-120"/>
              </a:rPr>
              <a:t>Çözücü</a:t>
            </a:r>
            <a:endParaRPr lang="en-US" sz="750" dirty="0"/>
          </a:p>
          <a:p>
            <a:pPr marL="0" indent="0" algn="ctr">
              <a:buNone/>
            </a:pPr>
            <a:r>
              <a:rPr lang="en-US" sz="750" b="1" dirty="0">
                <a:solidFill>
                  <a:srgbClr val="06B6D4"/>
                </a:solidFill>
                <a:latin typeface="Calibri" pitchFamily="34" charset="0"/>
                <a:ea typeface="Calibri" pitchFamily="34" charset="-122"/>
                <a:cs typeface="Calibri" pitchFamily="34" charset="-120"/>
              </a:rPr>
              <a:t>250</a:t>
            </a:r>
            <a:endParaRPr lang="en-US" sz="750" dirty="0"/>
          </a:p>
        </p:txBody>
      </p:sp>
      <p:sp>
        <p:nvSpPr>
          <p:cNvPr id="37" name="Shape 35"/>
          <p:cNvSpPr/>
          <p:nvPr/>
        </p:nvSpPr>
        <p:spPr>
          <a:xfrm>
            <a:off x="5852160" y="2103120"/>
            <a:ext cx="457200" cy="36576"/>
          </a:xfrm>
          <a:prstGeom prst="rect">
            <a:avLst/>
          </a:prstGeom>
          <a:solidFill>
            <a:srgbClr val="64748B"/>
          </a:solidFill>
          <a:ln w="12700">
            <a:solidFill>
              <a:srgbClr val="64748B"/>
            </a:solidFill>
            <a:prstDash val="solid"/>
          </a:ln>
        </p:spPr>
        <p:txBody>
          <a:bodyPr/>
          <a:lstStyle/>
          <a:p>
            <a:endParaRPr lang="tr-TR"/>
          </a:p>
        </p:txBody>
      </p:sp>
      <p:sp>
        <p:nvSpPr>
          <p:cNvPr id="38" name="Shape 36"/>
          <p:cNvSpPr/>
          <p:nvPr/>
        </p:nvSpPr>
        <p:spPr>
          <a:xfrm>
            <a:off x="6537960" y="1161288"/>
            <a:ext cx="274320" cy="274320"/>
          </a:xfrm>
          <a:prstGeom prst="ellipse">
            <a:avLst/>
          </a:prstGeom>
          <a:solidFill>
            <a:srgbClr val="06B6D4"/>
          </a:solidFill>
          <a:ln w="12700">
            <a:solidFill>
              <a:srgbClr val="FFFFFF"/>
            </a:solidFill>
            <a:prstDash val="solid"/>
          </a:ln>
        </p:spPr>
        <p:txBody>
          <a:bodyPr/>
          <a:lstStyle/>
          <a:p>
            <a:endParaRPr lang="tr-TR"/>
          </a:p>
        </p:txBody>
      </p:sp>
      <p:sp>
        <p:nvSpPr>
          <p:cNvPr id="39" name="Shape 37"/>
          <p:cNvSpPr/>
          <p:nvPr/>
        </p:nvSpPr>
        <p:spPr>
          <a:xfrm>
            <a:off x="6537960" y="1545336"/>
            <a:ext cx="274320" cy="274320"/>
          </a:xfrm>
          <a:prstGeom prst="ellipse">
            <a:avLst/>
          </a:prstGeom>
          <a:solidFill>
            <a:srgbClr val="06B6D4"/>
          </a:solidFill>
          <a:ln w="12700">
            <a:solidFill>
              <a:srgbClr val="FFFFFF"/>
            </a:solidFill>
            <a:prstDash val="solid"/>
          </a:ln>
        </p:spPr>
        <p:txBody>
          <a:bodyPr/>
          <a:lstStyle/>
          <a:p>
            <a:endParaRPr lang="tr-TR"/>
          </a:p>
        </p:txBody>
      </p:sp>
      <p:sp>
        <p:nvSpPr>
          <p:cNvPr id="40" name="Shape 38"/>
          <p:cNvSpPr/>
          <p:nvPr/>
        </p:nvSpPr>
        <p:spPr>
          <a:xfrm>
            <a:off x="6537960" y="1929384"/>
            <a:ext cx="274320" cy="274320"/>
          </a:xfrm>
          <a:prstGeom prst="ellipse">
            <a:avLst/>
          </a:prstGeom>
          <a:solidFill>
            <a:srgbClr val="06B6D4"/>
          </a:solidFill>
          <a:ln w="12700">
            <a:solidFill>
              <a:srgbClr val="FFFFFF"/>
            </a:solidFill>
            <a:prstDash val="solid"/>
          </a:ln>
        </p:spPr>
        <p:txBody>
          <a:bodyPr/>
          <a:lstStyle/>
          <a:p>
            <a:endParaRPr lang="tr-TR"/>
          </a:p>
        </p:txBody>
      </p:sp>
      <p:sp>
        <p:nvSpPr>
          <p:cNvPr id="41" name="Shape 39"/>
          <p:cNvSpPr/>
          <p:nvPr/>
        </p:nvSpPr>
        <p:spPr>
          <a:xfrm>
            <a:off x="6537960" y="2313432"/>
            <a:ext cx="274320" cy="274320"/>
          </a:xfrm>
          <a:prstGeom prst="ellipse">
            <a:avLst/>
          </a:prstGeom>
          <a:solidFill>
            <a:srgbClr val="06B6D4"/>
          </a:solidFill>
          <a:ln w="12700">
            <a:solidFill>
              <a:srgbClr val="FFFFFF"/>
            </a:solidFill>
            <a:prstDash val="solid"/>
          </a:ln>
        </p:spPr>
        <p:txBody>
          <a:bodyPr/>
          <a:lstStyle/>
          <a:p>
            <a:endParaRPr lang="tr-TR"/>
          </a:p>
        </p:txBody>
      </p:sp>
      <p:sp>
        <p:nvSpPr>
          <p:cNvPr id="42" name="Shape 40"/>
          <p:cNvSpPr/>
          <p:nvPr/>
        </p:nvSpPr>
        <p:spPr>
          <a:xfrm>
            <a:off x="6537960" y="2697480"/>
            <a:ext cx="274320" cy="274320"/>
          </a:xfrm>
          <a:prstGeom prst="ellipse">
            <a:avLst/>
          </a:prstGeom>
          <a:solidFill>
            <a:srgbClr val="06B6D4"/>
          </a:solidFill>
          <a:ln w="12700">
            <a:solidFill>
              <a:srgbClr val="FFFFFF"/>
            </a:solidFill>
            <a:prstDash val="solid"/>
          </a:ln>
        </p:spPr>
        <p:txBody>
          <a:bodyPr/>
          <a:lstStyle/>
          <a:p>
            <a:endParaRPr lang="tr-TR"/>
          </a:p>
        </p:txBody>
      </p:sp>
      <p:sp>
        <p:nvSpPr>
          <p:cNvPr id="43" name="Text 41"/>
          <p:cNvSpPr/>
          <p:nvPr/>
        </p:nvSpPr>
        <p:spPr>
          <a:xfrm>
            <a:off x="6309360" y="2816352"/>
            <a:ext cx="749808" cy="475488"/>
          </a:xfrm>
          <a:prstGeom prst="rect">
            <a:avLst/>
          </a:prstGeom>
          <a:noFill/>
          <a:ln/>
        </p:spPr>
        <p:txBody>
          <a:bodyPr wrap="square" lIns="0" tIns="0" rIns="0" bIns="0" rtlCol="0" anchor="ctr"/>
          <a:lstStyle/>
          <a:p>
            <a:pPr marL="0" indent="0" algn="ctr">
              <a:buNone/>
            </a:pPr>
            <a:r>
              <a:rPr lang="en-US" sz="750" b="1" dirty="0">
                <a:solidFill>
                  <a:srgbClr val="06B6D4"/>
                </a:solidFill>
                <a:latin typeface="Calibri" pitchFamily="34" charset="0"/>
                <a:ea typeface="Calibri" pitchFamily="34" charset="-122"/>
                <a:cs typeface="Calibri" pitchFamily="34" charset="-120"/>
              </a:rPr>
              <a:t>Çözücü</a:t>
            </a:r>
            <a:endParaRPr lang="en-US" sz="750" dirty="0"/>
          </a:p>
          <a:p>
            <a:pPr marL="0" indent="0" algn="ctr">
              <a:buNone/>
            </a:pPr>
            <a:r>
              <a:rPr lang="en-US" sz="750" b="1" dirty="0">
                <a:solidFill>
                  <a:srgbClr val="06B6D4"/>
                </a:solidFill>
                <a:latin typeface="Calibri" pitchFamily="34" charset="0"/>
                <a:ea typeface="Calibri" pitchFamily="34" charset="-122"/>
                <a:cs typeface="Calibri" pitchFamily="34" charset="-120"/>
              </a:rPr>
              <a:t>500</a:t>
            </a:r>
            <a:endParaRPr lang="en-US" sz="750" dirty="0"/>
          </a:p>
        </p:txBody>
      </p:sp>
      <p:sp>
        <p:nvSpPr>
          <p:cNvPr id="44" name="Shape 42"/>
          <p:cNvSpPr/>
          <p:nvPr/>
        </p:nvSpPr>
        <p:spPr>
          <a:xfrm>
            <a:off x="7059168" y="2103120"/>
            <a:ext cx="457200" cy="36576"/>
          </a:xfrm>
          <a:prstGeom prst="rect">
            <a:avLst/>
          </a:prstGeom>
          <a:solidFill>
            <a:srgbClr val="64748B"/>
          </a:solidFill>
          <a:ln w="12700">
            <a:solidFill>
              <a:srgbClr val="64748B"/>
            </a:solidFill>
            <a:prstDash val="solid"/>
          </a:ln>
        </p:spPr>
        <p:txBody>
          <a:bodyPr/>
          <a:lstStyle/>
          <a:p>
            <a:endParaRPr lang="tr-TR"/>
          </a:p>
        </p:txBody>
      </p:sp>
      <p:sp>
        <p:nvSpPr>
          <p:cNvPr id="45" name="Shape 43"/>
          <p:cNvSpPr/>
          <p:nvPr/>
        </p:nvSpPr>
        <p:spPr>
          <a:xfrm>
            <a:off x="7744968" y="969264"/>
            <a:ext cx="274320" cy="274320"/>
          </a:xfrm>
          <a:prstGeom prst="ellipse">
            <a:avLst/>
          </a:prstGeom>
          <a:solidFill>
            <a:srgbClr val="059669"/>
          </a:solidFill>
          <a:ln w="12700">
            <a:solidFill>
              <a:srgbClr val="FFFFFF"/>
            </a:solidFill>
            <a:prstDash val="solid"/>
          </a:ln>
        </p:spPr>
        <p:txBody>
          <a:bodyPr/>
          <a:lstStyle/>
          <a:p>
            <a:endParaRPr lang="tr-TR"/>
          </a:p>
        </p:txBody>
      </p:sp>
      <p:sp>
        <p:nvSpPr>
          <p:cNvPr id="46" name="Shape 44"/>
          <p:cNvSpPr/>
          <p:nvPr/>
        </p:nvSpPr>
        <p:spPr>
          <a:xfrm>
            <a:off x="7744968" y="1353312"/>
            <a:ext cx="274320" cy="274320"/>
          </a:xfrm>
          <a:prstGeom prst="ellipse">
            <a:avLst/>
          </a:prstGeom>
          <a:solidFill>
            <a:srgbClr val="059669"/>
          </a:solidFill>
          <a:ln w="12700">
            <a:solidFill>
              <a:srgbClr val="FFFFFF"/>
            </a:solidFill>
            <a:prstDash val="solid"/>
          </a:ln>
        </p:spPr>
        <p:txBody>
          <a:bodyPr/>
          <a:lstStyle/>
          <a:p>
            <a:endParaRPr lang="tr-TR"/>
          </a:p>
        </p:txBody>
      </p:sp>
      <p:sp>
        <p:nvSpPr>
          <p:cNvPr id="47" name="Shape 45"/>
          <p:cNvSpPr/>
          <p:nvPr/>
        </p:nvSpPr>
        <p:spPr>
          <a:xfrm>
            <a:off x="7744968" y="1737360"/>
            <a:ext cx="274320" cy="274320"/>
          </a:xfrm>
          <a:prstGeom prst="ellipse">
            <a:avLst/>
          </a:prstGeom>
          <a:solidFill>
            <a:srgbClr val="059669"/>
          </a:solidFill>
          <a:ln w="12700">
            <a:solidFill>
              <a:srgbClr val="FFFFFF"/>
            </a:solidFill>
            <a:prstDash val="solid"/>
          </a:ln>
        </p:spPr>
        <p:txBody>
          <a:bodyPr/>
          <a:lstStyle/>
          <a:p>
            <a:endParaRPr lang="tr-TR"/>
          </a:p>
        </p:txBody>
      </p:sp>
      <p:sp>
        <p:nvSpPr>
          <p:cNvPr id="48" name="Shape 46"/>
          <p:cNvSpPr/>
          <p:nvPr/>
        </p:nvSpPr>
        <p:spPr>
          <a:xfrm>
            <a:off x="7744968" y="2121408"/>
            <a:ext cx="274320" cy="274320"/>
          </a:xfrm>
          <a:prstGeom prst="ellipse">
            <a:avLst/>
          </a:prstGeom>
          <a:solidFill>
            <a:srgbClr val="059669"/>
          </a:solidFill>
          <a:ln w="12700">
            <a:solidFill>
              <a:srgbClr val="FFFFFF"/>
            </a:solidFill>
            <a:prstDash val="solid"/>
          </a:ln>
        </p:spPr>
        <p:txBody>
          <a:bodyPr/>
          <a:lstStyle/>
          <a:p>
            <a:endParaRPr lang="tr-TR"/>
          </a:p>
        </p:txBody>
      </p:sp>
      <p:sp>
        <p:nvSpPr>
          <p:cNvPr id="49" name="Shape 47"/>
          <p:cNvSpPr/>
          <p:nvPr/>
        </p:nvSpPr>
        <p:spPr>
          <a:xfrm>
            <a:off x="7744968" y="2505456"/>
            <a:ext cx="274320" cy="274320"/>
          </a:xfrm>
          <a:prstGeom prst="ellipse">
            <a:avLst/>
          </a:prstGeom>
          <a:solidFill>
            <a:srgbClr val="059669"/>
          </a:solidFill>
          <a:ln w="12700">
            <a:solidFill>
              <a:srgbClr val="FFFFFF"/>
            </a:solidFill>
            <a:prstDash val="solid"/>
          </a:ln>
        </p:spPr>
        <p:txBody>
          <a:bodyPr/>
          <a:lstStyle/>
          <a:p>
            <a:endParaRPr lang="tr-TR"/>
          </a:p>
        </p:txBody>
      </p:sp>
      <p:sp>
        <p:nvSpPr>
          <p:cNvPr id="50" name="Shape 48"/>
          <p:cNvSpPr/>
          <p:nvPr/>
        </p:nvSpPr>
        <p:spPr>
          <a:xfrm>
            <a:off x="7744968" y="2889504"/>
            <a:ext cx="274320" cy="274320"/>
          </a:xfrm>
          <a:prstGeom prst="ellipse">
            <a:avLst/>
          </a:prstGeom>
          <a:solidFill>
            <a:srgbClr val="059669"/>
          </a:solidFill>
          <a:ln w="12700">
            <a:solidFill>
              <a:srgbClr val="FFFFFF"/>
            </a:solidFill>
            <a:prstDash val="solid"/>
          </a:ln>
        </p:spPr>
        <p:txBody>
          <a:bodyPr/>
          <a:lstStyle/>
          <a:p>
            <a:endParaRPr lang="tr-TR"/>
          </a:p>
        </p:txBody>
      </p:sp>
      <p:sp>
        <p:nvSpPr>
          <p:cNvPr id="51" name="Text 49"/>
          <p:cNvSpPr/>
          <p:nvPr/>
        </p:nvSpPr>
        <p:spPr>
          <a:xfrm>
            <a:off x="7516368" y="2816352"/>
            <a:ext cx="749808" cy="475488"/>
          </a:xfrm>
          <a:prstGeom prst="rect">
            <a:avLst/>
          </a:prstGeom>
          <a:noFill/>
          <a:ln/>
        </p:spPr>
        <p:txBody>
          <a:bodyPr wrap="square" lIns="0" tIns="0" rIns="0" bIns="0" rtlCol="0" anchor="ctr"/>
          <a:lstStyle/>
          <a:p>
            <a:pPr marL="0" indent="0" algn="ctr">
              <a:buNone/>
            </a:pPr>
            <a:r>
              <a:rPr lang="en-US" sz="750" b="1" dirty="0">
                <a:solidFill>
                  <a:srgbClr val="059669"/>
                </a:solidFill>
                <a:latin typeface="Calibri" pitchFamily="34" charset="0"/>
                <a:ea typeface="Calibri" pitchFamily="34" charset="-122"/>
                <a:cs typeface="Calibri" pitchFamily="34" charset="-120"/>
              </a:rPr>
              <a:t>ÇIKIŞ</a:t>
            </a:r>
            <a:endParaRPr lang="en-US" sz="750" dirty="0"/>
          </a:p>
          <a:p>
            <a:pPr marL="0" indent="0" algn="ctr">
              <a:buNone/>
            </a:pPr>
            <a:r>
              <a:rPr lang="en-US" sz="750" b="1" dirty="0">
                <a:solidFill>
                  <a:srgbClr val="059669"/>
                </a:solidFill>
                <a:latin typeface="Calibri" pitchFamily="34" charset="0"/>
                <a:ea typeface="Calibri" pitchFamily="34" charset="-122"/>
                <a:cs typeface="Calibri" pitchFamily="34" charset="-120"/>
              </a:rPr>
              <a:t>#Özellik</a:t>
            </a:r>
            <a:endParaRPr lang="en-US" sz="750" dirty="0"/>
          </a:p>
        </p:txBody>
      </p:sp>
      <p:sp>
        <p:nvSpPr>
          <p:cNvPr id="52" name="Shape 50"/>
          <p:cNvSpPr/>
          <p:nvPr/>
        </p:nvSpPr>
        <p:spPr>
          <a:xfrm>
            <a:off x="2834640" y="1389888"/>
            <a:ext cx="3200400" cy="411480"/>
          </a:xfrm>
          <a:prstGeom prst="rect">
            <a:avLst/>
          </a:prstGeom>
          <a:solidFill>
            <a:srgbClr val="243B55"/>
          </a:solidFill>
          <a:ln w="12700">
            <a:solidFill>
              <a:srgbClr val="84CC16"/>
            </a:solidFill>
            <a:prstDash val="solid"/>
          </a:ln>
        </p:spPr>
        <p:txBody>
          <a:bodyPr/>
          <a:lstStyle/>
          <a:p>
            <a:endParaRPr lang="tr-TR"/>
          </a:p>
        </p:txBody>
      </p:sp>
      <p:sp>
        <p:nvSpPr>
          <p:cNvPr id="53" name="Text 51"/>
          <p:cNvSpPr/>
          <p:nvPr/>
        </p:nvSpPr>
        <p:spPr>
          <a:xfrm>
            <a:off x="2834640" y="1389888"/>
            <a:ext cx="3200400" cy="411480"/>
          </a:xfrm>
          <a:prstGeom prst="rect">
            <a:avLst/>
          </a:prstGeom>
          <a:noFill/>
          <a:ln/>
        </p:spPr>
        <p:txBody>
          <a:bodyPr wrap="square" lIns="0" tIns="0" rIns="0" bIns="0" rtlCol="0" anchor="ctr"/>
          <a:lstStyle/>
          <a:p>
            <a:pPr marL="0" indent="0" algn="ctr">
              <a:buNone/>
            </a:pPr>
            <a:r>
              <a:rPr lang="en-US" sz="1100" b="1" dirty="0">
                <a:solidFill>
                  <a:srgbClr val="84CC16"/>
                </a:solidFill>
                <a:latin typeface="Calibri" pitchFamily="34" charset="0"/>
                <a:ea typeface="Calibri" pitchFamily="34" charset="-122"/>
                <a:cs typeface="Calibri" pitchFamily="34" charset="-120"/>
              </a:rPr>
              <a:t>Hedef:  x ≈ ŷ = g(h(x))  yani  giriş ≈ çıkış</a:t>
            </a:r>
            <a:endParaRPr lang="en-US" sz="1100" dirty="0"/>
          </a:p>
        </p:txBody>
      </p:sp>
      <p:sp>
        <p:nvSpPr>
          <p:cNvPr id="54" name="Shape 52"/>
          <p:cNvSpPr/>
          <p:nvPr/>
        </p:nvSpPr>
        <p:spPr>
          <a:xfrm>
            <a:off x="8641080" y="1115568"/>
            <a:ext cx="91440" cy="3657600"/>
          </a:xfrm>
          <a:prstGeom prst="rect">
            <a:avLst/>
          </a:prstGeom>
          <a:solidFill>
            <a:srgbClr val="0D1B2A"/>
          </a:solidFill>
          <a:ln w="12700">
            <a:solidFill>
              <a:srgbClr val="0D1B2A"/>
            </a:solidFill>
            <a:prstDash val="solid"/>
          </a:ln>
        </p:spPr>
        <p:txBody>
          <a:bodyPr/>
          <a:lstStyle/>
          <a:p>
            <a:endParaRPr lang="tr-TR"/>
          </a:p>
        </p:txBody>
      </p:sp>
      <p:sp>
        <p:nvSpPr>
          <p:cNvPr id="55" name="Shape 53"/>
          <p:cNvSpPr/>
          <p:nvPr/>
        </p:nvSpPr>
        <p:spPr>
          <a:xfrm>
            <a:off x="365760" y="3401568"/>
            <a:ext cx="4114800" cy="1481328"/>
          </a:xfrm>
          <a:prstGeom prst="rect">
            <a:avLst/>
          </a:prstGeom>
          <a:solidFill>
            <a:srgbClr val="243B55"/>
          </a:solidFill>
          <a:ln w="12700">
            <a:solidFill>
              <a:srgbClr val="F59E0B"/>
            </a:solidFill>
            <a:prstDash val="solid"/>
          </a:ln>
          <a:effectLst>
            <a:outerShdw blurRad="63500" dist="25400" dir="8100000" algn="bl" rotWithShape="0">
              <a:srgbClr val="000000">
                <a:alpha val="8000"/>
              </a:srgbClr>
            </a:outerShdw>
          </a:effectLst>
        </p:spPr>
        <p:txBody>
          <a:bodyPr/>
          <a:lstStyle/>
          <a:p>
            <a:endParaRPr lang="tr-TR"/>
          </a:p>
        </p:txBody>
      </p:sp>
      <p:sp>
        <p:nvSpPr>
          <p:cNvPr id="56" name="Text 54"/>
          <p:cNvSpPr/>
          <p:nvPr/>
        </p:nvSpPr>
        <p:spPr>
          <a:xfrm>
            <a:off x="502920" y="3493008"/>
            <a:ext cx="3840480" cy="256032"/>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AE vs PCA — Temel Fark</a:t>
            </a:r>
            <a:endParaRPr lang="en-US" sz="1100" dirty="0"/>
          </a:p>
        </p:txBody>
      </p:sp>
      <p:sp>
        <p:nvSpPr>
          <p:cNvPr id="57" name="Text 55"/>
          <p:cNvSpPr/>
          <p:nvPr/>
        </p:nvSpPr>
        <p:spPr>
          <a:xfrm>
            <a:off x="502920" y="3785616"/>
            <a:ext cx="3840480" cy="1042416"/>
          </a:xfrm>
          <a:prstGeom prst="rect">
            <a:avLst/>
          </a:prstGeom>
          <a:noFill/>
          <a:ln/>
        </p:spPr>
        <p:txBody>
          <a:bodyPr wrap="square" rtlCol="0" anchor="t"/>
          <a:lstStyle/>
          <a:p>
            <a:pPr marL="0" indent="0">
              <a:buNone/>
            </a:pPr>
            <a:r>
              <a:rPr lang="en-US" sz="1000" b="1" dirty="0">
                <a:solidFill>
                  <a:srgbClr val="06B6D4"/>
                </a:solidFill>
                <a:latin typeface="Calibri" pitchFamily="34" charset="0"/>
                <a:ea typeface="Calibri" pitchFamily="34" charset="-122"/>
                <a:cs typeface="Calibri" pitchFamily="34" charset="-120"/>
              </a:rPr>
              <a:t>PCA: </a:t>
            </a:r>
            <a:r>
              <a:rPr lang="en-US" sz="1000" dirty="0">
                <a:solidFill>
                  <a:srgbClr val="F1F5F9"/>
                </a:solidFill>
                <a:latin typeface="Calibri" pitchFamily="34" charset="0"/>
                <a:ea typeface="Calibri" pitchFamily="34" charset="-122"/>
                <a:cs typeface="Calibri" pitchFamily="34" charset="-120"/>
              </a:rPr>
              <a:t>Doğrusal dönüşüm. Kovaryans matrisinin özvektörleri. Boyut indirgeme iyi ama doğrusal olmayan yapıları yakalayamaz.
</a:t>
            </a:r>
            <a:r>
              <a:rPr lang="en-US" sz="1000" b="1" dirty="0">
                <a:solidFill>
                  <a:srgbClr val="84CC16"/>
                </a:solidFill>
                <a:latin typeface="Calibri" pitchFamily="34" charset="0"/>
                <a:ea typeface="Calibri" pitchFamily="34" charset="-122"/>
                <a:cs typeface="Calibri" pitchFamily="34" charset="-120"/>
              </a:rPr>
              <a:t>AE: </a:t>
            </a:r>
            <a:r>
              <a:rPr lang="en-US" sz="1000" dirty="0">
                <a:solidFill>
                  <a:srgbClr val="F1F5F9"/>
                </a:solidFill>
                <a:latin typeface="Calibri" pitchFamily="34" charset="0"/>
                <a:ea typeface="Calibri" pitchFamily="34" charset="-122"/>
                <a:cs typeface="Calibri" pitchFamily="34" charset="-120"/>
              </a:rPr>
              <a:t>Doğrusal olmayan dönüşüm. Aktivasyon fonksiyonları sayesinde veri manifoldunu öğrenir. PCA'dan çok daha güçlü temsil.</a:t>
            </a:r>
            <a:endParaRPr lang="en-US" sz="1000" dirty="0"/>
          </a:p>
        </p:txBody>
      </p:sp>
      <p:sp>
        <p:nvSpPr>
          <p:cNvPr id="58" name="Shape 56"/>
          <p:cNvSpPr/>
          <p:nvPr/>
        </p:nvSpPr>
        <p:spPr>
          <a:xfrm>
            <a:off x="4663440" y="3401568"/>
            <a:ext cx="4114800" cy="1481328"/>
          </a:xfrm>
          <a:prstGeom prst="rect">
            <a:avLst/>
          </a:prstGeom>
          <a:solidFill>
            <a:srgbClr val="243B55"/>
          </a:solidFill>
          <a:ln w="12700">
            <a:solidFill>
              <a:srgbClr val="0891B2"/>
            </a:solidFill>
            <a:prstDash val="solid"/>
          </a:ln>
          <a:effectLst>
            <a:outerShdw blurRad="63500" dist="25400" dir="8100000" algn="bl" rotWithShape="0">
              <a:srgbClr val="000000">
                <a:alpha val="8000"/>
              </a:srgbClr>
            </a:outerShdw>
          </a:effectLst>
        </p:spPr>
        <p:txBody>
          <a:bodyPr/>
          <a:lstStyle/>
          <a:p>
            <a:endParaRPr lang="tr-TR"/>
          </a:p>
        </p:txBody>
      </p:sp>
      <p:sp>
        <p:nvSpPr>
          <p:cNvPr id="59" name="Text 57"/>
          <p:cNvSpPr/>
          <p:nvPr/>
        </p:nvSpPr>
        <p:spPr>
          <a:xfrm>
            <a:off x="4800600" y="3493008"/>
            <a:ext cx="3840480" cy="256032"/>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Kullanım Alanları</a:t>
            </a:r>
            <a:endParaRPr lang="en-US" sz="1100" dirty="0"/>
          </a:p>
        </p:txBody>
      </p:sp>
      <p:sp>
        <p:nvSpPr>
          <p:cNvPr id="60" name="Text 58"/>
          <p:cNvSpPr/>
          <p:nvPr/>
        </p:nvSpPr>
        <p:spPr>
          <a:xfrm>
            <a:off x="4800600" y="3785616"/>
            <a:ext cx="3840480" cy="1042416"/>
          </a:xfrm>
          <a:prstGeom prst="rect">
            <a:avLst/>
          </a:prstGeom>
          <a:noFill/>
          <a:ln/>
        </p:spPr>
        <p:txBody>
          <a:bodyPr wrap="square" rtlCol="0" anchor="t"/>
          <a:lstStyle/>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Boyut indirgeme ve görselleştirme (t-SNE alternatifi)</a:t>
            </a:r>
            <a:endParaRPr lang="en-US" sz="950" dirty="0"/>
          </a:p>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Anomali/sahtekarlık tespiti (yeniden oluşturma hatası yüksekse anomali)</a:t>
            </a:r>
            <a:endParaRPr lang="en-US" sz="950" dirty="0"/>
          </a:p>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Gürültü giderme (noisy veri → temiz temsil)</a:t>
            </a:r>
            <a:endParaRPr lang="en-US" sz="950" dirty="0"/>
          </a:p>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Ön-eğitim (DBN'lerdeki gibi katman katman başlatma)</a:t>
            </a:r>
            <a:endParaRPr lang="en-US" sz="950" dirty="0"/>
          </a:p>
          <a:p>
            <a:pPr marL="342900" indent="-342900">
              <a:spcAft>
                <a:spcPts val="500"/>
              </a:spcAft>
              <a:buSzPct val="100000"/>
              <a:buChar char="•"/>
            </a:pPr>
            <a:r>
              <a:rPr lang="en-US" sz="950" dirty="0">
                <a:solidFill>
                  <a:srgbClr val="F1F5F9"/>
                </a:solidFill>
                <a:latin typeface="Calibri" pitchFamily="34" charset="0"/>
                <a:ea typeface="Calibri" pitchFamily="34" charset="-122"/>
                <a:cs typeface="Calibri" pitchFamily="34" charset="-120"/>
              </a:rPr>
              <a:t>Üretici modeller (VAE ile yeni örnek sentezi)</a:t>
            </a:r>
            <a:endParaRPr lang="en-US" sz="950" dirty="0"/>
          </a:p>
        </p:txBody>
      </p:sp>
      <p:sp>
        <p:nvSpPr>
          <p:cNvPr id="61" name="Text 59"/>
          <p:cNvSpPr/>
          <p:nvPr/>
        </p:nvSpPr>
        <p:spPr>
          <a:xfrm>
            <a:off x="365760" y="4937760"/>
            <a:ext cx="8412480" cy="201168"/>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Kaynak: Hinton &amp; Salakhutdinov (2006) Science; Vincent et al. (2010) JMLR — Stacked Denoising Autoencoders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1B2F4A"/>
          </a:solidFill>
          <a:ln w="12700">
            <a:solidFill>
              <a:srgbClr val="1B2F4A"/>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06 — LSTM</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Uzun Kısa Süreli Bellek (LSTM) — Kapı Mekanizmaları</a:t>
            </a:r>
            <a:endParaRPr lang="en-US" sz="2600" dirty="0"/>
          </a:p>
        </p:txBody>
      </p:sp>
      <p:sp>
        <p:nvSpPr>
          <p:cNvPr id="5" name="Shape 3"/>
          <p:cNvSpPr/>
          <p:nvPr/>
        </p:nvSpPr>
        <p:spPr>
          <a:xfrm>
            <a:off x="365760" y="1024128"/>
            <a:ext cx="137160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097280"/>
            <a:ext cx="8412480" cy="548640"/>
          </a:xfrm>
          <a:prstGeom prst="rect">
            <a:avLst/>
          </a:prstGeom>
          <a:solidFill>
            <a:srgbClr val="FFF7ED"/>
          </a:solidFill>
          <a:ln w="12700">
            <a:solidFill>
              <a:srgbClr val="D97706"/>
            </a:solidFill>
            <a:prstDash val="solid"/>
          </a:ln>
        </p:spPr>
        <p:txBody>
          <a:bodyPr/>
          <a:lstStyle/>
          <a:p>
            <a:endParaRPr lang="tr-TR"/>
          </a:p>
        </p:txBody>
      </p:sp>
      <p:sp>
        <p:nvSpPr>
          <p:cNvPr id="7" name="Text 5"/>
          <p:cNvSpPr/>
          <p:nvPr/>
        </p:nvSpPr>
        <p:spPr>
          <a:xfrm>
            <a:off x="502920" y="1161288"/>
            <a:ext cx="1371600" cy="201168"/>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 Neden LSTM?</a:t>
            </a:r>
            <a:endParaRPr lang="en-US" sz="1000" dirty="0"/>
          </a:p>
        </p:txBody>
      </p:sp>
      <p:sp>
        <p:nvSpPr>
          <p:cNvPr id="8" name="Text 6"/>
          <p:cNvSpPr/>
          <p:nvPr/>
        </p:nvSpPr>
        <p:spPr>
          <a:xfrm>
            <a:off x="1920240" y="1115568"/>
            <a:ext cx="6720840" cy="47548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Standart RNN'lerde kaybolan/patlayan gradyan problemi uzun bağımlılıkların öğrenilmesini engeller. Hochreiter (1991) bu sorunu matematiğiyle gösterdi. LSTM, Sabit Hata Döngüsü (CEC) ile bu problemi çözdü. — Hochreiter &amp; Schmidhuber (1997)</a:t>
            </a:r>
            <a:endParaRPr lang="en-US" sz="950" dirty="0"/>
          </a:p>
        </p:txBody>
      </p:sp>
      <p:sp>
        <p:nvSpPr>
          <p:cNvPr id="9" name="Shape 7"/>
          <p:cNvSpPr/>
          <p:nvPr/>
        </p:nvSpPr>
        <p:spPr>
          <a:xfrm>
            <a:off x="365760" y="1755648"/>
            <a:ext cx="4754880" cy="2816352"/>
          </a:xfrm>
          <a:prstGeom prst="rect">
            <a:avLst/>
          </a:prstGeom>
          <a:solidFill>
            <a:srgbClr val="EFF6FF"/>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10" name="Text 8"/>
          <p:cNvSpPr/>
          <p:nvPr/>
        </p:nvSpPr>
        <p:spPr>
          <a:xfrm>
            <a:off x="502920" y="1828800"/>
            <a:ext cx="4480560"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LSTM Bellek Bloğu</a:t>
            </a:r>
            <a:endParaRPr lang="en-US" sz="1100" dirty="0"/>
          </a:p>
        </p:txBody>
      </p:sp>
      <p:sp>
        <p:nvSpPr>
          <p:cNvPr id="11" name="Shape 9"/>
          <p:cNvSpPr/>
          <p:nvPr/>
        </p:nvSpPr>
        <p:spPr>
          <a:xfrm>
            <a:off x="594360" y="2212848"/>
            <a:ext cx="804672" cy="749808"/>
          </a:xfrm>
          <a:prstGeom prst="ellipse">
            <a:avLst/>
          </a:prstGeom>
          <a:solidFill>
            <a:srgbClr val="7C3AED"/>
          </a:solidFill>
          <a:ln w="12700">
            <a:solidFill>
              <a:srgbClr val="FFFFFF"/>
            </a:solidFill>
            <a:prstDash val="solid"/>
          </a:ln>
        </p:spPr>
        <p:txBody>
          <a:bodyPr/>
          <a:lstStyle/>
          <a:p>
            <a:endParaRPr lang="tr-TR"/>
          </a:p>
        </p:txBody>
      </p:sp>
      <p:sp>
        <p:nvSpPr>
          <p:cNvPr id="12" name="Text 10"/>
          <p:cNvSpPr/>
          <p:nvPr/>
        </p:nvSpPr>
        <p:spPr>
          <a:xfrm>
            <a:off x="594360" y="2212848"/>
            <a:ext cx="804672" cy="749808"/>
          </a:xfrm>
          <a:prstGeom prst="rect">
            <a:avLst/>
          </a:prstGeom>
          <a:noFill/>
          <a:ln/>
        </p:spPr>
        <p:txBody>
          <a:bodyPr wrap="square" lIns="12700" tIns="12700" rIns="12700" bIns="1270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Giriş</a:t>
            </a:r>
            <a:endParaRPr lang="en-US" sz="750" dirty="0"/>
          </a:p>
          <a:p>
            <a:pPr marL="0" indent="0" algn="ctr">
              <a:buNone/>
            </a:pPr>
            <a:r>
              <a:rPr lang="en-US" sz="750" b="1" dirty="0">
                <a:solidFill>
                  <a:srgbClr val="FFFFFF"/>
                </a:solidFill>
                <a:latin typeface="Calibri" pitchFamily="34" charset="0"/>
                <a:ea typeface="Calibri" pitchFamily="34" charset="-122"/>
                <a:cs typeface="Calibri" pitchFamily="34" charset="-120"/>
              </a:rPr>
              <a:t>Kapısı (iₜ)</a:t>
            </a:r>
            <a:endParaRPr lang="en-US" sz="750" dirty="0"/>
          </a:p>
        </p:txBody>
      </p:sp>
      <p:sp>
        <p:nvSpPr>
          <p:cNvPr id="13" name="Shape 11"/>
          <p:cNvSpPr/>
          <p:nvPr/>
        </p:nvSpPr>
        <p:spPr>
          <a:xfrm>
            <a:off x="1536192" y="2212848"/>
            <a:ext cx="804672" cy="749808"/>
          </a:xfrm>
          <a:prstGeom prst="ellipse">
            <a:avLst/>
          </a:prstGeom>
          <a:solidFill>
            <a:srgbClr val="EF4444"/>
          </a:solidFill>
          <a:ln w="12700">
            <a:solidFill>
              <a:srgbClr val="FFFFFF"/>
            </a:solidFill>
            <a:prstDash val="solid"/>
          </a:ln>
        </p:spPr>
        <p:txBody>
          <a:bodyPr/>
          <a:lstStyle/>
          <a:p>
            <a:endParaRPr lang="tr-TR"/>
          </a:p>
        </p:txBody>
      </p:sp>
      <p:sp>
        <p:nvSpPr>
          <p:cNvPr id="14" name="Text 12"/>
          <p:cNvSpPr/>
          <p:nvPr/>
        </p:nvSpPr>
        <p:spPr>
          <a:xfrm>
            <a:off x="1536192" y="2212848"/>
            <a:ext cx="804672" cy="749808"/>
          </a:xfrm>
          <a:prstGeom prst="rect">
            <a:avLst/>
          </a:prstGeom>
          <a:noFill/>
          <a:ln/>
        </p:spPr>
        <p:txBody>
          <a:bodyPr wrap="square" lIns="12700" tIns="12700" rIns="12700" bIns="1270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Unut</a:t>
            </a:r>
            <a:endParaRPr lang="en-US" sz="750" dirty="0"/>
          </a:p>
          <a:p>
            <a:pPr marL="0" indent="0" algn="ctr">
              <a:buNone/>
            </a:pPr>
            <a:r>
              <a:rPr lang="en-US" sz="750" b="1" dirty="0">
                <a:solidFill>
                  <a:srgbClr val="FFFFFF"/>
                </a:solidFill>
                <a:latin typeface="Calibri" pitchFamily="34" charset="0"/>
                <a:ea typeface="Calibri" pitchFamily="34" charset="-122"/>
                <a:cs typeface="Calibri" pitchFamily="34" charset="-120"/>
              </a:rPr>
              <a:t>Kapısı (fₜ)</a:t>
            </a:r>
            <a:endParaRPr lang="en-US" sz="750" dirty="0"/>
          </a:p>
        </p:txBody>
      </p:sp>
      <p:sp>
        <p:nvSpPr>
          <p:cNvPr id="15" name="Shape 13"/>
          <p:cNvSpPr/>
          <p:nvPr/>
        </p:nvSpPr>
        <p:spPr>
          <a:xfrm>
            <a:off x="2487168" y="2212848"/>
            <a:ext cx="804672" cy="749808"/>
          </a:xfrm>
          <a:prstGeom prst="ellipse">
            <a:avLst/>
          </a:prstGeom>
          <a:solidFill>
            <a:srgbClr val="84CC16"/>
          </a:solidFill>
          <a:ln w="12700">
            <a:solidFill>
              <a:srgbClr val="FFFFFF"/>
            </a:solidFill>
            <a:prstDash val="solid"/>
          </a:ln>
        </p:spPr>
        <p:txBody>
          <a:bodyPr/>
          <a:lstStyle/>
          <a:p>
            <a:endParaRPr lang="tr-TR"/>
          </a:p>
        </p:txBody>
      </p:sp>
      <p:sp>
        <p:nvSpPr>
          <p:cNvPr id="16" name="Text 14"/>
          <p:cNvSpPr/>
          <p:nvPr/>
        </p:nvSpPr>
        <p:spPr>
          <a:xfrm>
            <a:off x="2487168" y="2212848"/>
            <a:ext cx="804672" cy="749808"/>
          </a:xfrm>
          <a:prstGeom prst="rect">
            <a:avLst/>
          </a:prstGeom>
          <a:noFill/>
          <a:ln/>
        </p:spPr>
        <p:txBody>
          <a:bodyPr wrap="square" lIns="12700" tIns="12700" rIns="12700" bIns="1270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CEC</a:t>
            </a:r>
            <a:endParaRPr lang="en-US" sz="750" dirty="0"/>
          </a:p>
          <a:p>
            <a:pPr marL="0" indent="0" algn="ctr">
              <a:buNone/>
            </a:pPr>
            <a:r>
              <a:rPr lang="en-US" sz="750" b="1" dirty="0">
                <a:solidFill>
                  <a:srgbClr val="FFFFFF"/>
                </a:solidFill>
                <a:latin typeface="Calibri" pitchFamily="34" charset="0"/>
                <a:ea typeface="Calibri" pitchFamily="34" charset="-122"/>
                <a:cs typeface="Calibri" pitchFamily="34" charset="-120"/>
              </a:rPr>
              <a:t>Hücresi</a:t>
            </a:r>
            <a:endParaRPr lang="en-US" sz="750" dirty="0"/>
          </a:p>
        </p:txBody>
      </p:sp>
      <p:sp>
        <p:nvSpPr>
          <p:cNvPr id="17" name="Shape 15"/>
          <p:cNvSpPr/>
          <p:nvPr/>
        </p:nvSpPr>
        <p:spPr>
          <a:xfrm>
            <a:off x="3429000" y="2212848"/>
            <a:ext cx="804672" cy="749808"/>
          </a:xfrm>
          <a:prstGeom prst="ellipse">
            <a:avLst/>
          </a:prstGeom>
          <a:solidFill>
            <a:srgbClr val="059669"/>
          </a:solidFill>
          <a:ln w="12700">
            <a:solidFill>
              <a:srgbClr val="FFFFFF"/>
            </a:solidFill>
            <a:prstDash val="solid"/>
          </a:ln>
        </p:spPr>
        <p:txBody>
          <a:bodyPr/>
          <a:lstStyle/>
          <a:p>
            <a:endParaRPr lang="tr-TR"/>
          </a:p>
        </p:txBody>
      </p:sp>
      <p:sp>
        <p:nvSpPr>
          <p:cNvPr id="18" name="Text 16"/>
          <p:cNvSpPr/>
          <p:nvPr/>
        </p:nvSpPr>
        <p:spPr>
          <a:xfrm>
            <a:off x="3429000" y="2212848"/>
            <a:ext cx="804672" cy="749808"/>
          </a:xfrm>
          <a:prstGeom prst="rect">
            <a:avLst/>
          </a:prstGeom>
          <a:noFill/>
          <a:ln/>
        </p:spPr>
        <p:txBody>
          <a:bodyPr wrap="square" lIns="12700" tIns="12700" rIns="12700" bIns="1270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Çıkış</a:t>
            </a:r>
            <a:endParaRPr lang="en-US" sz="750" dirty="0"/>
          </a:p>
          <a:p>
            <a:pPr marL="0" indent="0" algn="ctr">
              <a:buNone/>
            </a:pPr>
            <a:r>
              <a:rPr lang="en-US" sz="750" b="1" dirty="0">
                <a:solidFill>
                  <a:srgbClr val="FFFFFF"/>
                </a:solidFill>
                <a:latin typeface="Calibri" pitchFamily="34" charset="0"/>
                <a:ea typeface="Calibri" pitchFamily="34" charset="-122"/>
                <a:cs typeface="Calibri" pitchFamily="34" charset="-120"/>
              </a:rPr>
              <a:t>Kapısı (oₜ)</a:t>
            </a:r>
            <a:endParaRPr lang="en-US" sz="750" dirty="0"/>
          </a:p>
        </p:txBody>
      </p:sp>
      <p:sp>
        <p:nvSpPr>
          <p:cNvPr id="19" name="Shape 17"/>
          <p:cNvSpPr/>
          <p:nvPr/>
        </p:nvSpPr>
        <p:spPr>
          <a:xfrm>
            <a:off x="502920" y="3108960"/>
            <a:ext cx="4480560" cy="54864"/>
          </a:xfrm>
          <a:prstGeom prst="rect">
            <a:avLst/>
          </a:prstGeom>
          <a:solidFill>
            <a:srgbClr val="84CC16"/>
          </a:solidFill>
          <a:ln w="12700">
            <a:solidFill>
              <a:srgbClr val="84CC16"/>
            </a:solidFill>
            <a:prstDash val="solid"/>
          </a:ln>
        </p:spPr>
        <p:txBody>
          <a:bodyPr/>
          <a:lstStyle/>
          <a:p>
            <a:endParaRPr lang="tr-TR"/>
          </a:p>
        </p:txBody>
      </p:sp>
      <p:sp>
        <p:nvSpPr>
          <p:cNvPr id="20" name="Text 18"/>
          <p:cNvSpPr/>
          <p:nvPr/>
        </p:nvSpPr>
        <p:spPr>
          <a:xfrm>
            <a:off x="502920" y="3200400"/>
            <a:ext cx="4480560" cy="237744"/>
          </a:xfrm>
          <a:prstGeom prst="rect">
            <a:avLst/>
          </a:prstGeom>
          <a:noFill/>
          <a:ln/>
        </p:spPr>
        <p:txBody>
          <a:bodyPr wrap="square" lIns="0" tIns="0" rIns="0" bIns="0" rtlCol="0" anchor="ctr"/>
          <a:lstStyle/>
          <a:p>
            <a:pPr marL="0" indent="0" algn="ctr">
              <a:buNone/>
            </a:pPr>
            <a:r>
              <a:rPr lang="en-US" sz="900" i="1" dirty="0">
                <a:solidFill>
                  <a:srgbClr val="0D1B2A"/>
                </a:solidFill>
                <a:latin typeface="Calibri" pitchFamily="34" charset="0"/>
                <a:ea typeface="Calibri" pitchFamily="34" charset="-122"/>
                <a:cs typeface="Calibri" pitchFamily="34" charset="-120"/>
              </a:rPr>
              <a:t>← Hücre Durumu (cₜ) — uzun süreli bellek →</a:t>
            </a:r>
            <a:endParaRPr lang="en-US" sz="900" dirty="0"/>
          </a:p>
        </p:txBody>
      </p:sp>
      <p:sp>
        <p:nvSpPr>
          <p:cNvPr id="21" name="Shape 19"/>
          <p:cNvSpPr/>
          <p:nvPr/>
        </p:nvSpPr>
        <p:spPr>
          <a:xfrm>
            <a:off x="502920" y="3520440"/>
            <a:ext cx="4480560" cy="182880"/>
          </a:xfrm>
          <a:prstGeom prst="rect">
            <a:avLst/>
          </a:prstGeom>
          <a:solidFill>
            <a:srgbClr val="EFF6FF"/>
          </a:solidFill>
          <a:ln w="12700">
            <a:solidFill>
              <a:srgbClr val="E2E8F0"/>
            </a:solidFill>
            <a:prstDash val="solid"/>
          </a:ln>
        </p:spPr>
        <p:txBody>
          <a:bodyPr/>
          <a:lstStyle/>
          <a:p>
            <a:endParaRPr lang="tr-TR"/>
          </a:p>
        </p:txBody>
      </p:sp>
      <p:sp>
        <p:nvSpPr>
          <p:cNvPr id="22" name="Text 20"/>
          <p:cNvSpPr/>
          <p:nvPr/>
        </p:nvSpPr>
        <p:spPr>
          <a:xfrm>
            <a:off x="594360" y="3520440"/>
            <a:ext cx="4297680" cy="182880"/>
          </a:xfrm>
          <a:prstGeom prst="rect">
            <a:avLst/>
          </a:prstGeom>
          <a:noFill/>
          <a:ln/>
        </p:spPr>
        <p:txBody>
          <a:bodyPr wrap="square" lIns="0" tIns="0" rIns="0" bIns="0" rtlCol="0" anchor="ctr"/>
          <a:lstStyle/>
          <a:p>
            <a:pPr marL="0" indent="0">
              <a:buNone/>
            </a:pPr>
            <a:r>
              <a:rPr lang="en-US" sz="950" dirty="0">
                <a:solidFill>
                  <a:srgbClr val="1E40AF"/>
                </a:solidFill>
                <a:latin typeface="Calibri" pitchFamily="34" charset="0"/>
                <a:ea typeface="Calibri" pitchFamily="34" charset="-122"/>
                <a:cs typeface="Calibri" pitchFamily="34" charset="-120"/>
              </a:rPr>
              <a:t>iₜ = σ(W⁽ⁱˣ⁾x⁽ᵗ⁾ + U⁽ⁱʰ⁾h⁽ᵗ⁻¹⁾ + bⁱ)</a:t>
            </a:r>
            <a:endParaRPr lang="en-US" sz="950" dirty="0"/>
          </a:p>
        </p:txBody>
      </p:sp>
      <p:sp>
        <p:nvSpPr>
          <p:cNvPr id="23" name="Shape 21"/>
          <p:cNvSpPr/>
          <p:nvPr/>
        </p:nvSpPr>
        <p:spPr>
          <a:xfrm>
            <a:off x="502920" y="3730752"/>
            <a:ext cx="4480560" cy="182880"/>
          </a:xfrm>
          <a:prstGeom prst="rect">
            <a:avLst/>
          </a:prstGeom>
          <a:solidFill>
            <a:srgbClr val="FFFFFF"/>
          </a:solidFill>
          <a:ln w="12700">
            <a:solidFill>
              <a:srgbClr val="E2E8F0"/>
            </a:solidFill>
            <a:prstDash val="solid"/>
          </a:ln>
        </p:spPr>
        <p:txBody>
          <a:bodyPr/>
          <a:lstStyle/>
          <a:p>
            <a:endParaRPr lang="tr-TR"/>
          </a:p>
        </p:txBody>
      </p:sp>
      <p:sp>
        <p:nvSpPr>
          <p:cNvPr id="24" name="Text 22"/>
          <p:cNvSpPr/>
          <p:nvPr/>
        </p:nvSpPr>
        <p:spPr>
          <a:xfrm>
            <a:off x="594360" y="3730752"/>
            <a:ext cx="4297680" cy="182880"/>
          </a:xfrm>
          <a:prstGeom prst="rect">
            <a:avLst/>
          </a:prstGeom>
          <a:noFill/>
          <a:ln/>
        </p:spPr>
        <p:txBody>
          <a:bodyPr wrap="square" lIns="0" tIns="0" rIns="0" bIns="0" rtlCol="0" anchor="ctr"/>
          <a:lstStyle/>
          <a:p>
            <a:pPr marL="0" indent="0">
              <a:buNone/>
            </a:pPr>
            <a:r>
              <a:rPr lang="en-US" sz="950" dirty="0">
                <a:solidFill>
                  <a:srgbClr val="1E40AF"/>
                </a:solidFill>
                <a:latin typeface="Calibri" pitchFamily="34" charset="0"/>
                <a:ea typeface="Calibri" pitchFamily="34" charset="-122"/>
                <a:cs typeface="Calibri" pitchFamily="34" charset="-120"/>
              </a:rPr>
              <a:t>fₜ = σ(W⁽ᶠˣ⁾x⁽ᵗ⁾ + U⁽ᶠʰ⁾h⁽ᵗ⁻¹⁾ + bᶠ)</a:t>
            </a:r>
            <a:endParaRPr lang="en-US" sz="950" dirty="0"/>
          </a:p>
        </p:txBody>
      </p:sp>
      <p:sp>
        <p:nvSpPr>
          <p:cNvPr id="25" name="Shape 23"/>
          <p:cNvSpPr/>
          <p:nvPr/>
        </p:nvSpPr>
        <p:spPr>
          <a:xfrm>
            <a:off x="502920" y="3941064"/>
            <a:ext cx="4480560" cy="182880"/>
          </a:xfrm>
          <a:prstGeom prst="rect">
            <a:avLst/>
          </a:prstGeom>
          <a:solidFill>
            <a:srgbClr val="EFF6FF"/>
          </a:solidFill>
          <a:ln w="12700">
            <a:solidFill>
              <a:srgbClr val="E2E8F0"/>
            </a:solidFill>
            <a:prstDash val="solid"/>
          </a:ln>
        </p:spPr>
        <p:txBody>
          <a:bodyPr/>
          <a:lstStyle/>
          <a:p>
            <a:endParaRPr lang="tr-TR"/>
          </a:p>
        </p:txBody>
      </p:sp>
      <p:sp>
        <p:nvSpPr>
          <p:cNvPr id="26" name="Text 24"/>
          <p:cNvSpPr/>
          <p:nvPr/>
        </p:nvSpPr>
        <p:spPr>
          <a:xfrm>
            <a:off x="594360" y="3941064"/>
            <a:ext cx="4297680" cy="182880"/>
          </a:xfrm>
          <a:prstGeom prst="rect">
            <a:avLst/>
          </a:prstGeom>
          <a:noFill/>
          <a:ln/>
        </p:spPr>
        <p:txBody>
          <a:bodyPr wrap="square" lIns="0" tIns="0" rIns="0" bIns="0" rtlCol="0" anchor="ctr"/>
          <a:lstStyle/>
          <a:p>
            <a:pPr marL="0" indent="0">
              <a:buNone/>
            </a:pPr>
            <a:r>
              <a:rPr lang="en-US" sz="950" b="1" dirty="0">
                <a:solidFill>
                  <a:srgbClr val="059669"/>
                </a:solidFill>
                <a:latin typeface="Calibri" pitchFamily="34" charset="0"/>
                <a:ea typeface="Calibri" pitchFamily="34" charset="-122"/>
                <a:cs typeface="Calibri" pitchFamily="34" charset="-120"/>
              </a:rPr>
              <a:t>cₜ = fₜ ∘ cₜ₋₁ + iₜ ∘ lₜ</a:t>
            </a:r>
            <a:endParaRPr lang="en-US" sz="950" dirty="0"/>
          </a:p>
        </p:txBody>
      </p:sp>
      <p:sp>
        <p:nvSpPr>
          <p:cNvPr id="27" name="Shape 25"/>
          <p:cNvSpPr/>
          <p:nvPr/>
        </p:nvSpPr>
        <p:spPr>
          <a:xfrm>
            <a:off x="502920" y="4151376"/>
            <a:ext cx="4480560" cy="182880"/>
          </a:xfrm>
          <a:prstGeom prst="rect">
            <a:avLst/>
          </a:prstGeom>
          <a:solidFill>
            <a:srgbClr val="FFFFFF"/>
          </a:solidFill>
          <a:ln w="12700">
            <a:solidFill>
              <a:srgbClr val="E2E8F0"/>
            </a:solidFill>
            <a:prstDash val="solid"/>
          </a:ln>
        </p:spPr>
        <p:txBody>
          <a:bodyPr/>
          <a:lstStyle/>
          <a:p>
            <a:endParaRPr lang="tr-TR"/>
          </a:p>
        </p:txBody>
      </p:sp>
      <p:sp>
        <p:nvSpPr>
          <p:cNvPr id="28" name="Text 26"/>
          <p:cNvSpPr/>
          <p:nvPr/>
        </p:nvSpPr>
        <p:spPr>
          <a:xfrm>
            <a:off x="594360" y="4151376"/>
            <a:ext cx="4297680" cy="182880"/>
          </a:xfrm>
          <a:prstGeom prst="rect">
            <a:avLst/>
          </a:prstGeom>
          <a:noFill/>
          <a:ln/>
        </p:spPr>
        <p:txBody>
          <a:bodyPr wrap="square" lIns="0" tIns="0" rIns="0" bIns="0" rtlCol="0" anchor="ctr"/>
          <a:lstStyle/>
          <a:p>
            <a:pPr marL="0" indent="0">
              <a:buNone/>
            </a:pPr>
            <a:r>
              <a:rPr lang="en-US" sz="950" dirty="0">
                <a:solidFill>
                  <a:srgbClr val="1E40AF"/>
                </a:solidFill>
                <a:latin typeface="Calibri" pitchFamily="34" charset="0"/>
                <a:ea typeface="Calibri" pitchFamily="34" charset="-122"/>
                <a:cs typeface="Calibri" pitchFamily="34" charset="-120"/>
              </a:rPr>
              <a:t>oₜ = σ(W⁽ᵒˣ⁾x⁽ᵗ⁾ + U⁽ᵒʰ⁾h⁽ᵗ⁻¹⁾ + bᵒ)</a:t>
            </a:r>
            <a:endParaRPr lang="en-US" sz="950" dirty="0"/>
          </a:p>
        </p:txBody>
      </p:sp>
      <p:sp>
        <p:nvSpPr>
          <p:cNvPr id="29" name="Shape 27"/>
          <p:cNvSpPr/>
          <p:nvPr/>
        </p:nvSpPr>
        <p:spPr>
          <a:xfrm>
            <a:off x="502920" y="4361688"/>
            <a:ext cx="4480560" cy="182880"/>
          </a:xfrm>
          <a:prstGeom prst="rect">
            <a:avLst/>
          </a:prstGeom>
          <a:solidFill>
            <a:srgbClr val="EFF6FF"/>
          </a:solidFill>
          <a:ln w="12700">
            <a:solidFill>
              <a:srgbClr val="E2E8F0"/>
            </a:solidFill>
            <a:prstDash val="solid"/>
          </a:ln>
        </p:spPr>
        <p:txBody>
          <a:bodyPr/>
          <a:lstStyle/>
          <a:p>
            <a:endParaRPr lang="tr-TR"/>
          </a:p>
        </p:txBody>
      </p:sp>
      <p:sp>
        <p:nvSpPr>
          <p:cNvPr id="30" name="Text 28"/>
          <p:cNvSpPr/>
          <p:nvPr/>
        </p:nvSpPr>
        <p:spPr>
          <a:xfrm>
            <a:off x="594360" y="4361688"/>
            <a:ext cx="4297680" cy="182880"/>
          </a:xfrm>
          <a:prstGeom prst="rect">
            <a:avLst/>
          </a:prstGeom>
          <a:noFill/>
          <a:ln/>
        </p:spPr>
        <p:txBody>
          <a:bodyPr wrap="square" lIns="0" tIns="0" rIns="0" bIns="0" rtlCol="0" anchor="ctr"/>
          <a:lstStyle/>
          <a:p>
            <a:pPr marL="0" indent="0">
              <a:buNone/>
            </a:pPr>
            <a:r>
              <a:rPr lang="en-US" sz="950" b="1" dirty="0">
                <a:solidFill>
                  <a:srgbClr val="059669"/>
                </a:solidFill>
                <a:latin typeface="Calibri" pitchFamily="34" charset="0"/>
                <a:ea typeface="Calibri" pitchFamily="34" charset="-122"/>
                <a:cs typeface="Calibri" pitchFamily="34" charset="-120"/>
              </a:rPr>
              <a:t>hₜ = oₜ ∘ tanh(cₜ)</a:t>
            </a:r>
            <a:endParaRPr lang="en-US" sz="950" dirty="0"/>
          </a:p>
        </p:txBody>
      </p:sp>
      <p:sp>
        <p:nvSpPr>
          <p:cNvPr id="31" name="Shape 29"/>
          <p:cNvSpPr/>
          <p:nvPr/>
        </p:nvSpPr>
        <p:spPr>
          <a:xfrm>
            <a:off x="5321808" y="1755648"/>
            <a:ext cx="3547872" cy="786384"/>
          </a:xfrm>
          <a:prstGeom prst="rect">
            <a:avLst/>
          </a:prstGeom>
          <a:solidFill>
            <a:srgbClr val="FFFFFF"/>
          </a:solidFill>
          <a:ln w="12700">
            <a:solidFill>
              <a:srgbClr val="7C3AED"/>
            </a:solidFill>
            <a:prstDash val="solid"/>
          </a:ln>
          <a:effectLst>
            <a:outerShdw blurRad="63500" dist="25400" dir="8100000" algn="bl" rotWithShape="0">
              <a:srgbClr val="000000">
                <a:alpha val="8000"/>
              </a:srgbClr>
            </a:outerShdw>
          </a:effectLst>
        </p:spPr>
        <p:txBody>
          <a:bodyPr/>
          <a:lstStyle/>
          <a:p>
            <a:endParaRPr lang="tr-TR"/>
          </a:p>
        </p:txBody>
      </p:sp>
      <p:sp>
        <p:nvSpPr>
          <p:cNvPr id="32" name="Shape 30"/>
          <p:cNvSpPr/>
          <p:nvPr/>
        </p:nvSpPr>
        <p:spPr>
          <a:xfrm>
            <a:off x="5321808" y="1755648"/>
            <a:ext cx="54864" cy="786384"/>
          </a:xfrm>
          <a:prstGeom prst="rect">
            <a:avLst/>
          </a:prstGeom>
          <a:solidFill>
            <a:srgbClr val="7C3AED"/>
          </a:solidFill>
          <a:ln w="12700">
            <a:solidFill>
              <a:srgbClr val="7C3AED"/>
            </a:solidFill>
            <a:prstDash val="solid"/>
          </a:ln>
        </p:spPr>
        <p:txBody>
          <a:bodyPr/>
          <a:lstStyle/>
          <a:p>
            <a:endParaRPr lang="tr-TR"/>
          </a:p>
        </p:txBody>
      </p:sp>
      <p:sp>
        <p:nvSpPr>
          <p:cNvPr id="33" name="Text 31"/>
          <p:cNvSpPr/>
          <p:nvPr/>
        </p:nvSpPr>
        <p:spPr>
          <a:xfrm>
            <a:off x="5431536" y="1792224"/>
            <a:ext cx="3346704" cy="25603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Giriş Kapısı (iₜ)</a:t>
            </a:r>
            <a:endParaRPr lang="en-US" sz="1050" dirty="0"/>
          </a:p>
        </p:txBody>
      </p:sp>
      <p:sp>
        <p:nvSpPr>
          <p:cNvPr id="34" name="Text 32"/>
          <p:cNvSpPr/>
          <p:nvPr/>
        </p:nvSpPr>
        <p:spPr>
          <a:xfrm>
            <a:off x="5431536" y="2066544"/>
            <a:ext cx="3346704" cy="402336"/>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Yeni bilginin hücreye ne kadar gireceğini kontrol eder. σ fonksiyonu 0-1 arası değer üretir: 0 = bilgi girişi engel, 1 = tam geçiş.</a:t>
            </a:r>
            <a:endParaRPr lang="en-US" sz="850" dirty="0"/>
          </a:p>
        </p:txBody>
      </p:sp>
      <p:sp>
        <p:nvSpPr>
          <p:cNvPr id="35" name="Shape 33"/>
          <p:cNvSpPr/>
          <p:nvPr/>
        </p:nvSpPr>
        <p:spPr>
          <a:xfrm>
            <a:off x="5321808" y="2651760"/>
            <a:ext cx="3547872" cy="786384"/>
          </a:xfrm>
          <a:prstGeom prst="rect">
            <a:avLst/>
          </a:prstGeom>
          <a:solidFill>
            <a:srgbClr val="FFFFFF"/>
          </a:solidFill>
          <a:ln w="12700">
            <a:solidFill>
              <a:srgbClr val="EF4444"/>
            </a:solidFill>
            <a:prstDash val="solid"/>
          </a:ln>
          <a:effectLst>
            <a:outerShdw blurRad="63500" dist="25400" dir="8100000" algn="bl" rotWithShape="0">
              <a:srgbClr val="000000">
                <a:alpha val="8000"/>
              </a:srgbClr>
            </a:outerShdw>
          </a:effectLst>
        </p:spPr>
        <p:txBody>
          <a:bodyPr/>
          <a:lstStyle/>
          <a:p>
            <a:endParaRPr lang="tr-TR"/>
          </a:p>
        </p:txBody>
      </p:sp>
      <p:sp>
        <p:nvSpPr>
          <p:cNvPr id="36" name="Shape 34"/>
          <p:cNvSpPr/>
          <p:nvPr/>
        </p:nvSpPr>
        <p:spPr>
          <a:xfrm>
            <a:off x="5321808" y="2651760"/>
            <a:ext cx="54864" cy="786384"/>
          </a:xfrm>
          <a:prstGeom prst="rect">
            <a:avLst/>
          </a:prstGeom>
          <a:solidFill>
            <a:srgbClr val="EF4444"/>
          </a:solidFill>
          <a:ln w="12700">
            <a:solidFill>
              <a:srgbClr val="EF4444"/>
            </a:solidFill>
            <a:prstDash val="solid"/>
          </a:ln>
        </p:spPr>
        <p:txBody>
          <a:bodyPr/>
          <a:lstStyle/>
          <a:p>
            <a:endParaRPr lang="tr-TR"/>
          </a:p>
        </p:txBody>
      </p:sp>
      <p:sp>
        <p:nvSpPr>
          <p:cNvPr id="37" name="Text 35"/>
          <p:cNvSpPr/>
          <p:nvPr/>
        </p:nvSpPr>
        <p:spPr>
          <a:xfrm>
            <a:off x="5431536" y="2688336"/>
            <a:ext cx="3346704" cy="25603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Unutma Kapısı (fₜ)</a:t>
            </a:r>
            <a:endParaRPr lang="en-US" sz="1050" dirty="0"/>
          </a:p>
        </p:txBody>
      </p:sp>
      <p:sp>
        <p:nvSpPr>
          <p:cNvPr id="38" name="Text 36"/>
          <p:cNvSpPr/>
          <p:nvPr/>
        </p:nvSpPr>
        <p:spPr>
          <a:xfrm>
            <a:off x="5431536" y="2962656"/>
            <a:ext cx="3346704" cy="402336"/>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Önceki hücre durumunun ne kadarının korunacağını belirler. fₜ=0 → tüm geçmiş unutulur, fₜ=1 → tam hafıza korunur.</a:t>
            </a:r>
            <a:endParaRPr lang="en-US" sz="850" dirty="0"/>
          </a:p>
        </p:txBody>
      </p:sp>
      <p:sp>
        <p:nvSpPr>
          <p:cNvPr id="39" name="Shape 37"/>
          <p:cNvSpPr/>
          <p:nvPr/>
        </p:nvSpPr>
        <p:spPr>
          <a:xfrm>
            <a:off x="5321808" y="3547872"/>
            <a:ext cx="3547872" cy="786384"/>
          </a:xfrm>
          <a:prstGeom prst="rect">
            <a:avLst/>
          </a:prstGeom>
          <a:solidFill>
            <a:srgbClr val="FFFFFF"/>
          </a:solidFill>
          <a:ln w="12700">
            <a:solidFill>
              <a:srgbClr val="84CC16"/>
            </a:solidFill>
            <a:prstDash val="solid"/>
          </a:ln>
          <a:effectLst>
            <a:outerShdw blurRad="63500" dist="25400" dir="8100000" algn="bl" rotWithShape="0">
              <a:srgbClr val="000000">
                <a:alpha val="8000"/>
              </a:srgbClr>
            </a:outerShdw>
          </a:effectLst>
        </p:spPr>
        <p:txBody>
          <a:bodyPr/>
          <a:lstStyle/>
          <a:p>
            <a:endParaRPr lang="tr-TR"/>
          </a:p>
        </p:txBody>
      </p:sp>
      <p:sp>
        <p:nvSpPr>
          <p:cNvPr id="40" name="Shape 38"/>
          <p:cNvSpPr/>
          <p:nvPr/>
        </p:nvSpPr>
        <p:spPr>
          <a:xfrm>
            <a:off x="5321808" y="3547872"/>
            <a:ext cx="54864" cy="786384"/>
          </a:xfrm>
          <a:prstGeom prst="rect">
            <a:avLst/>
          </a:prstGeom>
          <a:solidFill>
            <a:srgbClr val="84CC16"/>
          </a:solidFill>
          <a:ln w="12700">
            <a:solidFill>
              <a:srgbClr val="84CC16"/>
            </a:solidFill>
            <a:prstDash val="solid"/>
          </a:ln>
        </p:spPr>
        <p:txBody>
          <a:bodyPr/>
          <a:lstStyle/>
          <a:p>
            <a:endParaRPr lang="tr-TR"/>
          </a:p>
        </p:txBody>
      </p:sp>
      <p:sp>
        <p:nvSpPr>
          <p:cNvPr id="41" name="Text 39"/>
          <p:cNvSpPr/>
          <p:nvPr/>
        </p:nvSpPr>
        <p:spPr>
          <a:xfrm>
            <a:off x="5431536" y="3584448"/>
            <a:ext cx="3346704" cy="25603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CEC — Sabit Hata Döngüsü</a:t>
            </a:r>
            <a:endParaRPr lang="en-US" sz="1050" dirty="0"/>
          </a:p>
        </p:txBody>
      </p:sp>
      <p:sp>
        <p:nvSpPr>
          <p:cNvPr id="42" name="Text 40"/>
          <p:cNvSpPr/>
          <p:nvPr/>
        </p:nvSpPr>
        <p:spPr>
          <a:xfrm>
            <a:off x="5431536" y="3858768"/>
            <a:ext cx="3346704" cy="402336"/>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LSTM'nin kalbidir. cₜ = fₜ∘cₜ₋₁ + iₜ∘lₜ. Bilginin kaybolmadan uzun süre taşınmasını sağlar. Kaybolan gradyan problemini çözer.</a:t>
            </a:r>
            <a:endParaRPr lang="en-US" sz="850" dirty="0"/>
          </a:p>
        </p:txBody>
      </p:sp>
      <p:sp>
        <p:nvSpPr>
          <p:cNvPr id="43" name="Shape 41"/>
          <p:cNvSpPr/>
          <p:nvPr/>
        </p:nvSpPr>
        <p:spPr>
          <a:xfrm>
            <a:off x="5321808" y="4443984"/>
            <a:ext cx="3547872" cy="786384"/>
          </a:xfrm>
          <a:prstGeom prst="rect">
            <a:avLst/>
          </a:prstGeom>
          <a:solidFill>
            <a:srgbClr val="FFFFFF"/>
          </a:solidFill>
          <a:ln w="12700">
            <a:solidFill>
              <a:srgbClr val="059669"/>
            </a:solidFill>
            <a:prstDash val="solid"/>
          </a:ln>
          <a:effectLst>
            <a:outerShdw blurRad="63500" dist="25400" dir="8100000" algn="bl" rotWithShape="0">
              <a:srgbClr val="000000">
                <a:alpha val="8000"/>
              </a:srgbClr>
            </a:outerShdw>
          </a:effectLst>
        </p:spPr>
        <p:txBody>
          <a:bodyPr/>
          <a:lstStyle/>
          <a:p>
            <a:endParaRPr lang="tr-TR"/>
          </a:p>
        </p:txBody>
      </p:sp>
      <p:sp>
        <p:nvSpPr>
          <p:cNvPr id="44" name="Shape 42"/>
          <p:cNvSpPr/>
          <p:nvPr/>
        </p:nvSpPr>
        <p:spPr>
          <a:xfrm>
            <a:off x="5321808" y="4443984"/>
            <a:ext cx="54864" cy="786384"/>
          </a:xfrm>
          <a:prstGeom prst="rect">
            <a:avLst/>
          </a:prstGeom>
          <a:solidFill>
            <a:srgbClr val="059669"/>
          </a:solidFill>
          <a:ln w="12700">
            <a:solidFill>
              <a:srgbClr val="059669"/>
            </a:solidFill>
            <a:prstDash val="solid"/>
          </a:ln>
        </p:spPr>
        <p:txBody>
          <a:bodyPr/>
          <a:lstStyle/>
          <a:p>
            <a:endParaRPr lang="tr-TR"/>
          </a:p>
        </p:txBody>
      </p:sp>
      <p:sp>
        <p:nvSpPr>
          <p:cNvPr id="45" name="Text 43"/>
          <p:cNvSpPr/>
          <p:nvPr/>
        </p:nvSpPr>
        <p:spPr>
          <a:xfrm>
            <a:off x="5431536" y="4480560"/>
            <a:ext cx="3346704" cy="25603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Çıkış Kapısı (oₜ)</a:t>
            </a:r>
            <a:endParaRPr lang="en-US" sz="1050" dirty="0"/>
          </a:p>
        </p:txBody>
      </p:sp>
      <p:sp>
        <p:nvSpPr>
          <p:cNvPr id="46" name="Text 44"/>
          <p:cNvSpPr/>
          <p:nvPr/>
        </p:nvSpPr>
        <p:spPr>
          <a:xfrm>
            <a:off x="5431536" y="4754880"/>
            <a:ext cx="3346704" cy="402336"/>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Güncel hücre durumunun ne kadarının gizli duruma (hₜ) aktarılacağını seçer. hₜ = oₜ ∘ tanh(cₜ).</a:t>
            </a:r>
            <a:endParaRPr lang="en-US" sz="850" dirty="0"/>
          </a:p>
        </p:txBody>
      </p:sp>
      <p:sp>
        <p:nvSpPr>
          <p:cNvPr id="47" name="Text 45"/>
          <p:cNvSpPr/>
          <p:nvPr/>
        </p:nvSpPr>
        <p:spPr>
          <a:xfrm>
            <a:off x="365760" y="4956048"/>
            <a:ext cx="8412480" cy="18288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Kaynak: Hochreiter &amp; Schmidhuber (1997) Neural Computation 9(8):1735-1780; Gers et al. (1999, 2002) — Forget gate &amp; timing</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KARŞILAŞTIRMA</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Derin Öğrenme Modelleri — Kapsamlı Karşılaştırma</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47472" y="1078992"/>
            <a:ext cx="1572768" cy="3840480"/>
          </a:xfrm>
          <a:prstGeom prst="rect">
            <a:avLst/>
          </a:prstGeom>
          <a:solidFill>
            <a:srgbClr val="243B55"/>
          </a:solidFill>
          <a:ln w="12700">
            <a:solidFill>
              <a:srgbClr val="7C3AED"/>
            </a:solidFill>
            <a:prstDash val="solid"/>
          </a:ln>
          <a:effectLst>
            <a:outerShdw blurRad="127000" dist="50800" dir="8100000" algn="bl" rotWithShape="0">
              <a:srgbClr val="000000">
                <a:alpha val="12000"/>
              </a:srgbClr>
            </a:outerShdw>
          </a:effectLst>
        </p:spPr>
        <p:txBody>
          <a:bodyPr/>
          <a:lstStyle/>
          <a:p>
            <a:endParaRPr lang="tr-TR"/>
          </a:p>
        </p:txBody>
      </p:sp>
      <p:sp>
        <p:nvSpPr>
          <p:cNvPr id="7" name="Shape 5"/>
          <p:cNvSpPr/>
          <p:nvPr/>
        </p:nvSpPr>
        <p:spPr>
          <a:xfrm>
            <a:off x="347472" y="1078992"/>
            <a:ext cx="1572768" cy="512064"/>
          </a:xfrm>
          <a:prstGeom prst="rect">
            <a:avLst/>
          </a:prstGeom>
          <a:solidFill>
            <a:srgbClr val="7C3AED"/>
          </a:solidFill>
          <a:ln w="12700">
            <a:solidFill>
              <a:srgbClr val="7C3AED"/>
            </a:solidFill>
            <a:prstDash val="solid"/>
          </a:ln>
        </p:spPr>
        <p:txBody>
          <a:bodyPr/>
          <a:lstStyle/>
          <a:p>
            <a:endParaRPr lang="tr-TR"/>
          </a:p>
        </p:txBody>
      </p:sp>
      <p:sp>
        <p:nvSpPr>
          <p:cNvPr id="8" name="Text 6"/>
          <p:cNvSpPr/>
          <p:nvPr/>
        </p:nvSpPr>
        <p:spPr>
          <a:xfrm>
            <a:off x="347472" y="1078992"/>
            <a:ext cx="1572768"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D-FFNN</a:t>
            </a:r>
            <a:endParaRPr lang="en-US" sz="1200" dirty="0"/>
          </a:p>
        </p:txBody>
      </p:sp>
      <p:sp>
        <p:nvSpPr>
          <p:cNvPr id="9" name="Text 7"/>
          <p:cNvSpPr/>
          <p:nvPr/>
        </p:nvSpPr>
        <p:spPr>
          <a:xfrm>
            <a:off x="402336" y="1682496"/>
            <a:ext cx="1463040" cy="201168"/>
          </a:xfrm>
          <a:prstGeom prst="rect">
            <a:avLst/>
          </a:prstGeom>
          <a:noFill/>
          <a:ln/>
        </p:spPr>
        <p:txBody>
          <a:bodyPr wrap="square" lIns="0" tIns="0" rIns="0" bIns="0" rtlCol="0" anchor="ctr"/>
          <a:lstStyle/>
          <a:p>
            <a:pPr marL="0" indent="0">
              <a:buNone/>
            </a:pPr>
            <a:r>
              <a:rPr lang="en-US" sz="800" b="1" dirty="0">
                <a:solidFill>
                  <a:srgbClr val="06B6D4"/>
                </a:solidFill>
                <a:latin typeface="Calibri" pitchFamily="34" charset="0"/>
                <a:ea typeface="Calibri" pitchFamily="34" charset="-122"/>
                <a:cs typeface="Calibri" pitchFamily="34" charset="-120"/>
              </a:rPr>
              <a:t>Veri Türü:</a:t>
            </a:r>
            <a:endParaRPr lang="en-US" sz="800" dirty="0"/>
          </a:p>
        </p:txBody>
      </p:sp>
      <p:sp>
        <p:nvSpPr>
          <p:cNvPr id="10" name="Text 8"/>
          <p:cNvSpPr/>
          <p:nvPr/>
        </p:nvSpPr>
        <p:spPr>
          <a:xfrm>
            <a:off x="402336" y="1883664"/>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Tablolu, Yapılandırılmış</a:t>
            </a:r>
            <a:endParaRPr lang="en-US" sz="850" dirty="0"/>
          </a:p>
        </p:txBody>
      </p:sp>
      <p:sp>
        <p:nvSpPr>
          <p:cNvPr id="11" name="Text 9"/>
          <p:cNvSpPr/>
          <p:nvPr/>
        </p:nvSpPr>
        <p:spPr>
          <a:xfrm>
            <a:off x="402336" y="2450592"/>
            <a:ext cx="1463040" cy="201168"/>
          </a:xfrm>
          <a:prstGeom prst="rect">
            <a:avLst/>
          </a:prstGeom>
          <a:noFill/>
          <a:ln/>
        </p:spPr>
        <p:txBody>
          <a:bodyPr wrap="square" lIns="0" tIns="0" rIns="0" bIns="0" rtlCol="0" anchor="ctr"/>
          <a:lstStyle/>
          <a:p>
            <a:pPr marL="0" indent="0">
              <a:buNone/>
            </a:pPr>
            <a:r>
              <a:rPr lang="en-US" sz="800" b="1" dirty="0">
                <a:solidFill>
                  <a:srgbClr val="84CC16"/>
                </a:solidFill>
                <a:latin typeface="Calibri" pitchFamily="34" charset="0"/>
                <a:ea typeface="Calibri" pitchFamily="34" charset="-122"/>
                <a:cs typeface="Calibri" pitchFamily="34" charset="-120"/>
              </a:rPr>
              <a:t>Güçlü Yön:</a:t>
            </a:r>
            <a:endParaRPr lang="en-US" sz="800" dirty="0"/>
          </a:p>
        </p:txBody>
      </p:sp>
      <p:sp>
        <p:nvSpPr>
          <p:cNvPr id="12" name="Text 10"/>
          <p:cNvSpPr/>
          <p:nvPr/>
        </p:nvSpPr>
        <p:spPr>
          <a:xfrm>
            <a:off x="402336" y="2651760"/>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Evrensel yaklaşım teoremi</a:t>
            </a:r>
            <a:endParaRPr lang="en-US" sz="850" dirty="0"/>
          </a:p>
        </p:txBody>
      </p:sp>
      <p:sp>
        <p:nvSpPr>
          <p:cNvPr id="13" name="Text 11"/>
          <p:cNvSpPr/>
          <p:nvPr/>
        </p:nvSpPr>
        <p:spPr>
          <a:xfrm>
            <a:off x="402336" y="3218688"/>
            <a:ext cx="1463040" cy="201168"/>
          </a:xfrm>
          <a:prstGeom prst="rect">
            <a:avLst/>
          </a:prstGeom>
          <a:noFill/>
          <a:ln/>
        </p:spPr>
        <p:txBody>
          <a:bodyPr wrap="square" lIns="0" tIns="0" rIns="0" bIns="0" rtlCol="0" anchor="ctr"/>
          <a:lstStyle/>
          <a:p>
            <a:pPr marL="0" indent="0">
              <a:buNone/>
            </a:pPr>
            <a:r>
              <a:rPr lang="en-US" sz="800" b="1" dirty="0">
                <a:solidFill>
                  <a:srgbClr val="F87171"/>
                </a:solidFill>
                <a:latin typeface="Calibri" pitchFamily="34" charset="0"/>
                <a:ea typeface="Calibri" pitchFamily="34" charset="-122"/>
                <a:cs typeface="Calibri" pitchFamily="34" charset="-120"/>
              </a:rPr>
              <a:t>Zayıf Yön:</a:t>
            </a:r>
            <a:endParaRPr lang="en-US" sz="800" dirty="0"/>
          </a:p>
        </p:txBody>
      </p:sp>
      <p:sp>
        <p:nvSpPr>
          <p:cNvPr id="14" name="Text 12"/>
          <p:cNvSpPr/>
          <p:nvPr/>
        </p:nvSpPr>
        <p:spPr>
          <a:xfrm>
            <a:off x="402336" y="3419856"/>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Görüntüde CNN'den zayıf</a:t>
            </a:r>
            <a:endParaRPr lang="en-US" sz="850" dirty="0"/>
          </a:p>
        </p:txBody>
      </p:sp>
      <p:sp>
        <p:nvSpPr>
          <p:cNvPr id="15" name="Text 13"/>
          <p:cNvSpPr/>
          <p:nvPr/>
        </p:nvSpPr>
        <p:spPr>
          <a:xfrm>
            <a:off x="402336" y="3986784"/>
            <a:ext cx="1463040" cy="201168"/>
          </a:xfrm>
          <a:prstGeom prst="rect">
            <a:avLst/>
          </a:prstGeom>
          <a:noFill/>
          <a:ln/>
        </p:spPr>
        <p:txBody>
          <a:bodyPr wrap="square" lIns="0" tIns="0" rIns="0" bIns="0" rtlCol="0" anchor="ctr"/>
          <a:lstStyle/>
          <a:p>
            <a:pPr marL="0" indent="0">
              <a:buNone/>
            </a:pPr>
            <a:r>
              <a:rPr lang="en-US" sz="800" b="1" dirty="0">
                <a:solidFill>
                  <a:srgbClr val="F59E0B"/>
                </a:solidFill>
                <a:latin typeface="Calibri" pitchFamily="34" charset="0"/>
                <a:ea typeface="Calibri" pitchFamily="34" charset="-122"/>
                <a:cs typeface="Calibri" pitchFamily="34" charset="-120"/>
              </a:rPr>
              <a:t>Örnek Uygulama:</a:t>
            </a:r>
            <a:endParaRPr lang="en-US" sz="800" dirty="0"/>
          </a:p>
        </p:txBody>
      </p:sp>
      <p:sp>
        <p:nvSpPr>
          <p:cNvPr id="16" name="Text 14"/>
          <p:cNvSpPr/>
          <p:nvPr/>
        </p:nvSpPr>
        <p:spPr>
          <a:xfrm>
            <a:off x="402336" y="4187952"/>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İlaç toksisitesi (Mayr et al., 2016)</a:t>
            </a:r>
            <a:endParaRPr lang="en-US" sz="850" dirty="0"/>
          </a:p>
        </p:txBody>
      </p:sp>
      <p:sp>
        <p:nvSpPr>
          <p:cNvPr id="17" name="Shape 15"/>
          <p:cNvSpPr/>
          <p:nvPr/>
        </p:nvSpPr>
        <p:spPr>
          <a:xfrm>
            <a:off x="2066544" y="1078992"/>
            <a:ext cx="1572768" cy="3840480"/>
          </a:xfrm>
          <a:prstGeom prst="rect">
            <a:avLst/>
          </a:prstGeom>
          <a:solidFill>
            <a:srgbClr val="243B55"/>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18" name="Shape 16"/>
          <p:cNvSpPr/>
          <p:nvPr/>
        </p:nvSpPr>
        <p:spPr>
          <a:xfrm>
            <a:off x="2066544" y="1078992"/>
            <a:ext cx="1572768" cy="512064"/>
          </a:xfrm>
          <a:prstGeom prst="rect">
            <a:avLst/>
          </a:prstGeom>
          <a:solidFill>
            <a:srgbClr val="0891B2"/>
          </a:solidFill>
          <a:ln w="12700">
            <a:solidFill>
              <a:srgbClr val="0891B2"/>
            </a:solidFill>
            <a:prstDash val="solid"/>
          </a:ln>
        </p:spPr>
        <p:txBody>
          <a:bodyPr/>
          <a:lstStyle/>
          <a:p>
            <a:endParaRPr lang="tr-TR"/>
          </a:p>
        </p:txBody>
      </p:sp>
      <p:sp>
        <p:nvSpPr>
          <p:cNvPr id="19" name="Text 17"/>
          <p:cNvSpPr/>
          <p:nvPr/>
        </p:nvSpPr>
        <p:spPr>
          <a:xfrm>
            <a:off x="2066544" y="1078992"/>
            <a:ext cx="1572768"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CNN</a:t>
            </a:r>
            <a:endParaRPr lang="en-US" sz="1200" dirty="0"/>
          </a:p>
        </p:txBody>
      </p:sp>
      <p:sp>
        <p:nvSpPr>
          <p:cNvPr id="20" name="Text 18"/>
          <p:cNvSpPr/>
          <p:nvPr/>
        </p:nvSpPr>
        <p:spPr>
          <a:xfrm>
            <a:off x="2121408" y="1682496"/>
            <a:ext cx="1463040" cy="201168"/>
          </a:xfrm>
          <a:prstGeom prst="rect">
            <a:avLst/>
          </a:prstGeom>
          <a:noFill/>
          <a:ln/>
        </p:spPr>
        <p:txBody>
          <a:bodyPr wrap="square" lIns="0" tIns="0" rIns="0" bIns="0" rtlCol="0" anchor="ctr"/>
          <a:lstStyle/>
          <a:p>
            <a:pPr marL="0" indent="0">
              <a:buNone/>
            </a:pPr>
            <a:r>
              <a:rPr lang="en-US" sz="800" b="1" dirty="0">
                <a:solidFill>
                  <a:srgbClr val="06B6D4"/>
                </a:solidFill>
                <a:latin typeface="Calibri" pitchFamily="34" charset="0"/>
                <a:ea typeface="Calibri" pitchFamily="34" charset="-122"/>
                <a:cs typeface="Calibri" pitchFamily="34" charset="-120"/>
              </a:rPr>
              <a:t>Veri Türü:</a:t>
            </a:r>
            <a:endParaRPr lang="en-US" sz="800" dirty="0"/>
          </a:p>
        </p:txBody>
      </p:sp>
      <p:sp>
        <p:nvSpPr>
          <p:cNvPr id="21" name="Text 19"/>
          <p:cNvSpPr/>
          <p:nvPr/>
        </p:nvSpPr>
        <p:spPr>
          <a:xfrm>
            <a:off x="2121408" y="1883664"/>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Görüntü, Video, Ses</a:t>
            </a:r>
            <a:endParaRPr lang="en-US" sz="850" dirty="0"/>
          </a:p>
        </p:txBody>
      </p:sp>
      <p:sp>
        <p:nvSpPr>
          <p:cNvPr id="22" name="Text 20"/>
          <p:cNvSpPr/>
          <p:nvPr/>
        </p:nvSpPr>
        <p:spPr>
          <a:xfrm>
            <a:off x="2121408" y="2450592"/>
            <a:ext cx="1463040" cy="201168"/>
          </a:xfrm>
          <a:prstGeom prst="rect">
            <a:avLst/>
          </a:prstGeom>
          <a:noFill/>
          <a:ln/>
        </p:spPr>
        <p:txBody>
          <a:bodyPr wrap="square" lIns="0" tIns="0" rIns="0" bIns="0" rtlCol="0" anchor="ctr"/>
          <a:lstStyle/>
          <a:p>
            <a:pPr marL="0" indent="0">
              <a:buNone/>
            </a:pPr>
            <a:r>
              <a:rPr lang="en-US" sz="800" b="1" dirty="0">
                <a:solidFill>
                  <a:srgbClr val="84CC16"/>
                </a:solidFill>
                <a:latin typeface="Calibri" pitchFamily="34" charset="0"/>
                <a:ea typeface="Calibri" pitchFamily="34" charset="-122"/>
                <a:cs typeface="Calibri" pitchFamily="34" charset="-120"/>
              </a:rPr>
              <a:t>Güçlü Yön:</a:t>
            </a:r>
            <a:endParaRPr lang="en-US" sz="800" dirty="0"/>
          </a:p>
        </p:txBody>
      </p:sp>
      <p:sp>
        <p:nvSpPr>
          <p:cNvPr id="23" name="Text 21"/>
          <p:cNvSpPr/>
          <p:nvPr/>
        </p:nvSpPr>
        <p:spPr>
          <a:xfrm>
            <a:off x="2121408" y="2651760"/>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Yerel bağlantı + ağırlık paylaşımı</a:t>
            </a:r>
            <a:endParaRPr lang="en-US" sz="850" dirty="0"/>
          </a:p>
        </p:txBody>
      </p:sp>
      <p:sp>
        <p:nvSpPr>
          <p:cNvPr id="24" name="Text 22"/>
          <p:cNvSpPr/>
          <p:nvPr/>
        </p:nvSpPr>
        <p:spPr>
          <a:xfrm>
            <a:off x="2121408" y="3218688"/>
            <a:ext cx="1463040" cy="201168"/>
          </a:xfrm>
          <a:prstGeom prst="rect">
            <a:avLst/>
          </a:prstGeom>
          <a:noFill/>
          <a:ln/>
        </p:spPr>
        <p:txBody>
          <a:bodyPr wrap="square" lIns="0" tIns="0" rIns="0" bIns="0" rtlCol="0" anchor="ctr"/>
          <a:lstStyle/>
          <a:p>
            <a:pPr marL="0" indent="0">
              <a:buNone/>
            </a:pPr>
            <a:r>
              <a:rPr lang="en-US" sz="800" b="1" dirty="0">
                <a:solidFill>
                  <a:srgbClr val="F87171"/>
                </a:solidFill>
                <a:latin typeface="Calibri" pitchFamily="34" charset="0"/>
                <a:ea typeface="Calibri" pitchFamily="34" charset="-122"/>
                <a:cs typeface="Calibri" pitchFamily="34" charset="-120"/>
              </a:rPr>
              <a:t>Zayıf Yön:</a:t>
            </a:r>
            <a:endParaRPr lang="en-US" sz="800" dirty="0"/>
          </a:p>
        </p:txBody>
      </p:sp>
      <p:sp>
        <p:nvSpPr>
          <p:cNvPr id="25" name="Text 23"/>
          <p:cNvSpPr/>
          <p:nvPr/>
        </p:nvSpPr>
        <p:spPr>
          <a:xfrm>
            <a:off x="2121408" y="3419856"/>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Büyük veri gereksinimi</a:t>
            </a:r>
            <a:endParaRPr lang="en-US" sz="850" dirty="0"/>
          </a:p>
        </p:txBody>
      </p:sp>
      <p:sp>
        <p:nvSpPr>
          <p:cNvPr id="26" name="Text 24"/>
          <p:cNvSpPr/>
          <p:nvPr/>
        </p:nvSpPr>
        <p:spPr>
          <a:xfrm>
            <a:off x="2121408" y="3986784"/>
            <a:ext cx="1463040" cy="201168"/>
          </a:xfrm>
          <a:prstGeom prst="rect">
            <a:avLst/>
          </a:prstGeom>
          <a:noFill/>
          <a:ln/>
        </p:spPr>
        <p:txBody>
          <a:bodyPr wrap="square" lIns="0" tIns="0" rIns="0" bIns="0" rtlCol="0" anchor="ctr"/>
          <a:lstStyle/>
          <a:p>
            <a:pPr marL="0" indent="0">
              <a:buNone/>
            </a:pPr>
            <a:r>
              <a:rPr lang="en-US" sz="800" b="1" dirty="0">
                <a:solidFill>
                  <a:srgbClr val="F59E0B"/>
                </a:solidFill>
                <a:latin typeface="Calibri" pitchFamily="34" charset="0"/>
                <a:ea typeface="Calibri" pitchFamily="34" charset="-122"/>
                <a:cs typeface="Calibri" pitchFamily="34" charset="-120"/>
              </a:rPr>
              <a:t>Örnek Uygulama:</a:t>
            </a:r>
            <a:endParaRPr lang="en-US" sz="800" dirty="0"/>
          </a:p>
        </p:txBody>
      </p:sp>
      <p:sp>
        <p:nvSpPr>
          <p:cNvPr id="27" name="Text 25"/>
          <p:cNvSpPr/>
          <p:nvPr/>
        </p:nvSpPr>
        <p:spPr>
          <a:xfrm>
            <a:off x="2121408" y="4187952"/>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Deri kanseri tespiti (Esteva et al., 2017)</a:t>
            </a:r>
            <a:endParaRPr lang="en-US" sz="850" dirty="0"/>
          </a:p>
        </p:txBody>
      </p:sp>
      <p:sp>
        <p:nvSpPr>
          <p:cNvPr id="28" name="Shape 26"/>
          <p:cNvSpPr/>
          <p:nvPr/>
        </p:nvSpPr>
        <p:spPr>
          <a:xfrm>
            <a:off x="3785616" y="1078992"/>
            <a:ext cx="1572768" cy="3840480"/>
          </a:xfrm>
          <a:prstGeom prst="rect">
            <a:avLst/>
          </a:prstGeom>
          <a:solidFill>
            <a:srgbClr val="243B55"/>
          </a:solidFill>
          <a:ln w="12700">
            <a:solidFill>
              <a:srgbClr val="059669"/>
            </a:solidFill>
            <a:prstDash val="solid"/>
          </a:ln>
          <a:effectLst>
            <a:outerShdw blurRad="127000" dist="50800" dir="8100000" algn="bl" rotWithShape="0">
              <a:srgbClr val="000000">
                <a:alpha val="12000"/>
              </a:srgbClr>
            </a:outerShdw>
          </a:effectLst>
        </p:spPr>
        <p:txBody>
          <a:bodyPr/>
          <a:lstStyle/>
          <a:p>
            <a:endParaRPr lang="tr-TR"/>
          </a:p>
        </p:txBody>
      </p:sp>
      <p:sp>
        <p:nvSpPr>
          <p:cNvPr id="29" name="Shape 27"/>
          <p:cNvSpPr/>
          <p:nvPr/>
        </p:nvSpPr>
        <p:spPr>
          <a:xfrm>
            <a:off x="3785616" y="1078992"/>
            <a:ext cx="1572768" cy="512064"/>
          </a:xfrm>
          <a:prstGeom prst="rect">
            <a:avLst/>
          </a:prstGeom>
          <a:solidFill>
            <a:srgbClr val="059669"/>
          </a:solidFill>
          <a:ln w="12700">
            <a:solidFill>
              <a:srgbClr val="059669"/>
            </a:solidFill>
            <a:prstDash val="solid"/>
          </a:ln>
        </p:spPr>
        <p:txBody>
          <a:bodyPr/>
          <a:lstStyle/>
          <a:p>
            <a:endParaRPr lang="tr-TR"/>
          </a:p>
        </p:txBody>
      </p:sp>
      <p:sp>
        <p:nvSpPr>
          <p:cNvPr id="30" name="Text 28"/>
          <p:cNvSpPr/>
          <p:nvPr/>
        </p:nvSpPr>
        <p:spPr>
          <a:xfrm>
            <a:off x="3785616" y="1078992"/>
            <a:ext cx="1572768"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DBN</a:t>
            </a:r>
            <a:endParaRPr lang="en-US" sz="1200" dirty="0"/>
          </a:p>
        </p:txBody>
      </p:sp>
      <p:sp>
        <p:nvSpPr>
          <p:cNvPr id="31" name="Text 29"/>
          <p:cNvSpPr/>
          <p:nvPr/>
        </p:nvSpPr>
        <p:spPr>
          <a:xfrm>
            <a:off x="3840480" y="1682496"/>
            <a:ext cx="1463040" cy="201168"/>
          </a:xfrm>
          <a:prstGeom prst="rect">
            <a:avLst/>
          </a:prstGeom>
          <a:noFill/>
          <a:ln/>
        </p:spPr>
        <p:txBody>
          <a:bodyPr wrap="square" lIns="0" tIns="0" rIns="0" bIns="0" rtlCol="0" anchor="ctr"/>
          <a:lstStyle/>
          <a:p>
            <a:pPr marL="0" indent="0">
              <a:buNone/>
            </a:pPr>
            <a:r>
              <a:rPr lang="en-US" sz="800" b="1" dirty="0">
                <a:solidFill>
                  <a:srgbClr val="06B6D4"/>
                </a:solidFill>
                <a:latin typeface="Calibri" pitchFamily="34" charset="0"/>
                <a:ea typeface="Calibri" pitchFamily="34" charset="-122"/>
                <a:cs typeface="Calibri" pitchFamily="34" charset="-120"/>
              </a:rPr>
              <a:t>Veri Türü:</a:t>
            </a:r>
            <a:endParaRPr lang="en-US" sz="800" dirty="0"/>
          </a:p>
        </p:txBody>
      </p:sp>
      <p:sp>
        <p:nvSpPr>
          <p:cNvPr id="32" name="Text 30"/>
          <p:cNvSpPr/>
          <p:nvPr/>
        </p:nvSpPr>
        <p:spPr>
          <a:xfrm>
            <a:off x="3840480" y="1883664"/>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Genomik, Ses, Metin</a:t>
            </a:r>
            <a:endParaRPr lang="en-US" sz="850" dirty="0"/>
          </a:p>
        </p:txBody>
      </p:sp>
      <p:sp>
        <p:nvSpPr>
          <p:cNvPr id="33" name="Text 31"/>
          <p:cNvSpPr/>
          <p:nvPr/>
        </p:nvSpPr>
        <p:spPr>
          <a:xfrm>
            <a:off x="3840480" y="2450592"/>
            <a:ext cx="1463040" cy="201168"/>
          </a:xfrm>
          <a:prstGeom prst="rect">
            <a:avLst/>
          </a:prstGeom>
          <a:noFill/>
          <a:ln/>
        </p:spPr>
        <p:txBody>
          <a:bodyPr wrap="square" lIns="0" tIns="0" rIns="0" bIns="0" rtlCol="0" anchor="ctr"/>
          <a:lstStyle/>
          <a:p>
            <a:pPr marL="0" indent="0">
              <a:buNone/>
            </a:pPr>
            <a:r>
              <a:rPr lang="en-US" sz="800" b="1" dirty="0">
                <a:solidFill>
                  <a:srgbClr val="84CC16"/>
                </a:solidFill>
                <a:latin typeface="Calibri" pitchFamily="34" charset="0"/>
                <a:ea typeface="Calibri" pitchFamily="34" charset="-122"/>
                <a:cs typeface="Calibri" pitchFamily="34" charset="-120"/>
              </a:rPr>
              <a:t>Güçlü Yön:</a:t>
            </a:r>
            <a:endParaRPr lang="en-US" sz="800" dirty="0"/>
          </a:p>
        </p:txBody>
      </p:sp>
      <p:sp>
        <p:nvSpPr>
          <p:cNvPr id="34" name="Text 32"/>
          <p:cNvSpPr/>
          <p:nvPr/>
        </p:nvSpPr>
        <p:spPr>
          <a:xfrm>
            <a:off x="3840480" y="2651760"/>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Etiketlenmemiş veri ön-eğitimi</a:t>
            </a:r>
            <a:endParaRPr lang="en-US" sz="850" dirty="0"/>
          </a:p>
        </p:txBody>
      </p:sp>
      <p:sp>
        <p:nvSpPr>
          <p:cNvPr id="35" name="Text 33"/>
          <p:cNvSpPr/>
          <p:nvPr/>
        </p:nvSpPr>
        <p:spPr>
          <a:xfrm>
            <a:off x="3840480" y="3218688"/>
            <a:ext cx="1463040" cy="201168"/>
          </a:xfrm>
          <a:prstGeom prst="rect">
            <a:avLst/>
          </a:prstGeom>
          <a:noFill/>
          <a:ln/>
        </p:spPr>
        <p:txBody>
          <a:bodyPr wrap="square" lIns="0" tIns="0" rIns="0" bIns="0" rtlCol="0" anchor="ctr"/>
          <a:lstStyle/>
          <a:p>
            <a:pPr marL="0" indent="0">
              <a:buNone/>
            </a:pPr>
            <a:r>
              <a:rPr lang="en-US" sz="800" b="1" dirty="0">
                <a:solidFill>
                  <a:srgbClr val="F87171"/>
                </a:solidFill>
                <a:latin typeface="Calibri" pitchFamily="34" charset="0"/>
                <a:ea typeface="Calibri" pitchFamily="34" charset="-122"/>
                <a:cs typeface="Calibri" pitchFamily="34" charset="-120"/>
              </a:rPr>
              <a:t>Zayıf Yön:</a:t>
            </a:r>
            <a:endParaRPr lang="en-US" sz="800" dirty="0"/>
          </a:p>
        </p:txBody>
      </p:sp>
      <p:sp>
        <p:nvSpPr>
          <p:cNvPr id="36" name="Text 34"/>
          <p:cNvSpPr/>
          <p:nvPr/>
        </p:nvSpPr>
        <p:spPr>
          <a:xfrm>
            <a:off x="3840480" y="3419856"/>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Karmaşık eğitim süreci</a:t>
            </a:r>
            <a:endParaRPr lang="en-US" sz="850" dirty="0"/>
          </a:p>
        </p:txBody>
      </p:sp>
      <p:sp>
        <p:nvSpPr>
          <p:cNvPr id="37" name="Text 35"/>
          <p:cNvSpPr/>
          <p:nvPr/>
        </p:nvSpPr>
        <p:spPr>
          <a:xfrm>
            <a:off x="3840480" y="3986784"/>
            <a:ext cx="1463040" cy="201168"/>
          </a:xfrm>
          <a:prstGeom prst="rect">
            <a:avLst/>
          </a:prstGeom>
          <a:noFill/>
          <a:ln/>
        </p:spPr>
        <p:txBody>
          <a:bodyPr wrap="square" lIns="0" tIns="0" rIns="0" bIns="0" rtlCol="0" anchor="ctr"/>
          <a:lstStyle/>
          <a:p>
            <a:pPr marL="0" indent="0">
              <a:buNone/>
            </a:pPr>
            <a:r>
              <a:rPr lang="en-US" sz="800" b="1" dirty="0">
                <a:solidFill>
                  <a:srgbClr val="F59E0B"/>
                </a:solidFill>
                <a:latin typeface="Calibri" pitchFamily="34" charset="0"/>
                <a:ea typeface="Calibri" pitchFamily="34" charset="-122"/>
                <a:cs typeface="Calibri" pitchFamily="34" charset="-120"/>
              </a:rPr>
              <a:t>Örnek Uygulama:</a:t>
            </a:r>
            <a:endParaRPr lang="en-US" sz="800" dirty="0"/>
          </a:p>
        </p:txBody>
      </p:sp>
      <p:sp>
        <p:nvSpPr>
          <p:cNvPr id="38" name="Text 36"/>
          <p:cNvSpPr/>
          <p:nvPr/>
        </p:nvSpPr>
        <p:spPr>
          <a:xfrm>
            <a:off x="3840480" y="4187952"/>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Gen ifadesi sınıflandırma (Smolander, 2019)</a:t>
            </a:r>
            <a:endParaRPr lang="en-US" sz="850" dirty="0"/>
          </a:p>
        </p:txBody>
      </p:sp>
      <p:sp>
        <p:nvSpPr>
          <p:cNvPr id="39" name="Shape 37"/>
          <p:cNvSpPr/>
          <p:nvPr/>
        </p:nvSpPr>
        <p:spPr>
          <a:xfrm>
            <a:off x="5504688" y="1078992"/>
            <a:ext cx="1572768" cy="3840480"/>
          </a:xfrm>
          <a:prstGeom prst="rect">
            <a:avLst/>
          </a:prstGeom>
          <a:solidFill>
            <a:srgbClr val="243B55"/>
          </a:solidFill>
          <a:ln w="12700">
            <a:solidFill>
              <a:srgbClr val="D97706"/>
            </a:solidFill>
            <a:prstDash val="solid"/>
          </a:ln>
          <a:effectLst>
            <a:outerShdw blurRad="127000" dist="50800" dir="8100000" algn="bl" rotWithShape="0">
              <a:srgbClr val="000000">
                <a:alpha val="12000"/>
              </a:srgbClr>
            </a:outerShdw>
          </a:effectLst>
        </p:spPr>
        <p:txBody>
          <a:bodyPr/>
          <a:lstStyle/>
          <a:p>
            <a:endParaRPr lang="tr-TR"/>
          </a:p>
        </p:txBody>
      </p:sp>
      <p:sp>
        <p:nvSpPr>
          <p:cNvPr id="40" name="Shape 38"/>
          <p:cNvSpPr/>
          <p:nvPr/>
        </p:nvSpPr>
        <p:spPr>
          <a:xfrm>
            <a:off x="5504688" y="1078992"/>
            <a:ext cx="1572768" cy="512064"/>
          </a:xfrm>
          <a:prstGeom prst="rect">
            <a:avLst/>
          </a:prstGeom>
          <a:solidFill>
            <a:srgbClr val="D97706"/>
          </a:solidFill>
          <a:ln w="12700">
            <a:solidFill>
              <a:srgbClr val="D97706"/>
            </a:solidFill>
            <a:prstDash val="solid"/>
          </a:ln>
        </p:spPr>
        <p:txBody>
          <a:bodyPr/>
          <a:lstStyle/>
          <a:p>
            <a:endParaRPr lang="tr-TR"/>
          </a:p>
        </p:txBody>
      </p:sp>
      <p:sp>
        <p:nvSpPr>
          <p:cNvPr id="41" name="Text 39"/>
          <p:cNvSpPr/>
          <p:nvPr/>
        </p:nvSpPr>
        <p:spPr>
          <a:xfrm>
            <a:off x="5504688" y="1078992"/>
            <a:ext cx="1572768"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AE</a:t>
            </a:r>
            <a:endParaRPr lang="en-US" sz="1200" dirty="0"/>
          </a:p>
        </p:txBody>
      </p:sp>
      <p:sp>
        <p:nvSpPr>
          <p:cNvPr id="42" name="Text 40"/>
          <p:cNvSpPr/>
          <p:nvPr/>
        </p:nvSpPr>
        <p:spPr>
          <a:xfrm>
            <a:off x="5559552" y="1682496"/>
            <a:ext cx="1463040" cy="201168"/>
          </a:xfrm>
          <a:prstGeom prst="rect">
            <a:avLst/>
          </a:prstGeom>
          <a:noFill/>
          <a:ln/>
        </p:spPr>
        <p:txBody>
          <a:bodyPr wrap="square" lIns="0" tIns="0" rIns="0" bIns="0" rtlCol="0" anchor="ctr"/>
          <a:lstStyle/>
          <a:p>
            <a:pPr marL="0" indent="0">
              <a:buNone/>
            </a:pPr>
            <a:r>
              <a:rPr lang="en-US" sz="800" b="1" dirty="0">
                <a:solidFill>
                  <a:srgbClr val="06B6D4"/>
                </a:solidFill>
                <a:latin typeface="Calibri" pitchFamily="34" charset="0"/>
                <a:ea typeface="Calibri" pitchFamily="34" charset="-122"/>
                <a:cs typeface="Calibri" pitchFamily="34" charset="-120"/>
              </a:rPr>
              <a:t>Veri Türü:</a:t>
            </a:r>
            <a:endParaRPr lang="en-US" sz="800" dirty="0"/>
          </a:p>
        </p:txBody>
      </p:sp>
      <p:sp>
        <p:nvSpPr>
          <p:cNvPr id="43" name="Text 41"/>
          <p:cNvSpPr/>
          <p:nvPr/>
        </p:nvSpPr>
        <p:spPr>
          <a:xfrm>
            <a:off x="5559552" y="1883664"/>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Boyut indirgeme, Anomali</a:t>
            </a:r>
            <a:endParaRPr lang="en-US" sz="850" dirty="0"/>
          </a:p>
        </p:txBody>
      </p:sp>
      <p:sp>
        <p:nvSpPr>
          <p:cNvPr id="44" name="Text 42"/>
          <p:cNvSpPr/>
          <p:nvPr/>
        </p:nvSpPr>
        <p:spPr>
          <a:xfrm>
            <a:off x="5559552" y="2450592"/>
            <a:ext cx="1463040" cy="201168"/>
          </a:xfrm>
          <a:prstGeom prst="rect">
            <a:avLst/>
          </a:prstGeom>
          <a:noFill/>
          <a:ln/>
        </p:spPr>
        <p:txBody>
          <a:bodyPr wrap="square" lIns="0" tIns="0" rIns="0" bIns="0" rtlCol="0" anchor="ctr"/>
          <a:lstStyle/>
          <a:p>
            <a:pPr marL="0" indent="0">
              <a:buNone/>
            </a:pPr>
            <a:r>
              <a:rPr lang="en-US" sz="800" b="1" dirty="0">
                <a:solidFill>
                  <a:srgbClr val="84CC16"/>
                </a:solidFill>
                <a:latin typeface="Calibri" pitchFamily="34" charset="0"/>
                <a:ea typeface="Calibri" pitchFamily="34" charset="-122"/>
                <a:cs typeface="Calibri" pitchFamily="34" charset="-120"/>
              </a:rPr>
              <a:t>Güçlü Yön:</a:t>
            </a:r>
            <a:endParaRPr lang="en-US" sz="800" dirty="0"/>
          </a:p>
        </p:txBody>
      </p:sp>
      <p:sp>
        <p:nvSpPr>
          <p:cNvPr id="45" name="Text 43"/>
          <p:cNvSpPr/>
          <p:nvPr/>
        </p:nvSpPr>
        <p:spPr>
          <a:xfrm>
            <a:off x="5559552" y="2651760"/>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Doğrusal olmayan temsil</a:t>
            </a:r>
            <a:endParaRPr lang="en-US" sz="850" dirty="0"/>
          </a:p>
        </p:txBody>
      </p:sp>
      <p:sp>
        <p:nvSpPr>
          <p:cNvPr id="46" name="Text 44"/>
          <p:cNvSpPr/>
          <p:nvPr/>
        </p:nvSpPr>
        <p:spPr>
          <a:xfrm>
            <a:off x="5559552" y="3218688"/>
            <a:ext cx="1463040" cy="201168"/>
          </a:xfrm>
          <a:prstGeom prst="rect">
            <a:avLst/>
          </a:prstGeom>
          <a:noFill/>
          <a:ln/>
        </p:spPr>
        <p:txBody>
          <a:bodyPr wrap="square" lIns="0" tIns="0" rIns="0" bIns="0" rtlCol="0" anchor="ctr"/>
          <a:lstStyle/>
          <a:p>
            <a:pPr marL="0" indent="0">
              <a:buNone/>
            </a:pPr>
            <a:r>
              <a:rPr lang="en-US" sz="800" b="1" dirty="0">
                <a:solidFill>
                  <a:srgbClr val="F87171"/>
                </a:solidFill>
                <a:latin typeface="Calibri" pitchFamily="34" charset="0"/>
                <a:ea typeface="Calibri" pitchFamily="34" charset="-122"/>
                <a:cs typeface="Calibri" pitchFamily="34" charset="-120"/>
              </a:rPr>
              <a:t>Zayıf Yön:</a:t>
            </a:r>
            <a:endParaRPr lang="en-US" sz="800" dirty="0"/>
          </a:p>
        </p:txBody>
      </p:sp>
      <p:sp>
        <p:nvSpPr>
          <p:cNvPr id="47" name="Text 45"/>
          <p:cNvSpPr/>
          <p:nvPr/>
        </p:nvSpPr>
        <p:spPr>
          <a:xfrm>
            <a:off x="5559552" y="3419856"/>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Yorumlanması zor</a:t>
            </a:r>
            <a:endParaRPr lang="en-US" sz="850" dirty="0"/>
          </a:p>
        </p:txBody>
      </p:sp>
      <p:sp>
        <p:nvSpPr>
          <p:cNvPr id="48" name="Text 46"/>
          <p:cNvSpPr/>
          <p:nvPr/>
        </p:nvSpPr>
        <p:spPr>
          <a:xfrm>
            <a:off x="5559552" y="3986784"/>
            <a:ext cx="1463040" cy="201168"/>
          </a:xfrm>
          <a:prstGeom prst="rect">
            <a:avLst/>
          </a:prstGeom>
          <a:noFill/>
          <a:ln/>
        </p:spPr>
        <p:txBody>
          <a:bodyPr wrap="square" lIns="0" tIns="0" rIns="0" bIns="0" rtlCol="0" anchor="ctr"/>
          <a:lstStyle/>
          <a:p>
            <a:pPr marL="0" indent="0">
              <a:buNone/>
            </a:pPr>
            <a:r>
              <a:rPr lang="en-US" sz="800" b="1" dirty="0">
                <a:solidFill>
                  <a:srgbClr val="F59E0B"/>
                </a:solidFill>
                <a:latin typeface="Calibri" pitchFamily="34" charset="0"/>
                <a:ea typeface="Calibri" pitchFamily="34" charset="-122"/>
                <a:cs typeface="Calibri" pitchFamily="34" charset="-120"/>
              </a:rPr>
              <a:t>Örnek Uygulama:</a:t>
            </a:r>
            <a:endParaRPr lang="en-US" sz="800" dirty="0"/>
          </a:p>
        </p:txBody>
      </p:sp>
      <p:sp>
        <p:nvSpPr>
          <p:cNvPr id="49" name="Text 47"/>
          <p:cNvSpPr/>
          <p:nvPr/>
        </p:nvSpPr>
        <p:spPr>
          <a:xfrm>
            <a:off x="5559552" y="4187952"/>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Gürültü giderme (Vincent et al., 2010)</a:t>
            </a:r>
            <a:endParaRPr lang="en-US" sz="850" dirty="0"/>
          </a:p>
        </p:txBody>
      </p:sp>
      <p:sp>
        <p:nvSpPr>
          <p:cNvPr id="50" name="Shape 48"/>
          <p:cNvSpPr/>
          <p:nvPr/>
        </p:nvSpPr>
        <p:spPr>
          <a:xfrm>
            <a:off x="7223760" y="1078992"/>
            <a:ext cx="1572768" cy="3840480"/>
          </a:xfrm>
          <a:prstGeom prst="rect">
            <a:avLst/>
          </a:prstGeom>
          <a:solidFill>
            <a:srgbClr val="243B55"/>
          </a:solidFill>
          <a:ln w="12700">
            <a:solidFill>
              <a:srgbClr val="EF4444"/>
            </a:solidFill>
            <a:prstDash val="solid"/>
          </a:ln>
          <a:effectLst>
            <a:outerShdw blurRad="127000" dist="50800" dir="8100000" algn="bl" rotWithShape="0">
              <a:srgbClr val="000000">
                <a:alpha val="12000"/>
              </a:srgbClr>
            </a:outerShdw>
          </a:effectLst>
        </p:spPr>
        <p:txBody>
          <a:bodyPr/>
          <a:lstStyle/>
          <a:p>
            <a:endParaRPr lang="tr-TR"/>
          </a:p>
        </p:txBody>
      </p:sp>
      <p:sp>
        <p:nvSpPr>
          <p:cNvPr id="51" name="Shape 49"/>
          <p:cNvSpPr/>
          <p:nvPr/>
        </p:nvSpPr>
        <p:spPr>
          <a:xfrm>
            <a:off x="7223760" y="1078992"/>
            <a:ext cx="1572768" cy="512064"/>
          </a:xfrm>
          <a:prstGeom prst="rect">
            <a:avLst/>
          </a:prstGeom>
          <a:solidFill>
            <a:srgbClr val="EF4444"/>
          </a:solidFill>
          <a:ln w="12700">
            <a:solidFill>
              <a:srgbClr val="EF4444"/>
            </a:solidFill>
            <a:prstDash val="solid"/>
          </a:ln>
        </p:spPr>
        <p:txBody>
          <a:bodyPr/>
          <a:lstStyle/>
          <a:p>
            <a:endParaRPr lang="tr-TR"/>
          </a:p>
        </p:txBody>
      </p:sp>
      <p:sp>
        <p:nvSpPr>
          <p:cNvPr id="52" name="Text 50"/>
          <p:cNvSpPr/>
          <p:nvPr/>
        </p:nvSpPr>
        <p:spPr>
          <a:xfrm>
            <a:off x="7223760" y="1078992"/>
            <a:ext cx="1572768"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LSTM</a:t>
            </a:r>
            <a:endParaRPr lang="en-US" sz="1200" dirty="0"/>
          </a:p>
        </p:txBody>
      </p:sp>
      <p:sp>
        <p:nvSpPr>
          <p:cNvPr id="53" name="Text 51"/>
          <p:cNvSpPr/>
          <p:nvPr/>
        </p:nvSpPr>
        <p:spPr>
          <a:xfrm>
            <a:off x="7278624" y="1682496"/>
            <a:ext cx="1463040" cy="201168"/>
          </a:xfrm>
          <a:prstGeom prst="rect">
            <a:avLst/>
          </a:prstGeom>
          <a:noFill/>
          <a:ln/>
        </p:spPr>
        <p:txBody>
          <a:bodyPr wrap="square" lIns="0" tIns="0" rIns="0" bIns="0" rtlCol="0" anchor="ctr"/>
          <a:lstStyle/>
          <a:p>
            <a:pPr marL="0" indent="0">
              <a:buNone/>
            </a:pPr>
            <a:r>
              <a:rPr lang="en-US" sz="800" b="1" dirty="0">
                <a:solidFill>
                  <a:srgbClr val="06B6D4"/>
                </a:solidFill>
                <a:latin typeface="Calibri" pitchFamily="34" charset="0"/>
                <a:ea typeface="Calibri" pitchFamily="34" charset="-122"/>
                <a:cs typeface="Calibri" pitchFamily="34" charset="-120"/>
              </a:rPr>
              <a:t>Veri Türü:</a:t>
            </a:r>
            <a:endParaRPr lang="en-US" sz="800" dirty="0"/>
          </a:p>
        </p:txBody>
      </p:sp>
      <p:sp>
        <p:nvSpPr>
          <p:cNvPr id="54" name="Text 52"/>
          <p:cNvSpPr/>
          <p:nvPr/>
        </p:nvSpPr>
        <p:spPr>
          <a:xfrm>
            <a:off x="7278624" y="1883664"/>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Zaman serisi, NLP, Ses</a:t>
            </a:r>
            <a:endParaRPr lang="en-US" sz="850" dirty="0"/>
          </a:p>
        </p:txBody>
      </p:sp>
      <p:sp>
        <p:nvSpPr>
          <p:cNvPr id="55" name="Text 53"/>
          <p:cNvSpPr/>
          <p:nvPr/>
        </p:nvSpPr>
        <p:spPr>
          <a:xfrm>
            <a:off x="7278624" y="2450592"/>
            <a:ext cx="1463040" cy="201168"/>
          </a:xfrm>
          <a:prstGeom prst="rect">
            <a:avLst/>
          </a:prstGeom>
          <a:noFill/>
          <a:ln/>
        </p:spPr>
        <p:txBody>
          <a:bodyPr wrap="square" lIns="0" tIns="0" rIns="0" bIns="0" rtlCol="0" anchor="ctr"/>
          <a:lstStyle/>
          <a:p>
            <a:pPr marL="0" indent="0">
              <a:buNone/>
            </a:pPr>
            <a:r>
              <a:rPr lang="en-US" sz="800" b="1" dirty="0">
                <a:solidFill>
                  <a:srgbClr val="84CC16"/>
                </a:solidFill>
                <a:latin typeface="Calibri" pitchFamily="34" charset="0"/>
                <a:ea typeface="Calibri" pitchFamily="34" charset="-122"/>
                <a:cs typeface="Calibri" pitchFamily="34" charset="-120"/>
              </a:rPr>
              <a:t>Güçlü Yön:</a:t>
            </a:r>
            <a:endParaRPr lang="en-US" sz="800" dirty="0"/>
          </a:p>
        </p:txBody>
      </p:sp>
      <p:sp>
        <p:nvSpPr>
          <p:cNvPr id="56" name="Text 54"/>
          <p:cNvSpPr/>
          <p:nvPr/>
        </p:nvSpPr>
        <p:spPr>
          <a:xfrm>
            <a:off x="7278624" y="2651760"/>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Uzun bağımlılık, CEC mekanizması</a:t>
            </a:r>
            <a:endParaRPr lang="en-US" sz="850" dirty="0"/>
          </a:p>
        </p:txBody>
      </p:sp>
      <p:sp>
        <p:nvSpPr>
          <p:cNvPr id="57" name="Text 55"/>
          <p:cNvSpPr/>
          <p:nvPr/>
        </p:nvSpPr>
        <p:spPr>
          <a:xfrm>
            <a:off x="7278624" y="3218688"/>
            <a:ext cx="1463040" cy="201168"/>
          </a:xfrm>
          <a:prstGeom prst="rect">
            <a:avLst/>
          </a:prstGeom>
          <a:noFill/>
          <a:ln/>
        </p:spPr>
        <p:txBody>
          <a:bodyPr wrap="square" lIns="0" tIns="0" rIns="0" bIns="0" rtlCol="0" anchor="ctr"/>
          <a:lstStyle/>
          <a:p>
            <a:pPr marL="0" indent="0">
              <a:buNone/>
            </a:pPr>
            <a:r>
              <a:rPr lang="en-US" sz="800" b="1" dirty="0">
                <a:solidFill>
                  <a:srgbClr val="F87171"/>
                </a:solidFill>
                <a:latin typeface="Calibri" pitchFamily="34" charset="0"/>
                <a:ea typeface="Calibri" pitchFamily="34" charset="-122"/>
                <a:cs typeface="Calibri" pitchFamily="34" charset="-120"/>
              </a:rPr>
              <a:t>Zayıf Yön:</a:t>
            </a:r>
            <a:endParaRPr lang="en-US" sz="800" dirty="0"/>
          </a:p>
        </p:txBody>
      </p:sp>
      <p:sp>
        <p:nvSpPr>
          <p:cNvPr id="58" name="Text 56"/>
          <p:cNvSpPr/>
          <p:nvPr/>
        </p:nvSpPr>
        <p:spPr>
          <a:xfrm>
            <a:off x="7278624" y="3419856"/>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Eğitim yavaş, çok parametre</a:t>
            </a:r>
            <a:endParaRPr lang="en-US" sz="850" dirty="0"/>
          </a:p>
        </p:txBody>
      </p:sp>
      <p:sp>
        <p:nvSpPr>
          <p:cNvPr id="59" name="Text 57"/>
          <p:cNvSpPr/>
          <p:nvPr/>
        </p:nvSpPr>
        <p:spPr>
          <a:xfrm>
            <a:off x="7278624" y="3986784"/>
            <a:ext cx="1463040" cy="201168"/>
          </a:xfrm>
          <a:prstGeom prst="rect">
            <a:avLst/>
          </a:prstGeom>
          <a:noFill/>
          <a:ln/>
        </p:spPr>
        <p:txBody>
          <a:bodyPr wrap="square" lIns="0" tIns="0" rIns="0" bIns="0" rtlCol="0" anchor="ctr"/>
          <a:lstStyle/>
          <a:p>
            <a:pPr marL="0" indent="0">
              <a:buNone/>
            </a:pPr>
            <a:r>
              <a:rPr lang="en-US" sz="800" b="1" dirty="0">
                <a:solidFill>
                  <a:srgbClr val="F59E0B"/>
                </a:solidFill>
                <a:latin typeface="Calibri" pitchFamily="34" charset="0"/>
                <a:ea typeface="Calibri" pitchFamily="34" charset="-122"/>
                <a:cs typeface="Calibri" pitchFamily="34" charset="-120"/>
              </a:rPr>
              <a:t>Örnek Uygulama:</a:t>
            </a:r>
            <a:endParaRPr lang="en-US" sz="800" dirty="0"/>
          </a:p>
        </p:txBody>
      </p:sp>
      <p:sp>
        <p:nvSpPr>
          <p:cNvPr id="60" name="Text 58"/>
          <p:cNvSpPr/>
          <p:nvPr/>
        </p:nvSpPr>
        <p:spPr>
          <a:xfrm>
            <a:off x="7278624" y="4187952"/>
            <a:ext cx="1463040" cy="512064"/>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İlaç etkileşim tespiti (Sahu &amp; Anand, 2018)</a:t>
            </a:r>
            <a:endParaRPr lang="en-US" sz="850" dirty="0"/>
          </a:p>
        </p:txBody>
      </p:sp>
      <p:sp>
        <p:nvSpPr>
          <p:cNvPr id="61" name="Shape 59"/>
          <p:cNvSpPr/>
          <p:nvPr/>
        </p:nvSpPr>
        <p:spPr>
          <a:xfrm>
            <a:off x="347472" y="5010912"/>
            <a:ext cx="8449056" cy="256032"/>
          </a:xfrm>
          <a:prstGeom prst="rect">
            <a:avLst/>
          </a:prstGeom>
          <a:solidFill>
            <a:srgbClr val="1B2F4A"/>
          </a:solidFill>
          <a:ln w="12700">
            <a:solidFill>
              <a:srgbClr val="1B2F4A"/>
            </a:solidFill>
            <a:prstDash val="solid"/>
          </a:ln>
        </p:spPr>
        <p:txBody>
          <a:bodyPr/>
          <a:lstStyle/>
          <a:p>
            <a:endParaRPr lang="tr-TR"/>
          </a:p>
        </p:txBody>
      </p:sp>
      <p:sp>
        <p:nvSpPr>
          <p:cNvPr id="62" name="Text 60"/>
          <p:cNvSpPr/>
          <p:nvPr/>
        </p:nvSpPr>
        <p:spPr>
          <a:xfrm>
            <a:off x="502920" y="5010912"/>
            <a:ext cx="8229600" cy="256032"/>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  Uygulama alanları örtüşebilir — en iyi modeli belirlemek için karşılaştırmalı çalışma gereklidir (Emmert-Streib et al., 2020)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1B2F4A"/>
          </a:solidFill>
          <a:ln w="12700">
            <a:solidFill>
              <a:srgbClr val="1B2F4A"/>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SONUÇ &amp; BÜYÜK VERİ</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Büyük Veri Gereksinimi, XAI ve Temel Çıkarımlar</a:t>
            </a:r>
            <a:endParaRPr lang="en-US" sz="2600" dirty="0"/>
          </a:p>
        </p:txBody>
      </p:sp>
      <p:sp>
        <p:nvSpPr>
          <p:cNvPr id="5" name="Shape 3"/>
          <p:cNvSpPr/>
          <p:nvPr/>
        </p:nvSpPr>
        <p:spPr>
          <a:xfrm>
            <a:off x="365760" y="1024128"/>
            <a:ext cx="137160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115568"/>
            <a:ext cx="4114800" cy="2359152"/>
          </a:xfrm>
          <a:prstGeom prst="rect">
            <a:avLst/>
          </a:prstGeom>
          <a:solidFill>
            <a:srgbClr val="EFF6FF"/>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7" name="Text 5"/>
          <p:cNvSpPr/>
          <p:nvPr/>
        </p:nvSpPr>
        <p:spPr>
          <a:xfrm>
            <a:off x="502920" y="1188720"/>
            <a:ext cx="384048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Büyük Veri Deneyi — EMNIST</a:t>
            </a:r>
            <a:endParaRPr lang="en-US" sz="1200" dirty="0"/>
          </a:p>
        </p:txBody>
      </p:sp>
      <p:sp>
        <p:nvSpPr>
          <p:cNvPr id="8" name="Text 6"/>
          <p:cNvSpPr/>
          <p:nvPr/>
        </p:nvSpPr>
        <p:spPr>
          <a:xfrm>
            <a:off x="502920" y="1499616"/>
            <a:ext cx="384048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280,000 el yazısı karakter · 4 katmanlı LSTM · 200 nöron/katman</a:t>
            </a:r>
            <a:endParaRPr lang="en-US" sz="900" dirty="0"/>
          </a:p>
        </p:txBody>
      </p:sp>
      <p:sp>
        <p:nvSpPr>
          <p:cNvPr id="9" name="Text 7"/>
          <p:cNvSpPr/>
          <p:nvPr/>
        </p:nvSpPr>
        <p:spPr>
          <a:xfrm>
            <a:off x="502920" y="1755648"/>
            <a:ext cx="2011680" cy="566928"/>
          </a:xfrm>
          <a:prstGeom prst="rect">
            <a:avLst/>
          </a:prstGeom>
          <a:noFill/>
          <a:ln/>
        </p:spPr>
        <p:txBody>
          <a:bodyPr wrap="square" lIns="0" tIns="0" rIns="0" bIns="0" rtlCol="0" anchor="ctr"/>
          <a:lstStyle/>
          <a:p>
            <a:pPr marL="0" indent="0">
              <a:buNone/>
            </a:pPr>
            <a:r>
              <a:rPr lang="en-US" sz="3600" b="1" dirty="0">
                <a:solidFill>
                  <a:srgbClr val="0891B2"/>
                </a:solidFill>
                <a:latin typeface="Calibri" pitchFamily="34" charset="0"/>
                <a:ea typeface="Calibri" pitchFamily="34" charset="-122"/>
                <a:cs typeface="Calibri" pitchFamily="34" charset="-120"/>
              </a:rPr>
              <a:t>&gt;25,000</a:t>
            </a:r>
            <a:endParaRPr lang="en-US" sz="3600" dirty="0"/>
          </a:p>
        </p:txBody>
      </p:sp>
      <p:sp>
        <p:nvSpPr>
          <p:cNvPr id="10" name="Text 8"/>
          <p:cNvSpPr/>
          <p:nvPr/>
        </p:nvSpPr>
        <p:spPr>
          <a:xfrm>
            <a:off x="2560320" y="1847088"/>
            <a:ext cx="1810512" cy="475488"/>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eğitim örneği</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%5 hata eşiği için minimum</a:t>
            </a:r>
            <a:endParaRPr lang="en-US" sz="1000" dirty="0"/>
          </a:p>
        </p:txBody>
      </p:sp>
      <p:sp>
        <p:nvSpPr>
          <p:cNvPr id="11" name="Shape 9"/>
          <p:cNvSpPr/>
          <p:nvPr/>
        </p:nvSpPr>
        <p:spPr>
          <a:xfrm>
            <a:off x="566928" y="2563978"/>
            <a:ext cx="457200" cy="819302"/>
          </a:xfrm>
          <a:prstGeom prst="rect">
            <a:avLst/>
          </a:prstGeom>
          <a:solidFill>
            <a:srgbClr val="EF4444"/>
          </a:solidFill>
          <a:ln w="12700">
            <a:solidFill>
              <a:srgbClr val="EF4444"/>
            </a:solidFill>
            <a:prstDash val="solid"/>
          </a:ln>
        </p:spPr>
        <p:txBody>
          <a:bodyPr/>
          <a:lstStyle/>
          <a:p>
            <a:endParaRPr lang="tr-TR"/>
          </a:p>
        </p:txBody>
      </p:sp>
      <p:sp>
        <p:nvSpPr>
          <p:cNvPr id="12" name="Text 10"/>
          <p:cNvSpPr/>
          <p:nvPr/>
        </p:nvSpPr>
        <p:spPr>
          <a:xfrm>
            <a:off x="566928" y="3401568"/>
            <a:ext cx="457200" cy="182880"/>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1K</a:t>
            </a:r>
            <a:endParaRPr lang="en-US" sz="800" dirty="0"/>
          </a:p>
        </p:txBody>
      </p:sp>
      <p:sp>
        <p:nvSpPr>
          <p:cNvPr id="13" name="Shape 11"/>
          <p:cNvSpPr/>
          <p:nvPr/>
        </p:nvSpPr>
        <p:spPr>
          <a:xfrm>
            <a:off x="1133856" y="2748321"/>
            <a:ext cx="457200" cy="634959"/>
          </a:xfrm>
          <a:prstGeom prst="rect">
            <a:avLst/>
          </a:prstGeom>
          <a:solidFill>
            <a:srgbClr val="F87171"/>
          </a:solidFill>
          <a:ln w="12700">
            <a:solidFill>
              <a:srgbClr val="F87171"/>
            </a:solidFill>
            <a:prstDash val="solid"/>
          </a:ln>
        </p:spPr>
        <p:txBody>
          <a:bodyPr/>
          <a:lstStyle/>
          <a:p>
            <a:endParaRPr lang="tr-TR"/>
          </a:p>
        </p:txBody>
      </p:sp>
      <p:sp>
        <p:nvSpPr>
          <p:cNvPr id="14" name="Text 12"/>
          <p:cNvSpPr/>
          <p:nvPr/>
        </p:nvSpPr>
        <p:spPr>
          <a:xfrm>
            <a:off x="1133856" y="3401568"/>
            <a:ext cx="457200" cy="182880"/>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5K</a:t>
            </a:r>
            <a:endParaRPr lang="en-US" sz="800" dirty="0"/>
          </a:p>
        </p:txBody>
      </p:sp>
      <p:sp>
        <p:nvSpPr>
          <p:cNvPr id="15" name="Shape 13"/>
          <p:cNvSpPr/>
          <p:nvPr/>
        </p:nvSpPr>
        <p:spPr>
          <a:xfrm>
            <a:off x="1700784" y="2953146"/>
            <a:ext cx="457200" cy="430134"/>
          </a:xfrm>
          <a:prstGeom prst="rect">
            <a:avLst/>
          </a:prstGeom>
          <a:solidFill>
            <a:srgbClr val="D97706"/>
          </a:solidFill>
          <a:ln w="12700">
            <a:solidFill>
              <a:srgbClr val="D97706"/>
            </a:solidFill>
            <a:prstDash val="solid"/>
          </a:ln>
        </p:spPr>
        <p:txBody>
          <a:bodyPr/>
          <a:lstStyle/>
          <a:p>
            <a:endParaRPr lang="tr-TR"/>
          </a:p>
        </p:txBody>
      </p:sp>
      <p:sp>
        <p:nvSpPr>
          <p:cNvPr id="16" name="Text 14"/>
          <p:cNvSpPr/>
          <p:nvPr/>
        </p:nvSpPr>
        <p:spPr>
          <a:xfrm>
            <a:off x="1700784" y="3401568"/>
            <a:ext cx="457200" cy="182880"/>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10K</a:t>
            </a:r>
            <a:endParaRPr lang="en-US" sz="800" dirty="0"/>
          </a:p>
        </p:txBody>
      </p:sp>
      <p:sp>
        <p:nvSpPr>
          <p:cNvPr id="17" name="Shape 15"/>
          <p:cNvSpPr/>
          <p:nvPr/>
        </p:nvSpPr>
        <p:spPr>
          <a:xfrm>
            <a:off x="2267712" y="3157972"/>
            <a:ext cx="457200" cy="225308"/>
          </a:xfrm>
          <a:prstGeom prst="rect">
            <a:avLst/>
          </a:prstGeom>
          <a:solidFill>
            <a:srgbClr val="059669"/>
          </a:solidFill>
          <a:ln w="12700">
            <a:solidFill>
              <a:srgbClr val="059669"/>
            </a:solidFill>
            <a:prstDash val="solid"/>
          </a:ln>
        </p:spPr>
        <p:txBody>
          <a:bodyPr/>
          <a:lstStyle/>
          <a:p>
            <a:endParaRPr lang="tr-TR"/>
          </a:p>
        </p:txBody>
      </p:sp>
      <p:sp>
        <p:nvSpPr>
          <p:cNvPr id="18" name="Text 16"/>
          <p:cNvSpPr/>
          <p:nvPr/>
        </p:nvSpPr>
        <p:spPr>
          <a:xfrm>
            <a:off x="2267712" y="3401568"/>
            <a:ext cx="457200" cy="182880"/>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25K</a:t>
            </a:r>
            <a:endParaRPr lang="en-US" sz="800" dirty="0"/>
          </a:p>
        </p:txBody>
      </p:sp>
      <p:sp>
        <p:nvSpPr>
          <p:cNvPr id="19" name="Shape 17"/>
          <p:cNvSpPr/>
          <p:nvPr/>
        </p:nvSpPr>
        <p:spPr>
          <a:xfrm>
            <a:off x="2834640" y="3301350"/>
            <a:ext cx="457200" cy="81930"/>
          </a:xfrm>
          <a:prstGeom prst="rect">
            <a:avLst/>
          </a:prstGeom>
          <a:solidFill>
            <a:srgbClr val="0891B2"/>
          </a:solidFill>
          <a:ln w="12700">
            <a:solidFill>
              <a:srgbClr val="0891B2"/>
            </a:solidFill>
            <a:prstDash val="solid"/>
          </a:ln>
        </p:spPr>
        <p:txBody>
          <a:bodyPr/>
          <a:lstStyle/>
          <a:p>
            <a:endParaRPr lang="tr-TR"/>
          </a:p>
        </p:txBody>
      </p:sp>
      <p:sp>
        <p:nvSpPr>
          <p:cNvPr id="20" name="Text 18"/>
          <p:cNvSpPr/>
          <p:nvPr/>
        </p:nvSpPr>
        <p:spPr>
          <a:xfrm>
            <a:off x="2834640" y="3401568"/>
            <a:ext cx="457200" cy="182880"/>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100K</a:t>
            </a:r>
            <a:endParaRPr lang="en-US" sz="800" dirty="0"/>
          </a:p>
        </p:txBody>
      </p:sp>
      <p:sp>
        <p:nvSpPr>
          <p:cNvPr id="21" name="Shape 19"/>
          <p:cNvSpPr/>
          <p:nvPr/>
        </p:nvSpPr>
        <p:spPr>
          <a:xfrm>
            <a:off x="3401568" y="3342315"/>
            <a:ext cx="457200" cy="40965"/>
          </a:xfrm>
          <a:prstGeom prst="rect">
            <a:avLst/>
          </a:prstGeom>
          <a:solidFill>
            <a:srgbClr val="7C3AED"/>
          </a:solidFill>
          <a:ln w="12700">
            <a:solidFill>
              <a:srgbClr val="7C3AED"/>
            </a:solidFill>
            <a:prstDash val="solid"/>
          </a:ln>
        </p:spPr>
        <p:txBody>
          <a:bodyPr/>
          <a:lstStyle/>
          <a:p>
            <a:endParaRPr lang="tr-TR"/>
          </a:p>
        </p:txBody>
      </p:sp>
      <p:sp>
        <p:nvSpPr>
          <p:cNvPr id="22" name="Text 20"/>
          <p:cNvSpPr/>
          <p:nvPr/>
        </p:nvSpPr>
        <p:spPr>
          <a:xfrm>
            <a:off x="3401568" y="3401568"/>
            <a:ext cx="457200" cy="182880"/>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240K</a:t>
            </a:r>
            <a:endParaRPr lang="en-US" sz="800" dirty="0"/>
          </a:p>
        </p:txBody>
      </p:sp>
      <p:sp>
        <p:nvSpPr>
          <p:cNvPr id="23" name="Text 21"/>
          <p:cNvSpPr/>
          <p:nvPr/>
        </p:nvSpPr>
        <p:spPr>
          <a:xfrm>
            <a:off x="365760" y="2267712"/>
            <a:ext cx="594360" cy="256032"/>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Hata (%)</a:t>
            </a:r>
            <a:endParaRPr lang="en-US" sz="800" dirty="0"/>
          </a:p>
        </p:txBody>
      </p:sp>
      <p:sp>
        <p:nvSpPr>
          <p:cNvPr id="24" name="Text 22"/>
          <p:cNvSpPr/>
          <p:nvPr/>
        </p:nvSpPr>
        <p:spPr>
          <a:xfrm>
            <a:off x="749808" y="3566160"/>
            <a:ext cx="2377440" cy="182880"/>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Eğitim Örnekleri</a:t>
            </a:r>
            <a:endParaRPr lang="en-US" sz="800" dirty="0"/>
          </a:p>
        </p:txBody>
      </p:sp>
      <p:sp>
        <p:nvSpPr>
          <p:cNvPr id="25" name="Shape 23"/>
          <p:cNvSpPr/>
          <p:nvPr/>
        </p:nvSpPr>
        <p:spPr>
          <a:xfrm>
            <a:off x="4663440" y="1115568"/>
            <a:ext cx="4114800" cy="2359152"/>
          </a:xfrm>
          <a:prstGeom prst="rect">
            <a:avLst/>
          </a:prstGeom>
          <a:solidFill>
            <a:srgbClr val="F0FDF4"/>
          </a:solidFill>
          <a:ln w="12700">
            <a:solidFill>
              <a:srgbClr val="059669"/>
            </a:solidFill>
            <a:prstDash val="solid"/>
          </a:ln>
          <a:effectLst>
            <a:outerShdw blurRad="127000" dist="50800" dir="8100000" algn="bl" rotWithShape="0">
              <a:srgbClr val="000000">
                <a:alpha val="12000"/>
              </a:srgbClr>
            </a:outerShdw>
          </a:effectLst>
        </p:spPr>
        <p:txBody>
          <a:bodyPr/>
          <a:lstStyle/>
          <a:p>
            <a:endParaRPr lang="tr-TR"/>
          </a:p>
        </p:txBody>
      </p:sp>
      <p:sp>
        <p:nvSpPr>
          <p:cNvPr id="26" name="Text 24"/>
          <p:cNvSpPr/>
          <p:nvPr/>
        </p:nvSpPr>
        <p:spPr>
          <a:xfrm>
            <a:off x="4800600" y="1188720"/>
            <a:ext cx="384048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 Açıklanabilir Yapay Zeka (XAI)</a:t>
            </a:r>
            <a:endParaRPr lang="en-US" sz="1200" dirty="0"/>
          </a:p>
        </p:txBody>
      </p:sp>
      <p:sp>
        <p:nvSpPr>
          <p:cNvPr id="27" name="Text 25"/>
          <p:cNvSpPr/>
          <p:nvPr/>
        </p:nvSpPr>
        <p:spPr>
          <a:xfrm>
            <a:off x="4800600" y="1517904"/>
            <a:ext cx="3840480" cy="1901952"/>
          </a:xfrm>
          <a:prstGeom prst="rect">
            <a:avLst/>
          </a:prstGeom>
          <a:noFill/>
          <a:ln/>
        </p:spPr>
        <p:txBody>
          <a:bodyPr wrap="square" rtlCol="0" anchor="t"/>
          <a:lstStyle/>
          <a:p>
            <a:pPr marL="342900" indent="-342900">
              <a:spcAft>
                <a:spcPts val="500"/>
              </a:spcAft>
              <a:buSzPct val="100000"/>
              <a:buChar char="•"/>
            </a:pPr>
            <a:r>
              <a:rPr lang="en-US" sz="900" dirty="0">
                <a:solidFill>
                  <a:srgbClr val="334155"/>
                </a:solidFill>
                <a:latin typeface="Calibri" pitchFamily="34" charset="0"/>
                <a:ea typeface="Calibri" pitchFamily="34" charset="-122"/>
                <a:cs typeface="Calibri" pitchFamily="34" charset="-120"/>
              </a:rPr>
              <a:t>DÖ modelleri kara kutu tahmin araçlarıdır — açıklayıcı değil</a:t>
            </a:r>
            <a:endParaRPr lang="en-US" sz="900" dirty="0"/>
          </a:p>
          <a:p>
            <a:pPr marL="342900" indent="-342900">
              <a:spcAft>
                <a:spcPts val="500"/>
              </a:spcAft>
              <a:buSzPct val="100000"/>
              <a:buChar char="•"/>
            </a:pPr>
            <a:r>
              <a:rPr lang="en-US" sz="900" dirty="0">
                <a:solidFill>
                  <a:srgbClr val="334155"/>
                </a:solidFill>
                <a:latin typeface="Calibri" pitchFamily="34" charset="0"/>
                <a:ea typeface="Calibri" pitchFamily="34" charset="-122"/>
                <a:cs typeface="Calibri" pitchFamily="34" charset="-120"/>
              </a:rPr>
              <a:t>Klinik/tıbbi alanda yorumlanabilirlik etik ve yasal zorunluluk</a:t>
            </a:r>
            <a:endParaRPr lang="en-US" sz="900" dirty="0"/>
          </a:p>
          <a:p>
            <a:pPr marL="342900" indent="-342900">
              <a:spcAft>
                <a:spcPts val="500"/>
              </a:spcAft>
              <a:buSzPct val="100000"/>
              <a:buChar char="•"/>
            </a:pPr>
            <a:r>
              <a:rPr lang="en-US" sz="900" dirty="0">
                <a:solidFill>
                  <a:srgbClr val="334155"/>
                </a:solidFill>
                <a:latin typeface="Calibri" pitchFamily="34" charset="0"/>
                <a:ea typeface="Calibri" pitchFamily="34" charset="-122"/>
                <a:cs typeface="Calibri" pitchFamily="34" charset="-120"/>
              </a:rPr>
              <a:t>Grad-CAM: Hangi piksel kararı etkiledi? Isı haritası görselleştirme</a:t>
            </a:r>
            <a:endParaRPr lang="en-US" sz="900" dirty="0"/>
          </a:p>
          <a:p>
            <a:pPr marL="342900" indent="-342900">
              <a:spcAft>
                <a:spcPts val="500"/>
              </a:spcAft>
              <a:buSzPct val="100000"/>
              <a:buChar char="•"/>
            </a:pPr>
            <a:r>
              <a:rPr lang="en-US" sz="900" dirty="0">
                <a:solidFill>
                  <a:srgbClr val="334155"/>
                </a:solidFill>
                <a:latin typeface="Calibri" pitchFamily="34" charset="0"/>
                <a:ea typeface="Calibri" pitchFamily="34" charset="-122"/>
                <a:cs typeface="Calibri" pitchFamily="34" charset="-120"/>
              </a:rPr>
              <a:t>SHAP/LIME: Her özelliğin model kararına katkısını açıkla</a:t>
            </a:r>
            <a:endParaRPr lang="en-US" sz="900" dirty="0"/>
          </a:p>
          <a:p>
            <a:pPr marL="342900" indent="-342900">
              <a:spcAft>
                <a:spcPts val="500"/>
              </a:spcAft>
              <a:buSzPct val="100000"/>
              <a:buChar char="•"/>
            </a:pPr>
            <a:r>
              <a:rPr lang="en-US" sz="900" dirty="0">
                <a:solidFill>
                  <a:srgbClr val="334155"/>
                </a:solidFill>
                <a:latin typeface="Calibri" pitchFamily="34" charset="0"/>
                <a:ea typeface="Calibri" pitchFamily="34" charset="-122"/>
                <a:cs typeface="Calibri" pitchFamily="34" charset="-120"/>
              </a:rPr>
              <a:t>XAI alanı henüz gelişme aşamasında (Biran &amp; Cotton, 2017)</a:t>
            </a:r>
            <a:endParaRPr lang="en-US" sz="900" dirty="0"/>
          </a:p>
          <a:p>
            <a:pPr marL="342900" indent="-342900">
              <a:spcAft>
                <a:spcPts val="500"/>
              </a:spcAft>
              <a:buSzPct val="100000"/>
              <a:buChar char="•"/>
            </a:pPr>
            <a:r>
              <a:rPr lang="en-US" sz="900" dirty="0">
                <a:solidFill>
                  <a:srgbClr val="334155"/>
                </a:solidFill>
                <a:latin typeface="Calibri" pitchFamily="34" charset="0"/>
                <a:ea typeface="Calibri" pitchFamily="34" charset="-122"/>
                <a:cs typeface="Calibri" pitchFamily="34" charset="-120"/>
              </a:rPr>
              <a:t>Amaç: Anlaşılabilir model → güvenilir yapay zeka</a:t>
            </a:r>
            <a:endParaRPr lang="en-US" sz="900" dirty="0"/>
          </a:p>
        </p:txBody>
      </p:sp>
      <p:sp>
        <p:nvSpPr>
          <p:cNvPr id="28" name="Text 26"/>
          <p:cNvSpPr/>
          <p:nvPr/>
        </p:nvSpPr>
        <p:spPr>
          <a:xfrm>
            <a:off x="365760" y="3602736"/>
            <a:ext cx="841248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Temel Çıkarımlar</a:t>
            </a:r>
            <a:endParaRPr lang="en-US" sz="1200" dirty="0"/>
          </a:p>
        </p:txBody>
      </p:sp>
      <p:sp>
        <p:nvSpPr>
          <p:cNvPr id="29" name="Shape 27"/>
          <p:cNvSpPr/>
          <p:nvPr/>
        </p:nvSpPr>
        <p:spPr>
          <a:xfrm>
            <a:off x="365760" y="3931920"/>
            <a:ext cx="2011680" cy="1143000"/>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30" name="Shape 28"/>
          <p:cNvSpPr/>
          <p:nvPr/>
        </p:nvSpPr>
        <p:spPr>
          <a:xfrm>
            <a:off x="365760" y="3931920"/>
            <a:ext cx="64008" cy="1143000"/>
          </a:xfrm>
          <a:prstGeom prst="rect">
            <a:avLst/>
          </a:prstGeom>
          <a:solidFill>
            <a:srgbClr val="7C3AED"/>
          </a:solidFill>
          <a:ln w="12700">
            <a:solidFill>
              <a:srgbClr val="7C3AED"/>
            </a:solidFill>
            <a:prstDash val="solid"/>
          </a:ln>
        </p:spPr>
        <p:txBody>
          <a:bodyPr/>
          <a:lstStyle/>
          <a:p>
            <a:endParaRPr lang="tr-TR"/>
          </a:p>
        </p:txBody>
      </p:sp>
      <p:sp>
        <p:nvSpPr>
          <p:cNvPr id="31" name="Text 29"/>
          <p:cNvSpPr/>
          <p:nvPr/>
        </p:nvSpPr>
        <p:spPr>
          <a:xfrm>
            <a:off x="493776" y="4014216"/>
            <a:ext cx="1810512" cy="274320"/>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 Modüler Lego Yapısı</a:t>
            </a:r>
            <a:endParaRPr lang="en-US" sz="1100" dirty="0"/>
          </a:p>
        </p:txBody>
      </p:sp>
      <p:sp>
        <p:nvSpPr>
          <p:cNvPr id="32" name="Text 30"/>
          <p:cNvSpPr/>
          <p:nvPr/>
        </p:nvSpPr>
        <p:spPr>
          <a:xfrm>
            <a:off x="493776" y="4334256"/>
            <a:ext cx="1810512" cy="63093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D-FFNN, CNN, DBN, AE, LSTM blokları yeni özel mimariler için birleştirilebilir.</a:t>
            </a:r>
            <a:endParaRPr lang="en-US" sz="950" dirty="0"/>
          </a:p>
        </p:txBody>
      </p:sp>
      <p:sp>
        <p:nvSpPr>
          <p:cNvPr id="33" name="Shape 31"/>
          <p:cNvSpPr/>
          <p:nvPr/>
        </p:nvSpPr>
        <p:spPr>
          <a:xfrm>
            <a:off x="2542032" y="3931920"/>
            <a:ext cx="2011680" cy="1143000"/>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34" name="Shape 32"/>
          <p:cNvSpPr/>
          <p:nvPr/>
        </p:nvSpPr>
        <p:spPr>
          <a:xfrm>
            <a:off x="2542032" y="3931920"/>
            <a:ext cx="64008" cy="1143000"/>
          </a:xfrm>
          <a:prstGeom prst="rect">
            <a:avLst/>
          </a:prstGeom>
          <a:solidFill>
            <a:srgbClr val="0891B2"/>
          </a:solidFill>
          <a:ln w="12700">
            <a:solidFill>
              <a:srgbClr val="0891B2"/>
            </a:solidFill>
            <a:prstDash val="solid"/>
          </a:ln>
        </p:spPr>
        <p:txBody>
          <a:bodyPr/>
          <a:lstStyle/>
          <a:p>
            <a:endParaRPr lang="tr-TR"/>
          </a:p>
        </p:txBody>
      </p:sp>
      <p:sp>
        <p:nvSpPr>
          <p:cNvPr id="35" name="Text 33"/>
          <p:cNvSpPr/>
          <p:nvPr/>
        </p:nvSpPr>
        <p:spPr>
          <a:xfrm>
            <a:off x="2670048" y="4014216"/>
            <a:ext cx="1810512" cy="27432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 Temsil Öğrenimi</a:t>
            </a:r>
            <a:endParaRPr lang="en-US" sz="1100" dirty="0"/>
          </a:p>
        </p:txBody>
      </p:sp>
      <p:sp>
        <p:nvSpPr>
          <p:cNvPr id="36" name="Text 34"/>
          <p:cNvSpPr/>
          <p:nvPr/>
        </p:nvSpPr>
        <p:spPr>
          <a:xfrm>
            <a:off x="2670048" y="4334256"/>
            <a:ext cx="1810512" cy="63093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Tüm DÖ modelleri çok katmanlı doğrusal olmayan dönüşümlerle ham veriden özellik çıkarır.</a:t>
            </a:r>
            <a:endParaRPr lang="en-US" sz="950" dirty="0"/>
          </a:p>
        </p:txBody>
      </p:sp>
      <p:sp>
        <p:nvSpPr>
          <p:cNvPr id="37" name="Shape 35"/>
          <p:cNvSpPr/>
          <p:nvPr/>
        </p:nvSpPr>
        <p:spPr>
          <a:xfrm>
            <a:off x="4718304" y="3931920"/>
            <a:ext cx="2011680" cy="1143000"/>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38" name="Shape 36"/>
          <p:cNvSpPr/>
          <p:nvPr/>
        </p:nvSpPr>
        <p:spPr>
          <a:xfrm>
            <a:off x="4718304" y="3931920"/>
            <a:ext cx="64008" cy="1143000"/>
          </a:xfrm>
          <a:prstGeom prst="rect">
            <a:avLst/>
          </a:prstGeom>
          <a:solidFill>
            <a:srgbClr val="D97706"/>
          </a:solidFill>
          <a:ln w="12700">
            <a:solidFill>
              <a:srgbClr val="D97706"/>
            </a:solidFill>
            <a:prstDash val="solid"/>
          </a:ln>
        </p:spPr>
        <p:txBody>
          <a:bodyPr/>
          <a:lstStyle/>
          <a:p>
            <a:endParaRPr lang="tr-TR"/>
          </a:p>
        </p:txBody>
      </p:sp>
      <p:sp>
        <p:nvSpPr>
          <p:cNvPr id="39" name="Text 37"/>
          <p:cNvSpPr/>
          <p:nvPr/>
        </p:nvSpPr>
        <p:spPr>
          <a:xfrm>
            <a:off x="4846320" y="4014216"/>
            <a:ext cx="1810512" cy="274320"/>
          </a:xfrm>
          <a:prstGeom prst="rect">
            <a:avLst/>
          </a:prstGeom>
          <a:noFill/>
          <a:ln/>
        </p:spPr>
        <p:txBody>
          <a:bodyPr wrap="square" lIns="0" tIns="0" rIns="0" bIns="0" rtlCol="0" anchor="ctr"/>
          <a:lstStyle/>
          <a:p>
            <a:pPr marL="0" indent="0">
              <a:buNone/>
            </a:pPr>
            <a:r>
              <a:rPr lang="en-US" sz="1100" b="1" dirty="0">
                <a:solidFill>
                  <a:srgbClr val="D97706"/>
                </a:solidFill>
                <a:latin typeface="Calibri" pitchFamily="34" charset="0"/>
                <a:ea typeface="Calibri" pitchFamily="34" charset="-122"/>
                <a:cs typeface="Calibri" pitchFamily="34" charset="-120"/>
              </a:rPr>
              <a:t>⚠️ Veri &amp; Model Uyumu</a:t>
            </a:r>
            <a:endParaRPr lang="en-US" sz="1100" dirty="0"/>
          </a:p>
        </p:txBody>
      </p:sp>
      <p:sp>
        <p:nvSpPr>
          <p:cNvPr id="40" name="Text 38"/>
          <p:cNvSpPr/>
          <p:nvPr/>
        </p:nvSpPr>
        <p:spPr>
          <a:xfrm>
            <a:off x="4846320" y="4334256"/>
            <a:ext cx="1810512" cy="63093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Küçük veri + büyük model = aşırı uyum. Her problem için uygun model + yeterli veri şart.</a:t>
            </a:r>
            <a:endParaRPr lang="en-US" sz="950" dirty="0"/>
          </a:p>
        </p:txBody>
      </p:sp>
      <p:sp>
        <p:nvSpPr>
          <p:cNvPr id="41" name="Shape 39"/>
          <p:cNvSpPr/>
          <p:nvPr/>
        </p:nvSpPr>
        <p:spPr>
          <a:xfrm>
            <a:off x="6894576" y="3931920"/>
            <a:ext cx="2011680" cy="1143000"/>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2" name="Shape 40"/>
          <p:cNvSpPr/>
          <p:nvPr/>
        </p:nvSpPr>
        <p:spPr>
          <a:xfrm>
            <a:off x="6894576" y="3931920"/>
            <a:ext cx="64008" cy="1143000"/>
          </a:xfrm>
          <a:prstGeom prst="rect">
            <a:avLst/>
          </a:prstGeom>
          <a:solidFill>
            <a:srgbClr val="059669"/>
          </a:solidFill>
          <a:ln w="12700">
            <a:solidFill>
              <a:srgbClr val="059669"/>
            </a:solidFill>
            <a:prstDash val="solid"/>
          </a:ln>
        </p:spPr>
        <p:txBody>
          <a:bodyPr/>
          <a:lstStyle/>
          <a:p>
            <a:endParaRPr lang="tr-TR"/>
          </a:p>
        </p:txBody>
      </p:sp>
      <p:sp>
        <p:nvSpPr>
          <p:cNvPr id="43" name="Text 41"/>
          <p:cNvSpPr/>
          <p:nvPr/>
        </p:nvSpPr>
        <p:spPr>
          <a:xfrm>
            <a:off x="7022592" y="4014216"/>
            <a:ext cx="1810512" cy="274320"/>
          </a:xfrm>
          <a:prstGeom prst="rect">
            <a:avLst/>
          </a:prstGeom>
          <a:noFill/>
          <a:ln/>
        </p:spPr>
        <p:txBody>
          <a:bodyPr wrap="square" lIns="0" tIns="0" rIns="0" bIns="0"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 Bilimsel Titizlik</a:t>
            </a:r>
            <a:endParaRPr lang="en-US" sz="1100" dirty="0"/>
          </a:p>
        </p:txBody>
      </p:sp>
      <p:sp>
        <p:nvSpPr>
          <p:cNvPr id="44" name="Text 42"/>
          <p:cNvSpPr/>
          <p:nvPr/>
        </p:nvSpPr>
        <p:spPr>
          <a:xfrm>
            <a:off x="7022592" y="4334256"/>
            <a:ext cx="1810512" cy="63093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Uygulama alanları örtüşür; en iyi model ancak karşılaştırmalı çalışmayla belirlenir.</a:t>
            </a:r>
            <a:endParaRPr lang="en-US" sz="950" dirty="0"/>
          </a:p>
        </p:txBody>
      </p:sp>
      <p:sp>
        <p:nvSpPr>
          <p:cNvPr id="45" name="Text 43"/>
          <p:cNvSpPr/>
          <p:nvPr/>
        </p:nvSpPr>
        <p:spPr>
          <a:xfrm>
            <a:off x="365760" y="5120640"/>
            <a:ext cx="8412480" cy="18288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Kaynak: Emmert-Streib &amp; Dehmer (2019); Biran &amp; Cotton (2017) IJCAI XAI Workshop; Doshi-Velez &amp; Kim (2017)</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09 — D-FFNN</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Derin İleri Beslemeli Sinir Ağları (D-FFNN) — Derinliğin Gücü</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097280"/>
            <a:ext cx="8412480" cy="713232"/>
          </a:xfrm>
          <a:prstGeom prst="rect">
            <a:avLst/>
          </a:prstGeom>
          <a:solidFill>
            <a:srgbClr val="243B55"/>
          </a:solidFill>
          <a:ln w="12700">
            <a:solidFill>
              <a:srgbClr val="84CC16"/>
            </a:solidFill>
            <a:prstDash val="solid"/>
          </a:ln>
        </p:spPr>
        <p:txBody>
          <a:bodyPr/>
          <a:lstStyle/>
          <a:p>
            <a:endParaRPr lang="tr-TR"/>
          </a:p>
        </p:txBody>
      </p:sp>
      <p:sp>
        <p:nvSpPr>
          <p:cNvPr id="7" name="Text 5"/>
          <p:cNvSpPr/>
          <p:nvPr/>
        </p:nvSpPr>
        <p:spPr>
          <a:xfrm>
            <a:off x="502920" y="1152144"/>
            <a:ext cx="4572000" cy="256032"/>
          </a:xfrm>
          <a:prstGeom prst="rect">
            <a:avLst/>
          </a:prstGeom>
          <a:noFill/>
          <a:ln/>
        </p:spPr>
        <p:txBody>
          <a:bodyPr wrap="square" lIns="0" tIns="0" rIns="0" bIns="0" rtlCol="0" anchor="ctr"/>
          <a:lstStyle/>
          <a:p>
            <a:pPr marL="0" indent="0">
              <a:buNone/>
            </a:pPr>
            <a:r>
              <a:rPr lang="en-US" sz="1100" b="1" dirty="0">
                <a:solidFill>
                  <a:srgbClr val="84CC16"/>
                </a:solidFill>
                <a:latin typeface="Calibri" pitchFamily="34" charset="0"/>
                <a:ea typeface="Calibri" pitchFamily="34" charset="-122"/>
                <a:cs typeface="Calibri" pitchFamily="34" charset="-120"/>
              </a:rPr>
              <a:t>📐 Evrensel Yaklaşım Teoremi (Hornik, 1991; Cybenko, 1989):</a:t>
            </a:r>
            <a:endParaRPr lang="en-US" sz="1100" dirty="0"/>
          </a:p>
        </p:txBody>
      </p:sp>
      <p:sp>
        <p:nvSpPr>
          <p:cNvPr id="8" name="Text 6"/>
          <p:cNvSpPr/>
          <p:nvPr/>
        </p:nvSpPr>
        <p:spPr>
          <a:xfrm>
            <a:off x="502920" y="1417320"/>
            <a:ext cx="8092440" cy="347472"/>
          </a:xfrm>
          <a:prstGeom prst="rect">
            <a:avLst/>
          </a:prstGeom>
          <a:noFill/>
          <a:ln/>
        </p:spPr>
        <p:txBody>
          <a:bodyPr wrap="square" lIns="0" tIns="0" rIns="0" bIns="0" rtlCol="0" anchor="ctr"/>
          <a:lstStyle/>
          <a:p>
            <a:pPr marL="0" indent="0">
              <a:buNone/>
            </a:pPr>
            <a:r>
              <a:rPr lang="en-US" sz="950" i="1" dirty="0">
                <a:solidFill>
                  <a:srgbClr val="F1F5F9"/>
                </a:solidFill>
                <a:latin typeface="Calibri" pitchFamily="34" charset="0"/>
                <a:ea typeface="Calibri" pitchFamily="34" charset="-122"/>
                <a:cs typeface="Calibri" pitchFamily="34" charset="-120"/>
              </a:rPr>
              <a:t>Tek gizli katmanlı ve sonlu sayıda nörona sahip bir FFNN, Rⁿ üzerindeki herhangi bir kompakt kümede herhangi bir sürekli fonksiyonu istenen hassaslıkta yaklaşımlayabilir. Ancak bu, gerekli nöron sayısının pratik olmayabileceği anlamına gelir — derin ağlar daha verimli.</a:t>
            </a:r>
            <a:endParaRPr lang="en-US" sz="950" dirty="0"/>
          </a:p>
        </p:txBody>
      </p:sp>
      <p:sp>
        <p:nvSpPr>
          <p:cNvPr id="9" name="Text 7"/>
          <p:cNvSpPr/>
          <p:nvPr/>
        </p:nvSpPr>
        <p:spPr>
          <a:xfrm>
            <a:off x="365760" y="1920240"/>
            <a:ext cx="3200400" cy="256032"/>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Sığ Ağ — Depth=2</a:t>
            </a:r>
            <a:endParaRPr lang="en-US" sz="1100" dirty="0"/>
          </a:p>
        </p:txBody>
      </p:sp>
      <p:sp>
        <p:nvSpPr>
          <p:cNvPr id="10" name="Text 8"/>
          <p:cNvSpPr/>
          <p:nvPr/>
        </p:nvSpPr>
        <p:spPr>
          <a:xfrm>
            <a:off x="3611880" y="1920240"/>
            <a:ext cx="5029200" cy="256032"/>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Derin Ağ — D-FFNN (Depth=4)</a:t>
            </a:r>
            <a:endParaRPr lang="en-US" sz="1100" dirty="0"/>
          </a:p>
        </p:txBody>
      </p:sp>
      <p:sp>
        <p:nvSpPr>
          <p:cNvPr id="11" name="Shape 9"/>
          <p:cNvSpPr/>
          <p:nvPr/>
        </p:nvSpPr>
        <p:spPr>
          <a:xfrm>
            <a:off x="475488" y="2587752"/>
            <a:ext cx="292608" cy="292608"/>
          </a:xfrm>
          <a:prstGeom prst="ellipse">
            <a:avLst/>
          </a:prstGeom>
          <a:solidFill>
            <a:srgbClr val="7C3AED"/>
          </a:solidFill>
          <a:ln w="12700">
            <a:solidFill>
              <a:srgbClr val="FFFFFF"/>
            </a:solidFill>
            <a:prstDash val="solid"/>
          </a:ln>
        </p:spPr>
        <p:txBody>
          <a:bodyPr/>
          <a:lstStyle/>
          <a:p>
            <a:endParaRPr lang="tr-TR"/>
          </a:p>
        </p:txBody>
      </p:sp>
      <p:sp>
        <p:nvSpPr>
          <p:cNvPr id="12" name="Shape 10"/>
          <p:cNvSpPr/>
          <p:nvPr/>
        </p:nvSpPr>
        <p:spPr>
          <a:xfrm>
            <a:off x="475488" y="3008376"/>
            <a:ext cx="292608" cy="292608"/>
          </a:xfrm>
          <a:prstGeom prst="ellipse">
            <a:avLst/>
          </a:prstGeom>
          <a:solidFill>
            <a:srgbClr val="7C3AED"/>
          </a:solidFill>
          <a:ln w="12700">
            <a:solidFill>
              <a:srgbClr val="FFFFFF"/>
            </a:solidFill>
            <a:prstDash val="solid"/>
          </a:ln>
        </p:spPr>
        <p:txBody>
          <a:bodyPr/>
          <a:lstStyle/>
          <a:p>
            <a:endParaRPr lang="tr-TR"/>
          </a:p>
        </p:txBody>
      </p:sp>
      <p:sp>
        <p:nvSpPr>
          <p:cNvPr id="13" name="Shape 11"/>
          <p:cNvSpPr/>
          <p:nvPr/>
        </p:nvSpPr>
        <p:spPr>
          <a:xfrm>
            <a:off x="475488" y="3429000"/>
            <a:ext cx="292608" cy="292608"/>
          </a:xfrm>
          <a:prstGeom prst="ellipse">
            <a:avLst/>
          </a:prstGeom>
          <a:solidFill>
            <a:srgbClr val="7C3AED"/>
          </a:solidFill>
          <a:ln w="12700">
            <a:solidFill>
              <a:srgbClr val="FFFFFF"/>
            </a:solidFill>
            <a:prstDash val="solid"/>
          </a:ln>
        </p:spPr>
        <p:txBody>
          <a:bodyPr/>
          <a:lstStyle/>
          <a:p>
            <a:endParaRPr lang="tr-TR"/>
          </a:p>
        </p:txBody>
      </p:sp>
      <p:sp>
        <p:nvSpPr>
          <p:cNvPr id="14" name="Text 12"/>
          <p:cNvSpPr/>
          <p:nvPr/>
        </p:nvSpPr>
        <p:spPr>
          <a:xfrm>
            <a:off x="429768" y="4178808"/>
            <a:ext cx="384048" cy="237744"/>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Giriş</a:t>
            </a:r>
            <a:endParaRPr lang="en-US" sz="750" dirty="0"/>
          </a:p>
        </p:txBody>
      </p:sp>
      <p:sp>
        <p:nvSpPr>
          <p:cNvPr id="15" name="Shape 13"/>
          <p:cNvSpPr/>
          <p:nvPr/>
        </p:nvSpPr>
        <p:spPr>
          <a:xfrm>
            <a:off x="1188720" y="2167128"/>
            <a:ext cx="292608" cy="292608"/>
          </a:xfrm>
          <a:prstGeom prst="ellipse">
            <a:avLst/>
          </a:prstGeom>
          <a:solidFill>
            <a:srgbClr val="0891B2"/>
          </a:solidFill>
          <a:ln w="12700">
            <a:solidFill>
              <a:srgbClr val="FFFFFF"/>
            </a:solidFill>
            <a:prstDash val="solid"/>
          </a:ln>
        </p:spPr>
        <p:txBody>
          <a:bodyPr/>
          <a:lstStyle/>
          <a:p>
            <a:endParaRPr lang="tr-TR"/>
          </a:p>
        </p:txBody>
      </p:sp>
      <p:sp>
        <p:nvSpPr>
          <p:cNvPr id="16" name="Shape 14"/>
          <p:cNvSpPr/>
          <p:nvPr/>
        </p:nvSpPr>
        <p:spPr>
          <a:xfrm>
            <a:off x="1188720" y="2587752"/>
            <a:ext cx="292608" cy="292608"/>
          </a:xfrm>
          <a:prstGeom prst="ellipse">
            <a:avLst/>
          </a:prstGeom>
          <a:solidFill>
            <a:srgbClr val="0891B2"/>
          </a:solidFill>
          <a:ln w="12700">
            <a:solidFill>
              <a:srgbClr val="FFFFFF"/>
            </a:solidFill>
            <a:prstDash val="solid"/>
          </a:ln>
        </p:spPr>
        <p:txBody>
          <a:bodyPr/>
          <a:lstStyle/>
          <a:p>
            <a:endParaRPr lang="tr-TR"/>
          </a:p>
        </p:txBody>
      </p:sp>
      <p:sp>
        <p:nvSpPr>
          <p:cNvPr id="17" name="Shape 15"/>
          <p:cNvSpPr/>
          <p:nvPr/>
        </p:nvSpPr>
        <p:spPr>
          <a:xfrm>
            <a:off x="1188720" y="3008376"/>
            <a:ext cx="292608" cy="292608"/>
          </a:xfrm>
          <a:prstGeom prst="ellipse">
            <a:avLst/>
          </a:prstGeom>
          <a:solidFill>
            <a:srgbClr val="0891B2"/>
          </a:solidFill>
          <a:ln w="12700">
            <a:solidFill>
              <a:srgbClr val="FFFFFF"/>
            </a:solidFill>
            <a:prstDash val="solid"/>
          </a:ln>
        </p:spPr>
        <p:txBody>
          <a:bodyPr/>
          <a:lstStyle/>
          <a:p>
            <a:endParaRPr lang="tr-TR"/>
          </a:p>
        </p:txBody>
      </p:sp>
      <p:sp>
        <p:nvSpPr>
          <p:cNvPr id="18" name="Shape 16"/>
          <p:cNvSpPr/>
          <p:nvPr/>
        </p:nvSpPr>
        <p:spPr>
          <a:xfrm>
            <a:off x="1188720" y="3429000"/>
            <a:ext cx="292608" cy="292608"/>
          </a:xfrm>
          <a:prstGeom prst="ellipse">
            <a:avLst/>
          </a:prstGeom>
          <a:solidFill>
            <a:srgbClr val="0891B2"/>
          </a:solidFill>
          <a:ln w="12700">
            <a:solidFill>
              <a:srgbClr val="FFFFFF"/>
            </a:solidFill>
            <a:prstDash val="solid"/>
          </a:ln>
        </p:spPr>
        <p:txBody>
          <a:bodyPr/>
          <a:lstStyle/>
          <a:p>
            <a:endParaRPr lang="tr-TR"/>
          </a:p>
        </p:txBody>
      </p:sp>
      <p:sp>
        <p:nvSpPr>
          <p:cNvPr id="19" name="Shape 17"/>
          <p:cNvSpPr/>
          <p:nvPr/>
        </p:nvSpPr>
        <p:spPr>
          <a:xfrm>
            <a:off x="1188720" y="3849624"/>
            <a:ext cx="292608" cy="292608"/>
          </a:xfrm>
          <a:prstGeom prst="ellipse">
            <a:avLst/>
          </a:prstGeom>
          <a:solidFill>
            <a:srgbClr val="0891B2"/>
          </a:solidFill>
          <a:ln w="12700">
            <a:solidFill>
              <a:srgbClr val="FFFFFF"/>
            </a:solidFill>
            <a:prstDash val="solid"/>
          </a:ln>
        </p:spPr>
        <p:txBody>
          <a:bodyPr/>
          <a:lstStyle/>
          <a:p>
            <a:endParaRPr lang="tr-TR"/>
          </a:p>
        </p:txBody>
      </p:sp>
      <p:sp>
        <p:nvSpPr>
          <p:cNvPr id="20" name="Text 18"/>
          <p:cNvSpPr/>
          <p:nvPr/>
        </p:nvSpPr>
        <p:spPr>
          <a:xfrm>
            <a:off x="1143000" y="4178808"/>
            <a:ext cx="384048" cy="237744"/>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Gizli</a:t>
            </a:r>
            <a:endParaRPr lang="en-US" sz="750" dirty="0"/>
          </a:p>
        </p:txBody>
      </p:sp>
      <p:sp>
        <p:nvSpPr>
          <p:cNvPr id="21" name="Shape 19"/>
          <p:cNvSpPr/>
          <p:nvPr/>
        </p:nvSpPr>
        <p:spPr>
          <a:xfrm>
            <a:off x="1901952" y="2798064"/>
            <a:ext cx="292608" cy="292608"/>
          </a:xfrm>
          <a:prstGeom prst="ellipse">
            <a:avLst/>
          </a:prstGeom>
          <a:solidFill>
            <a:srgbClr val="059669"/>
          </a:solidFill>
          <a:ln w="12700">
            <a:solidFill>
              <a:srgbClr val="FFFFFF"/>
            </a:solidFill>
            <a:prstDash val="solid"/>
          </a:ln>
        </p:spPr>
        <p:txBody>
          <a:bodyPr/>
          <a:lstStyle/>
          <a:p>
            <a:endParaRPr lang="tr-TR"/>
          </a:p>
        </p:txBody>
      </p:sp>
      <p:sp>
        <p:nvSpPr>
          <p:cNvPr id="22" name="Shape 20"/>
          <p:cNvSpPr/>
          <p:nvPr/>
        </p:nvSpPr>
        <p:spPr>
          <a:xfrm>
            <a:off x="1901952" y="3218688"/>
            <a:ext cx="292608" cy="292608"/>
          </a:xfrm>
          <a:prstGeom prst="ellipse">
            <a:avLst/>
          </a:prstGeom>
          <a:solidFill>
            <a:srgbClr val="059669"/>
          </a:solidFill>
          <a:ln w="12700">
            <a:solidFill>
              <a:srgbClr val="FFFFFF"/>
            </a:solidFill>
            <a:prstDash val="solid"/>
          </a:ln>
        </p:spPr>
        <p:txBody>
          <a:bodyPr/>
          <a:lstStyle/>
          <a:p>
            <a:endParaRPr lang="tr-TR"/>
          </a:p>
        </p:txBody>
      </p:sp>
      <p:sp>
        <p:nvSpPr>
          <p:cNvPr id="23" name="Text 21"/>
          <p:cNvSpPr/>
          <p:nvPr/>
        </p:nvSpPr>
        <p:spPr>
          <a:xfrm>
            <a:off x="1856232" y="4178808"/>
            <a:ext cx="384048" cy="237744"/>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Çıkış</a:t>
            </a:r>
            <a:endParaRPr lang="en-US" sz="750" dirty="0"/>
          </a:p>
        </p:txBody>
      </p:sp>
      <p:sp>
        <p:nvSpPr>
          <p:cNvPr id="24" name="Shape 22"/>
          <p:cNvSpPr/>
          <p:nvPr/>
        </p:nvSpPr>
        <p:spPr>
          <a:xfrm>
            <a:off x="786384" y="3182112"/>
            <a:ext cx="402336" cy="36576"/>
          </a:xfrm>
          <a:prstGeom prst="rect">
            <a:avLst/>
          </a:prstGeom>
          <a:solidFill>
            <a:srgbClr val="64748B"/>
          </a:solidFill>
          <a:ln w="12700">
            <a:solidFill>
              <a:srgbClr val="64748B"/>
            </a:solidFill>
            <a:prstDash val="solid"/>
          </a:ln>
        </p:spPr>
        <p:txBody>
          <a:bodyPr/>
          <a:lstStyle/>
          <a:p>
            <a:endParaRPr lang="tr-TR"/>
          </a:p>
        </p:txBody>
      </p:sp>
      <p:sp>
        <p:nvSpPr>
          <p:cNvPr id="25" name="Shape 23"/>
          <p:cNvSpPr/>
          <p:nvPr/>
        </p:nvSpPr>
        <p:spPr>
          <a:xfrm>
            <a:off x="1499616" y="3182112"/>
            <a:ext cx="402336" cy="36576"/>
          </a:xfrm>
          <a:prstGeom prst="rect">
            <a:avLst/>
          </a:prstGeom>
          <a:solidFill>
            <a:srgbClr val="64748B"/>
          </a:solidFill>
          <a:ln w="12700">
            <a:solidFill>
              <a:srgbClr val="64748B"/>
            </a:solidFill>
            <a:prstDash val="solid"/>
          </a:ln>
        </p:spPr>
        <p:txBody>
          <a:bodyPr/>
          <a:lstStyle/>
          <a:p>
            <a:endParaRPr lang="tr-TR"/>
          </a:p>
        </p:txBody>
      </p:sp>
      <p:sp>
        <p:nvSpPr>
          <p:cNvPr id="26" name="Shape 24"/>
          <p:cNvSpPr/>
          <p:nvPr/>
        </p:nvSpPr>
        <p:spPr>
          <a:xfrm>
            <a:off x="3749040" y="2587752"/>
            <a:ext cx="292608" cy="292608"/>
          </a:xfrm>
          <a:prstGeom prst="ellipse">
            <a:avLst/>
          </a:prstGeom>
          <a:solidFill>
            <a:srgbClr val="7C3AED"/>
          </a:solidFill>
          <a:ln w="12700">
            <a:solidFill>
              <a:srgbClr val="FFFFFF"/>
            </a:solidFill>
            <a:prstDash val="solid"/>
          </a:ln>
        </p:spPr>
        <p:txBody>
          <a:bodyPr/>
          <a:lstStyle/>
          <a:p>
            <a:endParaRPr lang="tr-TR"/>
          </a:p>
        </p:txBody>
      </p:sp>
      <p:sp>
        <p:nvSpPr>
          <p:cNvPr id="27" name="Shape 25"/>
          <p:cNvSpPr/>
          <p:nvPr/>
        </p:nvSpPr>
        <p:spPr>
          <a:xfrm>
            <a:off x="3749040" y="3008376"/>
            <a:ext cx="292608" cy="292608"/>
          </a:xfrm>
          <a:prstGeom prst="ellipse">
            <a:avLst/>
          </a:prstGeom>
          <a:solidFill>
            <a:srgbClr val="7C3AED"/>
          </a:solidFill>
          <a:ln w="12700">
            <a:solidFill>
              <a:srgbClr val="FFFFFF"/>
            </a:solidFill>
            <a:prstDash val="solid"/>
          </a:ln>
        </p:spPr>
        <p:txBody>
          <a:bodyPr/>
          <a:lstStyle/>
          <a:p>
            <a:endParaRPr lang="tr-TR"/>
          </a:p>
        </p:txBody>
      </p:sp>
      <p:sp>
        <p:nvSpPr>
          <p:cNvPr id="28" name="Shape 26"/>
          <p:cNvSpPr/>
          <p:nvPr/>
        </p:nvSpPr>
        <p:spPr>
          <a:xfrm>
            <a:off x="3749040" y="3429000"/>
            <a:ext cx="292608" cy="292608"/>
          </a:xfrm>
          <a:prstGeom prst="ellipse">
            <a:avLst/>
          </a:prstGeom>
          <a:solidFill>
            <a:srgbClr val="7C3AED"/>
          </a:solidFill>
          <a:ln w="12700">
            <a:solidFill>
              <a:srgbClr val="FFFFFF"/>
            </a:solidFill>
            <a:prstDash val="solid"/>
          </a:ln>
        </p:spPr>
        <p:txBody>
          <a:bodyPr/>
          <a:lstStyle/>
          <a:p>
            <a:endParaRPr lang="tr-TR"/>
          </a:p>
        </p:txBody>
      </p:sp>
      <p:sp>
        <p:nvSpPr>
          <p:cNvPr id="29" name="Text 27"/>
          <p:cNvSpPr/>
          <p:nvPr/>
        </p:nvSpPr>
        <p:spPr>
          <a:xfrm>
            <a:off x="3703320" y="4178808"/>
            <a:ext cx="384048" cy="237744"/>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Giriş</a:t>
            </a:r>
            <a:endParaRPr lang="en-US" sz="750" dirty="0"/>
          </a:p>
        </p:txBody>
      </p:sp>
      <p:sp>
        <p:nvSpPr>
          <p:cNvPr id="30" name="Shape 28"/>
          <p:cNvSpPr/>
          <p:nvPr/>
        </p:nvSpPr>
        <p:spPr>
          <a:xfrm>
            <a:off x="4059936" y="3182112"/>
            <a:ext cx="457200" cy="36576"/>
          </a:xfrm>
          <a:prstGeom prst="rect">
            <a:avLst/>
          </a:prstGeom>
          <a:solidFill>
            <a:srgbClr val="64748B"/>
          </a:solidFill>
          <a:ln w="12700">
            <a:solidFill>
              <a:srgbClr val="64748B"/>
            </a:solidFill>
            <a:prstDash val="solid"/>
          </a:ln>
        </p:spPr>
        <p:txBody>
          <a:bodyPr/>
          <a:lstStyle/>
          <a:p>
            <a:endParaRPr lang="tr-TR"/>
          </a:p>
        </p:txBody>
      </p:sp>
      <p:sp>
        <p:nvSpPr>
          <p:cNvPr id="31" name="Shape 29"/>
          <p:cNvSpPr/>
          <p:nvPr/>
        </p:nvSpPr>
        <p:spPr>
          <a:xfrm>
            <a:off x="4617720" y="1956816"/>
            <a:ext cx="292608" cy="292608"/>
          </a:xfrm>
          <a:prstGeom prst="ellipse">
            <a:avLst/>
          </a:prstGeom>
          <a:solidFill>
            <a:srgbClr val="0891B2"/>
          </a:solidFill>
          <a:ln w="12700">
            <a:solidFill>
              <a:srgbClr val="FFFFFF"/>
            </a:solidFill>
            <a:prstDash val="solid"/>
          </a:ln>
        </p:spPr>
        <p:txBody>
          <a:bodyPr/>
          <a:lstStyle/>
          <a:p>
            <a:endParaRPr lang="tr-TR"/>
          </a:p>
        </p:txBody>
      </p:sp>
      <p:sp>
        <p:nvSpPr>
          <p:cNvPr id="32" name="Shape 30"/>
          <p:cNvSpPr/>
          <p:nvPr/>
        </p:nvSpPr>
        <p:spPr>
          <a:xfrm>
            <a:off x="4617720" y="2377440"/>
            <a:ext cx="292608" cy="292608"/>
          </a:xfrm>
          <a:prstGeom prst="ellipse">
            <a:avLst/>
          </a:prstGeom>
          <a:solidFill>
            <a:srgbClr val="0891B2"/>
          </a:solidFill>
          <a:ln w="12700">
            <a:solidFill>
              <a:srgbClr val="FFFFFF"/>
            </a:solidFill>
            <a:prstDash val="solid"/>
          </a:ln>
        </p:spPr>
        <p:txBody>
          <a:bodyPr/>
          <a:lstStyle/>
          <a:p>
            <a:endParaRPr lang="tr-TR"/>
          </a:p>
        </p:txBody>
      </p:sp>
      <p:sp>
        <p:nvSpPr>
          <p:cNvPr id="33" name="Shape 31"/>
          <p:cNvSpPr/>
          <p:nvPr/>
        </p:nvSpPr>
        <p:spPr>
          <a:xfrm>
            <a:off x="4617720" y="2798064"/>
            <a:ext cx="292608" cy="292608"/>
          </a:xfrm>
          <a:prstGeom prst="ellipse">
            <a:avLst/>
          </a:prstGeom>
          <a:solidFill>
            <a:srgbClr val="0891B2"/>
          </a:solidFill>
          <a:ln w="12700">
            <a:solidFill>
              <a:srgbClr val="FFFFFF"/>
            </a:solidFill>
            <a:prstDash val="solid"/>
          </a:ln>
        </p:spPr>
        <p:txBody>
          <a:bodyPr/>
          <a:lstStyle/>
          <a:p>
            <a:endParaRPr lang="tr-TR"/>
          </a:p>
        </p:txBody>
      </p:sp>
      <p:sp>
        <p:nvSpPr>
          <p:cNvPr id="34" name="Shape 32"/>
          <p:cNvSpPr/>
          <p:nvPr/>
        </p:nvSpPr>
        <p:spPr>
          <a:xfrm>
            <a:off x="4617720" y="3218688"/>
            <a:ext cx="292608" cy="292608"/>
          </a:xfrm>
          <a:prstGeom prst="ellipse">
            <a:avLst/>
          </a:prstGeom>
          <a:solidFill>
            <a:srgbClr val="0891B2"/>
          </a:solidFill>
          <a:ln w="12700">
            <a:solidFill>
              <a:srgbClr val="FFFFFF"/>
            </a:solidFill>
            <a:prstDash val="solid"/>
          </a:ln>
        </p:spPr>
        <p:txBody>
          <a:bodyPr/>
          <a:lstStyle/>
          <a:p>
            <a:endParaRPr lang="tr-TR"/>
          </a:p>
        </p:txBody>
      </p:sp>
      <p:sp>
        <p:nvSpPr>
          <p:cNvPr id="35" name="Shape 33"/>
          <p:cNvSpPr/>
          <p:nvPr/>
        </p:nvSpPr>
        <p:spPr>
          <a:xfrm>
            <a:off x="4617720" y="3639312"/>
            <a:ext cx="292608" cy="292608"/>
          </a:xfrm>
          <a:prstGeom prst="ellipse">
            <a:avLst/>
          </a:prstGeom>
          <a:solidFill>
            <a:srgbClr val="0891B2"/>
          </a:solidFill>
          <a:ln w="12700">
            <a:solidFill>
              <a:srgbClr val="FFFFFF"/>
            </a:solidFill>
            <a:prstDash val="solid"/>
          </a:ln>
        </p:spPr>
        <p:txBody>
          <a:bodyPr/>
          <a:lstStyle/>
          <a:p>
            <a:endParaRPr lang="tr-TR"/>
          </a:p>
        </p:txBody>
      </p:sp>
      <p:sp>
        <p:nvSpPr>
          <p:cNvPr id="36" name="Shape 34"/>
          <p:cNvSpPr/>
          <p:nvPr/>
        </p:nvSpPr>
        <p:spPr>
          <a:xfrm>
            <a:off x="4617720" y="4059936"/>
            <a:ext cx="292608" cy="292608"/>
          </a:xfrm>
          <a:prstGeom prst="ellipse">
            <a:avLst/>
          </a:prstGeom>
          <a:solidFill>
            <a:srgbClr val="0891B2"/>
          </a:solidFill>
          <a:ln w="12700">
            <a:solidFill>
              <a:srgbClr val="FFFFFF"/>
            </a:solidFill>
            <a:prstDash val="solid"/>
          </a:ln>
        </p:spPr>
        <p:txBody>
          <a:bodyPr/>
          <a:lstStyle/>
          <a:p>
            <a:endParaRPr lang="tr-TR"/>
          </a:p>
        </p:txBody>
      </p:sp>
      <p:sp>
        <p:nvSpPr>
          <p:cNvPr id="37" name="Text 35"/>
          <p:cNvSpPr/>
          <p:nvPr/>
        </p:nvSpPr>
        <p:spPr>
          <a:xfrm>
            <a:off x="4572000" y="4178808"/>
            <a:ext cx="384048" cy="237744"/>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Gizli 1</a:t>
            </a:r>
            <a:endParaRPr lang="en-US" sz="750" dirty="0"/>
          </a:p>
        </p:txBody>
      </p:sp>
      <p:sp>
        <p:nvSpPr>
          <p:cNvPr id="38" name="Shape 36"/>
          <p:cNvSpPr/>
          <p:nvPr/>
        </p:nvSpPr>
        <p:spPr>
          <a:xfrm>
            <a:off x="4928616" y="3182112"/>
            <a:ext cx="457200" cy="36576"/>
          </a:xfrm>
          <a:prstGeom prst="rect">
            <a:avLst/>
          </a:prstGeom>
          <a:solidFill>
            <a:srgbClr val="64748B"/>
          </a:solidFill>
          <a:ln w="12700">
            <a:solidFill>
              <a:srgbClr val="64748B"/>
            </a:solidFill>
            <a:prstDash val="solid"/>
          </a:ln>
        </p:spPr>
        <p:txBody>
          <a:bodyPr/>
          <a:lstStyle/>
          <a:p>
            <a:endParaRPr lang="tr-TR"/>
          </a:p>
        </p:txBody>
      </p:sp>
      <p:sp>
        <p:nvSpPr>
          <p:cNvPr id="39" name="Shape 37"/>
          <p:cNvSpPr/>
          <p:nvPr/>
        </p:nvSpPr>
        <p:spPr>
          <a:xfrm>
            <a:off x="5486400" y="1956816"/>
            <a:ext cx="292608" cy="292608"/>
          </a:xfrm>
          <a:prstGeom prst="ellipse">
            <a:avLst/>
          </a:prstGeom>
          <a:solidFill>
            <a:srgbClr val="0891B2"/>
          </a:solidFill>
          <a:ln w="12700">
            <a:solidFill>
              <a:srgbClr val="FFFFFF"/>
            </a:solidFill>
            <a:prstDash val="solid"/>
          </a:ln>
        </p:spPr>
        <p:txBody>
          <a:bodyPr/>
          <a:lstStyle/>
          <a:p>
            <a:endParaRPr lang="tr-TR"/>
          </a:p>
        </p:txBody>
      </p:sp>
      <p:sp>
        <p:nvSpPr>
          <p:cNvPr id="40" name="Shape 38"/>
          <p:cNvSpPr/>
          <p:nvPr/>
        </p:nvSpPr>
        <p:spPr>
          <a:xfrm>
            <a:off x="5486400" y="2377440"/>
            <a:ext cx="292608" cy="292608"/>
          </a:xfrm>
          <a:prstGeom prst="ellipse">
            <a:avLst/>
          </a:prstGeom>
          <a:solidFill>
            <a:srgbClr val="0891B2"/>
          </a:solidFill>
          <a:ln w="12700">
            <a:solidFill>
              <a:srgbClr val="FFFFFF"/>
            </a:solidFill>
            <a:prstDash val="solid"/>
          </a:ln>
        </p:spPr>
        <p:txBody>
          <a:bodyPr/>
          <a:lstStyle/>
          <a:p>
            <a:endParaRPr lang="tr-TR"/>
          </a:p>
        </p:txBody>
      </p:sp>
      <p:sp>
        <p:nvSpPr>
          <p:cNvPr id="41" name="Shape 39"/>
          <p:cNvSpPr/>
          <p:nvPr/>
        </p:nvSpPr>
        <p:spPr>
          <a:xfrm>
            <a:off x="5486400" y="2798064"/>
            <a:ext cx="292608" cy="292608"/>
          </a:xfrm>
          <a:prstGeom prst="ellipse">
            <a:avLst/>
          </a:prstGeom>
          <a:solidFill>
            <a:srgbClr val="0891B2"/>
          </a:solidFill>
          <a:ln w="12700">
            <a:solidFill>
              <a:srgbClr val="FFFFFF"/>
            </a:solidFill>
            <a:prstDash val="solid"/>
          </a:ln>
        </p:spPr>
        <p:txBody>
          <a:bodyPr/>
          <a:lstStyle/>
          <a:p>
            <a:endParaRPr lang="tr-TR"/>
          </a:p>
        </p:txBody>
      </p:sp>
      <p:sp>
        <p:nvSpPr>
          <p:cNvPr id="42" name="Shape 40"/>
          <p:cNvSpPr/>
          <p:nvPr/>
        </p:nvSpPr>
        <p:spPr>
          <a:xfrm>
            <a:off x="5486400" y="3218688"/>
            <a:ext cx="292608" cy="292608"/>
          </a:xfrm>
          <a:prstGeom prst="ellipse">
            <a:avLst/>
          </a:prstGeom>
          <a:solidFill>
            <a:srgbClr val="0891B2"/>
          </a:solidFill>
          <a:ln w="12700">
            <a:solidFill>
              <a:srgbClr val="FFFFFF"/>
            </a:solidFill>
            <a:prstDash val="solid"/>
          </a:ln>
        </p:spPr>
        <p:txBody>
          <a:bodyPr/>
          <a:lstStyle/>
          <a:p>
            <a:endParaRPr lang="tr-TR"/>
          </a:p>
        </p:txBody>
      </p:sp>
      <p:sp>
        <p:nvSpPr>
          <p:cNvPr id="43" name="Shape 41"/>
          <p:cNvSpPr/>
          <p:nvPr/>
        </p:nvSpPr>
        <p:spPr>
          <a:xfrm>
            <a:off x="5486400" y="3639312"/>
            <a:ext cx="292608" cy="292608"/>
          </a:xfrm>
          <a:prstGeom prst="ellipse">
            <a:avLst/>
          </a:prstGeom>
          <a:solidFill>
            <a:srgbClr val="0891B2"/>
          </a:solidFill>
          <a:ln w="12700">
            <a:solidFill>
              <a:srgbClr val="FFFFFF"/>
            </a:solidFill>
            <a:prstDash val="solid"/>
          </a:ln>
        </p:spPr>
        <p:txBody>
          <a:bodyPr/>
          <a:lstStyle/>
          <a:p>
            <a:endParaRPr lang="tr-TR"/>
          </a:p>
        </p:txBody>
      </p:sp>
      <p:sp>
        <p:nvSpPr>
          <p:cNvPr id="44" name="Shape 42"/>
          <p:cNvSpPr/>
          <p:nvPr/>
        </p:nvSpPr>
        <p:spPr>
          <a:xfrm>
            <a:off x="5486400" y="4059936"/>
            <a:ext cx="292608" cy="292608"/>
          </a:xfrm>
          <a:prstGeom prst="ellipse">
            <a:avLst/>
          </a:prstGeom>
          <a:solidFill>
            <a:srgbClr val="0891B2"/>
          </a:solidFill>
          <a:ln w="12700">
            <a:solidFill>
              <a:srgbClr val="FFFFFF"/>
            </a:solidFill>
            <a:prstDash val="solid"/>
          </a:ln>
        </p:spPr>
        <p:txBody>
          <a:bodyPr/>
          <a:lstStyle/>
          <a:p>
            <a:endParaRPr lang="tr-TR"/>
          </a:p>
        </p:txBody>
      </p:sp>
      <p:sp>
        <p:nvSpPr>
          <p:cNvPr id="45" name="Text 43"/>
          <p:cNvSpPr/>
          <p:nvPr/>
        </p:nvSpPr>
        <p:spPr>
          <a:xfrm>
            <a:off x="5440680" y="4178808"/>
            <a:ext cx="384048" cy="237744"/>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Gizli 2</a:t>
            </a:r>
            <a:endParaRPr lang="en-US" sz="750" dirty="0"/>
          </a:p>
        </p:txBody>
      </p:sp>
      <p:sp>
        <p:nvSpPr>
          <p:cNvPr id="46" name="Shape 44"/>
          <p:cNvSpPr/>
          <p:nvPr/>
        </p:nvSpPr>
        <p:spPr>
          <a:xfrm>
            <a:off x="5797296" y="3182112"/>
            <a:ext cx="457200" cy="36576"/>
          </a:xfrm>
          <a:prstGeom prst="rect">
            <a:avLst/>
          </a:prstGeom>
          <a:solidFill>
            <a:srgbClr val="64748B"/>
          </a:solidFill>
          <a:ln w="12700">
            <a:solidFill>
              <a:srgbClr val="64748B"/>
            </a:solidFill>
            <a:prstDash val="solid"/>
          </a:ln>
        </p:spPr>
        <p:txBody>
          <a:bodyPr/>
          <a:lstStyle/>
          <a:p>
            <a:endParaRPr lang="tr-TR"/>
          </a:p>
        </p:txBody>
      </p:sp>
      <p:sp>
        <p:nvSpPr>
          <p:cNvPr id="47" name="Shape 45"/>
          <p:cNvSpPr/>
          <p:nvPr/>
        </p:nvSpPr>
        <p:spPr>
          <a:xfrm>
            <a:off x="6355080" y="1956816"/>
            <a:ext cx="292608" cy="292608"/>
          </a:xfrm>
          <a:prstGeom prst="ellipse">
            <a:avLst/>
          </a:prstGeom>
          <a:solidFill>
            <a:srgbClr val="0891B2"/>
          </a:solidFill>
          <a:ln w="12700">
            <a:solidFill>
              <a:srgbClr val="FFFFFF"/>
            </a:solidFill>
            <a:prstDash val="solid"/>
          </a:ln>
        </p:spPr>
        <p:txBody>
          <a:bodyPr/>
          <a:lstStyle/>
          <a:p>
            <a:endParaRPr lang="tr-TR"/>
          </a:p>
        </p:txBody>
      </p:sp>
      <p:sp>
        <p:nvSpPr>
          <p:cNvPr id="48" name="Shape 46"/>
          <p:cNvSpPr/>
          <p:nvPr/>
        </p:nvSpPr>
        <p:spPr>
          <a:xfrm>
            <a:off x="6355080" y="2377440"/>
            <a:ext cx="292608" cy="292608"/>
          </a:xfrm>
          <a:prstGeom prst="ellipse">
            <a:avLst/>
          </a:prstGeom>
          <a:solidFill>
            <a:srgbClr val="0891B2"/>
          </a:solidFill>
          <a:ln w="12700">
            <a:solidFill>
              <a:srgbClr val="FFFFFF"/>
            </a:solidFill>
            <a:prstDash val="solid"/>
          </a:ln>
        </p:spPr>
        <p:txBody>
          <a:bodyPr/>
          <a:lstStyle/>
          <a:p>
            <a:endParaRPr lang="tr-TR"/>
          </a:p>
        </p:txBody>
      </p:sp>
      <p:sp>
        <p:nvSpPr>
          <p:cNvPr id="49" name="Shape 47"/>
          <p:cNvSpPr/>
          <p:nvPr/>
        </p:nvSpPr>
        <p:spPr>
          <a:xfrm>
            <a:off x="6355080" y="2798064"/>
            <a:ext cx="292608" cy="292608"/>
          </a:xfrm>
          <a:prstGeom prst="ellipse">
            <a:avLst/>
          </a:prstGeom>
          <a:solidFill>
            <a:srgbClr val="0891B2"/>
          </a:solidFill>
          <a:ln w="12700">
            <a:solidFill>
              <a:srgbClr val="FFFFFF"/>
            </a:solidFill>
            <a:prstDash val="solid"/>
          </a:ln>
        </p:spPr>
        <p:txBody>
          <a:bodyPr/>
          <a:lstStyle/>
          <a:p>
            <a:endParaRPr lang="tr-TR"/>
          </a:p>
        </p:txBody>
      </p:sp>
      <p:sp>
        <p:nvSpPr>
          <p:cNvPr id="50" name="Shape 48"/>
          <p:cNvSpPr/>
          <p:nvPr/>
        </p:nvSpPr>
        <p:spPr>
          <a:xfrm>
            <a:off x="6355080" y="3218688"/>
            <a:ext cx="292608" cy="292608"/>
          </a:xfrm>
          <a:prstGeom prst="ellipse">
            <a:avLst/>
          </a:prstGeom>
          <a:solidFill>
            <a:srgbClr val="0891B2"/>
          </a:solidFill>
          <a:ln w="12700">
            <a:solidFill>
              <a:srgbClr val="FFFFFF"/>
            </a:solidFill>
            <a:prstDash val="solid"/>
          </a:ln>
        </p:spPr>
        <p:txBody>
          <a:bodyPr/>
          <a:lstStyle/>
          <a:p>
            <a:endParaRPr lang="tr-TR"/>
          </a:p>
        </p:txBody>
      </p:sp>
      <p:sp>
        <p:nvSpPr>
          <p:cNvPr id="51" name="Shape 49"/>
          <p:cNvSpPr/>
          <p:nvPr/>
        </p:nvSpPr>
        <p:spPr>
          <a:xfrm>
            <a:off x="6355080" y="3639312"/>
            <a:ext cx="292608" cy="292608"/>
          </a:xfrm>
          <a:prstGeom prst="ellipse">
            <a:avLst/>
          </a:prstGeom>
          <a:solidFill>
            <a:srgbClr val="0891B2"/>
          </a:solidFill>
          <a:ln w="12700">
            <a:solidFill>
              <a:srgbClr val="FFFFFF"/>
            </a:solidFill>
            <a:prstDash val="solid"/>
          </a:ln>
        </p:spPr>
        <p:txBody>
          <a:bodyPr/>
          <a:lstStyle/>
          <a:p>
            <a:endParaRPr lang="tr-TR"/>
          </a:p>
        </p:txBody>
      </p:sp>
      <p:sp>
        <p:nvSpPr>
          <p:cNvPr id="52" name="Shape 50"/>
          <p:cNvSpPr/>
          <p:nvPr/>
        </p:nvSpPr>
        <p:spPr>
          <a:xfrm>
            <a:off x="6355080" y="4059936"/>
            <a:ext cx="292608" cy="292608"/>
          </a:xfrm>
          <a:prstGeom prst="ellipse">
            <a:avLst/>
          </a:prstGeom>
          <a:solidFill>
            <a:srgbClr val="0891B2"/>
          </a:solidFill>
          <a:ln w="12700">
            <a:solidFill>
              <a:srgbClr val="FFFFFF"/>
            </a:solidFill>
            <a:prstDash val="solid"/>
          </a:ln>
        </p:spPr>
        <p:txBody>
          <a:bodyPr/>
          <a:lstStyle/>
          <a:p>
            <a:endParaRPr lang="tr-TR"/>
          </a:p>
        </p:txBody>
      </p:sp>
      <p:sp>
        <p:nvSpPr>
          <p:cNvPr id="53" name="Text 51"/>
          <p:cNvSpPr/>
          <p:nvPr/>
        </p:nvSpPr>
        <p:spPr>
          <a:xfrm>
            <a:off x="6309360" y="4178808"/>
            <a:ext cx="384048" cy="237744"/>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Gizli 3</a:t>
            </a:r>
            <a:endParaRPr lang="en-US" sz="750" dirty="0"/>
          </a:p>
        </p:txBody>
      </p:sp>
      <p:sp>
        <p:nvSpPr>
          <p:cNvPr id="54" name="Shape 52"/>
          <p:cNvSpPr/>
          <p:nvPr/>
        </p:nvSpPr>
        <p:spPr>
          <a:xfrm>
            <a:off x="6665976" y="3182112"/>
            <a:ext cx="457200" cy="36576"/>
          </a:xfrm>
          <a:prstGeom prst="rect">
            <a:avLst/>
          </a:prstGeom>
          <a:solidFill>
            <a:srgbClr val="64748B"/>
          </a:solidFill>
          <a:ln w="12700">
            <a:solidFill>
              <a:srgbClr val="64748B"/>
            </a:solidFill>
            <a:prstDash val="solid"/>
          </a:ln>
        </p:spPr>
        <p:txBody>
          <a:bodyPr/>
          <a:lstStyle/>
          <a:p>
            <a:endParaRPr lang="tr-TR"/>
          </a:p>
        </p:txBody>
      </p:sp>
      <p:sp>
        <p:nvSpPr>
          <p:cNvPr id="55" name="Shape 53"/>
          <p:cNvSpPr/>
          <p:nvPr/>
        </p:nvSpPr>
        <p:spPr>
          <a:xfrm>
            <a:off x="7223760" y="2798064"/>
            <a:ext cx="292608" cy="292608"/>
          </a:xfrm>
          <a:prstGeom prst="ellipse">
            <a:avLst/>
          </a:prstGeom>
          <a:solidFill>
            <a:srgbClr val="059669"/>
          </a:solidFill>
          <a:ln w="12700">
            <a:solidFill>
              <a:srgbClr val="FFFFFF"/>
            </a:solidFill>
            <a:prstDash val="solid"/>
          </a:ln>
        </p:spPr>
        <p:txBody>
          <a:bodyPr/>
          <a:lstStyle/>
          <a:p>
            <a:endParaRPr lang="tr-TR"/>
          </a:p>
        </p:txBody>
      </p:sp>
      <p:sp>
        <p:nvSpPr>
          <p:cNvPr id="56" name="Shape 54"/>
          <p:cNvSpPr/>
          <p:nvPr/>
        </p:nvSpPr>
        <p:spPr>
          <a:xfrm>
            <a:off x="7223760" y="3218688"/>
            <a:ext cx="292608" cy="292608"/>
          </a:xfrm>
          <a:prstGeom prst="ellipse">
            <a:avLst/>
          </a:prstGeom>
          <a:solidFill>
            <a:srgbClr val="059669"/>
          </a:solidFill>
          <a:ln w="12700">
            <a:solidFill>
              <a:srgbClr val="FFFFFF"/>
            </a:solidFill>
            <a:prstDash val="solid"/>
          </a:ln>
        </p:spPr>
        <p:txBody>
          <a:bodyPr/>
          <a:lstStyle/>
          <a:p>
            <a:endParaRPr lang="tr-TR"/>
          </a:p>
        </p:txBody>
      </p:sp>
      <p:sp>
        <p:nvSpPr>
          <p:cNvPr id="57" name="Text 55"/>
          <p:cNvSpPr/>
          <p:nvPr/>
        </p:nvSpPr>
        <p:spPr>
          <a:xfrm>
            <a:off x="7178040" y="4178808"/>
            <a:ext cx="384048" cy="237744"/>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Çıkış</a:t>
            </a:r>
            <a:endParaRPr lang="en-US" sz="750" dirty="0"/>
          </a:p>
        </p:txBody>
      </p:sp>
      <p:sp>
        <p:nvSpPr>
          <p:cNvPr id="58" name="Shape 56"/>
          <p:cNvSpPr/>
          <p:nvPr/>
        </p:nvSpPr>
        <p:spPr>
          <a:xfrm>
            <a:off x="365760" y="4315968"/>
            <a:ext cx="2651760" cy="749808"/>
          </a:xfrm>
          <a:prstGeom prst="rect">
            <a:avLst/>
          </a:prstGeom>
          <a:solidFill>
            <a:srgbClr val="243B55"/>
          </a:solidFill>
          <a:ln w="12700">
            <a:solidFill>
              <a:srgbClr val="243B55"/>
            </a:solidFill>
            <a:prstDash val="solid"/>
          </a:ln>
          <a:effectLst>
            <a:outerShdw blurRad="63500" dist="25400" dir="8100000" algn="bl" rotWithShape="0">
              <a:srgbClr val="000000">
                <a:alpha val="8000"/>
              </a:srgbClr>
            </a:outerShdw>
          </a:effectLst>
        </p:spPr>
        <p:txBody>
          <a:bodyPr/>
          <a:lstStyle/>
          <a:p>
            <a:endParaRPr lang="tr-TR"/>
          </a:p>
        </p:txBody>
      </p:sp>
      <p:sp>
        <p:nvSpPr>
          <p:cNvPr id="59" name="Shape 57"/>
          <p:cNvSpPr/>
          <p:nvPr/>
        </p:nvSpPr>
        <p:spPr>
          <a:xfrm>
            <a:off x="365760" y="4315968"/>
            <a:ext cx="64008" cy="749808"/>
          </a:xfrm>
          <a:prstGeom prst="rect">
            <a:avLst/>
          </a:prstGeom>
          <a:solidFill>
            <a:srgbClr val="0891B2"/>
          </a:solidFill>
          <a:ln w="12700">
            <a:solidFill>
              <a:srgbClr val="0891B2"/>
            </a:solidFill>
            <a:prstDash val="solid"/>
          </a:ln>
        </p:spPr>
        <p:txBody>
          <a:bodyPr/>
          <a:lstStyle/>
          <a:p>
            <a:endParaRPr lang="tr-TR"/>
          </a:p>
        </p:txBody>
      </p:sp>
      <p:sp>
        <p:nvSpPr>
          <p:cNvPr id="60" name="Text 58"/>
          <p:cNvSpPr/>
          <p:nvPr/>
        </p:nvSpPr>
        <p:spPr>
          <a:xfrm>
            <a:off x="493776" y="4398264"/>
            <a:ext cx="2450592" cy="27432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Neden Derin?</a:t>
            </a:r>
            <a:endParaRPr lang="en-US" sz="1100" dirty="0"/>
          </a:p>
        </p:txBody>
      </p:sp>
      <p:sp>
        <p:nvSpPr>
          <p:cNvPr id="61" name="Text 59"/>
          <p:cNvSpPr/>
          <p:nvPr/>
        </p:nvSpPr>
        <p:spPr>
          <a:xfrm>
            <a:off x="493776" y="4718304"/>
            <a:ext cx="2450592" cy="237744"/>
          </a:xfrm>
          <a:prstGeom prst="rect">
            <a:avLst/>
          </a:prstGeom>
          <a:noFill/>
          <a:ln/>
        </p:spPr>
        <p:txBody>
          <a:bodyPr wrap="square" lIns="0" tIns="0" rIns="0" bIns="0" rtlCol="0" anchor="ctr"/>
          <a:lstStyle/>
          <a:p>
            <a:pPr marL="0" indent="0">
              <a:buNone/>
            </a:pPr>
            <a:r>
              <a:rPr lang="en-US" sz="950" dirty="0">
                <a:solidFill>
                  <a:srgbClr val="F1F5F9"/>
                </a:solidFill>
                <a:latin typeface="Calibri" pitchFamily="34" charset="0"/>
                <a:ea typeface="Calibri" pitchFamily="34" charset="-122"/>
                <a:cs typeface="Calibri" pitchFamily="34" charset="-120"/>
              </a:rPr>
              <a:t>Sığ ağlarda gizli nöron sayısı üssel büyüyebilir. Derin ağlar hiyerarşik bileşen fonksiyonlar öğrenerek aynı kapasiteyi çok daha az nöronla sağlar (Lu et al., 2017).</a:t>
            </a:r>
            <a:endParaRPr lang="en-US" sz="950" dirty="0"/>
          </a:p>
        </p:txBody>
      </p:sp>
      <p:sp>
        <p:nvSpPr>
          <p:cNvPr id="62" name="Shape 60"/>
          <p:cNvSpPr/>
          <p:nvPr/>
        </p:nvSpPr>
        <p:spPr>
          <a:xfrm>
            <a:off x="3200400" y="4315968"/>
            <a:ext cx="2651760" cy="749808"/>
          </a:xfrm>
          <a:prstGeom prst="rect">
            <a:avLst/>
          </a:prstGeom>
          <a:solidFill>
            <a:srgbClr val="243B55"/>
          </a:solidFill>
          <a:ln w="12700">
            <a:solidFill>
              <a:srgbClr val="243B55"/>
            </a:solidFill>
            <a:prstDash val="solid"/>
          </a:ln>
          <a:effectLst>
            <a:outerShdw blurRad="63500" dist="25400" dir="8100000" algn="bl" rotWithShape="0">
              <a:srgbClr val="000000">
                <a:alpha val="8000"/>
              </a:srgbClr>
            </a:outerShdw>
          </a:effectLst>
        </p:spPr>
        <p:txBody>
          <a:bodyPr/>
          <a:lstStyle/>
          <a:p>
            <a:endParaRPr lang="tr-TR"/>
          </a:p>
        </p:txBody>
      </p:sp>
      <p:sp>
        <p:nvSpPr>
          <p:cNvPr id="63" name="Shape 61"/>
          <p:cNvSpPr/>
          <p:nvPr/>
        </p:nvSpPr>
        <p:spPr>
          <a:xfrm>
            <a:off x="3200400" y="4315968"/>
            <a:ext cx="64008" cy="749808"/>
          </a:xfrm>
          <a:prstGeom prst="rect">
            <a:avLst/>
          </a:prstGeom>
          <a:solidFill>
            <a:srgbClr val="7C3AED"/>
          </a:solidFill>
          <a:ln w="12700">
            <a:solidFill>
              <a:srgbClr val="7C3AED"/>
            </a:solidFill>
            <a:prstDash val="solid"/>
          </a:ln>
        </p:spPr>
        <p:txBody>
          <a:bodyPr/>
          <a:lstStyle/>
          <a:p>
            <a:endParaRPr lang="tr-TR"/>
          </a:p>
        </p:txBody>
      </p:sp>
      <p:sp>
        <p:nvSpPr>
          <p:cNvPr id="64" name="Text 62"/>
          <p:cNvSpPr/>
          <p:nvPr/>
        </p:nvSpPr>
        <p:spPr>
          <a:xfrm>
            <a:off x="3328416" y="4398264"/>
            <a:ext cx="2450592" cy="27432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Stokastik Gradyan İnişi</a:t>
            </a:r>
            <a:endParaRPr lang="en-US" sz="1100" dirty="0"/>
          </a:p>
        </p:txBody>
      </p:sp>
      <p:sp>
        <p:nvSpPr>
          <p:cNvPr id="65" name="Text 63"/>
          <p:cNvSpPr/>
          <p:nvPr/>
        </p:nvSpPr>
        <p:spPr>
          <a:xfrm>
            <a:off x="3328416" y="4718304"/>
            <a:ext cx="2450592" cy="237744"/>
          </a:xfrm>
          <a:prstGeom prst="rect">
            <a:avLst/>
          </a:prstGeom>
          <a:noFill/>
          <a:ln/>
        </p:spPr>
        <p:txBody>
          <a:bodyPr wrap="square" lIns="0" tIns="0" rIns="0" bIns="0" rtlCol="0" anchor="ctr"/>
          <a:lstStyle/>
          <a:p>
            <a:pPr marL="0" indent="0">
              <a:buNone/>
            </a:pPr>
            <a:r>
              <a:rPr lang="en-US" sz="950" dirty="0">
                <a:solidFill>
                  <a:srgbClr val="F1F5F9"/>
                </a:solidFill>
                <a:latin typeface="Calibri" pitchFamily="34" charset="0"/>
                <a:ea typeface="Calibri" pitchFamily="34" charset="-122"/>
                <a:cs typeface="Calibri" pitchFamily="34" charset="-120"/>
              </a:rPr>
              <a:t>SGD rastgele mini-batch seçer (k=10-100 örnek), gradyanı hesaplar ve parametreleri günceller. Büyük veri setlerinde tüm-veri gradyanından çok daha hızlı.</a:t>
            </a:r>
            <a:endParaRPr lang="en-US" sz="950" dirty="0"/>
          </a:p>
        </p:txBody>
      </p:sp>
      <p:sp>
        <p:nvSpPr>
          <p:cNvPr id="66" name="Shape 64"/>
          <p:cNvSpPr/>
          <p:nvPr/>
        </p:nvSpPr>
        <p:spPr>
          <a:xfrm>
            <a:off x="6035040" y="4315968"/>
            <a:ext cx="2651760" cy="749808"/>
          </a:xfrm>
          <a:prstGeom prst="rect">
            <a:avLst/>
          </a:prstGeom>
          <a:solidFill>
            <a:srgbClr val="243B55"/>
          </a:solidFill>
          <a:ln w="12700">
            <a:solidFill>
              <a:srgbClr val="243B55"/>
            </a:solidFill>
            <a:prstDash val="solid"/>
          </a:ln>
          <a:effectLst>
            <a:outerShdw blurRad="63500" dist="25400" dir="8100000" algn="bl" rotWithShape="0">
              <a:srgbClr val="000000">
                <a:alpha val="8000"/>
              </a:srgbClr>
            </a:outerShdw>
          </a:effectLst>
        </p:spPr>
        <p:txBody>
          <a:bodyPr/>
          <a:lstStyle/>
          <a:p>
            <a:endParaRPr lang="tr-TR"/>
          </a:p>
        </p:txBody>
      </p:sp>
      <p:sp>
        <p:nvSpPr>
          <p:cNvPr id="67" name="Shape 65"/>
          <p:cNvSpPr/>
          <p:nvPr/>
        </p:nvSpPr>
        <p:spPr>
          <a:xfrm>
            <a:off x="6035040" y="4315968"/>
            <a:ext cx="64008" cy="749808"/>
          </a:xfrm>
          <a:prstGeom prst="rect">
            <a:avLst/>
          </a:prstGeom>
          <a:solidFill>
            <a:srgbClr val="059669"/>
          </a:solidFill>
          <a:ln w="12700">
            <a:solidFill>
              <a:srgbClr val="059669"/>
            </a:solidFill>
            <a:prstDash val="solid"/>
          </a:ln>
        </p:spPr>
        <p:txBody>
          <a:bodyPr/>
          <a:lstStyle/>
          <a:p>
            <a:endParaRPr lang="tr-TR"/>
          </a:p>
        </p:txBody>
      </p:sp>
      <p:sp>
        <p:nvSpPr>
          <p:cNvPr id="68" name="Text 66"/>
          <p:cNvSpPr/>
          <p:nvPr/>
        </p:nvSpPr>
        <p:spPr>
          <a:xfrm>
            <a:off x="6163056" y="4398264"/>
            <a:ext cx="2450592" cy="27432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Geri Yayılım</a:t>
            </a:r>
            <a:endParaRPr lang="en-US" sz="1100" dirty="0"/>
          </a:p>
        </p:txBody>
      </p:sp>
      <p:sp>
        <p:nvSpPr>
          <p:cNvPr id="69" name="Text 67"/>
          <p:cNvSpPr/>
          <p:nvPr/>
        </p:nvSpPr>
        <p:spPr>
          <a:xfrm>
            <a:off x="6163056" y="4718304"/>
            <a:ext cx="2450592" cy="237744"/>
          </a:xfrm>
          <a:prstGeom prst="rect">
            <a:avLst/>
          </a:prstGeom>
          <a:noFill/>
          <a:ln/>
        </p:spPr>
        <p:txBody>
          <a:bodyPr wrap="square" lIns="0" tIns="0" rIns="0" bIns="0" rtlCol="0" anchor="ctr"/>
          <a:lstStyle/>
          <a:p>
            <a:pPr marL="0" indent="0">
              <a:buNone/>
            </a:pPr>
            <a:r>
              <a:rPr lang="en-US" sz="950" dirty="0">
                <a:solidFill>
                  <a:srgbClr val="F1F5F9"/>
                </a:solidFill>
                <a:latin typeface="Calibri" pitchFamily="34" charset="0"/>
                <a:ea typeface="Calibri" pitchFamily="34" charset="-122"/>
                <a:cs typeface="Calibri" pitchFamily="34" charset="-120"/>
              </a:rPr>
              <a:t>Zincir kuralı ile hata gradyanları çıkış katmanından başlayarak geri yayılır. Her katmanın ağırlıkları ∂E/∂w oranında güncellenir. (Rumelhart et al., 1986)</a:t>
            </a:r>
            <a:endParaRPr lang="en-US" sz="950" dirty="0"/>
          </a:p>
        </p:txBody>
      </p:sp>
      <p:sp>
        <p:nvSpPr>
          <p:cNvPr id="70" name="Text 68"/>
          <p:cNvSpPr/>
          <p:nvPr/>
        </p:nvSpPr>
        <p:spPr>
          <a:xfrm>
            <a:off x="365760" y="5102352"/>
            <a:ext cx="8412480" cy="164592"/>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Kaynak: Hornik (1991) Neural Networks; Cybenko (1989) Math. Control Signals Systems; Goodfellow et al. (2016) Deep Learning, MIT Press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1B2F4A"/>
          </a:solidFill>
          <a:ln w="12700">
            <a:solidFill>
              <a:srgbClr val="1B2F4A"/>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10 — YİNELEMELİ AĞLAR</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Hopfield Ağı &amp; Boltzmann Makinesi — Karşılaştırmalı Analiz</a:t>
            </a:r>
            <a:endParaRPr lang="en-US" sz="2600" dirty="0"/>
          </a:p>
        </p:txBody>
      </p:sp>
      <p:sp>
        <p:nvSpPr>
          <p:cNvPr id="5" name="Shape 3"/>
          <p:cNvSpPr/>
          <p:nvPr/>
        </p:nvSpPr>
        <p:spPr>
          <a:xfrm>
            <a:off x="365760" y="1024128"/>
            <a:ext cx="137160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115568"/>
            <a:ext cx="4096512" cy="3767328"/>
          </a:xfrm>
          <a:prstGeom prst="rect">
            <a:avLst/>
          </a:prstGeom>
          <a:solidFill>
            <a:srgbClr val="EFF6FF"/>
          </a:solidFill>
          <a:ln w="12700">
            <a:solidFill>
              <a:srgbClr val="7C3AED"/>
            </a:solidFill>
            <a:prstDash val="solid"/>
          </a:ln>
          <a:effectLst>
            <a:outerShdw blurRad="127000" dist="50800" dir="8100000" algn="bl" rotWithShape="0">
              <a:srgbClr val="000000">
                <a:alpha val="12000"/>
              </a:srgbClr>
            </a:outerShdw>
          </a:effectLst>
        </p:spPr>
        <p:txBody>
          <a:bodyPr/>
          <a:lstStyle/>
          <a:p>
            <a:endParaRPr lang="tr-TR"/>
          </a:p>
        </p:txBody>
      </p:sp>
      <p:sp>
        <p:nvSpPr>
          <p:cNvPr id="7" name="Shape 5"/>
          <p:cNvSpPr/>
          <p:nvPr/>
        </p:nvSpPr>
        <p:spPr>
          <a:xfrm>
            <a:off x="365760" y="1115568"/>
            <a:ext cx="4096512" cy="420624"/>
          </a:xfrm>
          <a:prstGeom prst="rect">
            <a:avLst/>
          </a:prstGeom>
          <a:solidFill>
            <a:srgbClr val="7C3AED"/>
          </a:solidFill>
          <a:ln w="12700">
            <a:solidFill>
              <a:srgbClr val="7C3AED"/>
            </a:solidFill>
            <a:prstDash val="solid"/>
          </a:ln>
        </p:spPr>
        <p:txBody>
          <a:bodyPr/>
          <a:lstStyle/>
          <a:p>
            <a:endParaRPr lang="tr-TR"/>
          </a:p>
        </p:txBody>
      </p:sp>
      <p:sp>
        <p:nvSpPr>
          <p:cNvPr id="8" name="Text 6"/>
          <p:cNvSpPr/>
          <p:nvPr/>
        </p:nvSpPr>
        <p:spPr>
          <a:xfrm>
            <a:off x="475488" y="1115568"/>
            <a:ext cx="3877056"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Hopfield Ağı (Hopfield, 1982)</a:t>
            </a:r>
            <a:endParaRPr lang="en-US" sz="1200" dirty="0"/>
          </a:p>
        </p:txBody>
      </p:sp>
      <p:sp>
        <p:nvSpPr>
          <p:cNvPr id="9" name="Text 7"/>
          <p:cNvSpPr/>
          <p:nvPr/>
        </p:nvSpPr>
        <p:spPr>
          <a:xfrm>
            <a:off x="502920" y="1609344"/>
            <a:ext cx="3840480" cy="3154680"/>
          </a:xfrm>
          <a:prstGeom prst="rect">
            <a:avLst/>
          </a:prstGeom>
          <a:noFill/>
          <a:ln/>
        </p:spPr>
        <p:txBody>
          <a:bodyPr wrap="square" rtlCol="0" anchor="t"/>
          <a:lstStyle/>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İçerik-adreslenebilir (asosiyatif) bellek modeli</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McCulloch-Pitts nöronlarından oluşan tam bağlı ağ — tüm nöronlar birbirine bağlı</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Ağırlık matrisi: wᵢⱼ = Σₖ tᵢ⁽ᵏ⁾tⱼ⁽ᵏ⁾ (simetrik, wᵢᵢ=0)</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Güncellenme: xᵢ = sgn(Σⱼwᵢⱼxⱼ − θᵢ) — eşzamanlı veya ardışık</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Ağ kapasitesi: P ≤ 0.138×N (Hertz et al., 1991)</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Katman ayrımı yok: başlangıçta giriş, işlemde gizli, sonda çıkış</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Enerji fonksiyonu monoton azalır → kararlı duruma (minimum) yakınsar</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Uygulama: Bozulmuş örüntüyü depolanan tam örüntüye tamamlar</a:t>
            </a:r>
            <a:endParaRPr lang="en-US" sz="950" dirty="0"/>
          </a:p>
        </p:txBody>
      </p:sp>
      <p:sp>
        <p:nvSpPr>
          <p:cNvPr id="10" name="Shape 8"/>
          <p:cNvSpPr/>
          <p:nvPr/>
        </p:nvSpPr>
        <p:spPr>
          <a:xfrm>
            <a:off x="4681728" y="1115568"/>
            <a:ext cx="4096512" cy="3767328"/>
          </a:xfrm>
          <a:prstGeom prst="rect">
            <a:avLst/>
          </a:prstGeom>
          <a:solidFill>
            <a:srgbClr val="F0FDF4"/>
          </a:solidFill>
          <a:ln w="12700">
            <a:solidFill>
              <a:srgbClr val="059669"/>
            </a:solidFill>
            <a:prstDash val="solid"/>
          </a:ln>
          <a:effectLst>
            <a:outerShdw blurRad="127000" dist="50800" dir="8100000" algn="bl" rotWithShape="0">
              <a:srgbClr val="000000">
                <a:alpha val="12000"/>
              </a:srgbClr>
            </a:outerShdw>
          </a:effectLst>
        </p:spPr>
        <p:txBody>
          <a:bodyPr/>
          <a:lstStyle/>
          <a:p>
            <a:endParaRPr lang="tr-TR"/>
          </a:p>
        </p:txBody>
      </p:sp>
      <p:sp>
        <p:nvSpPr>
          <p:cNvPr id="11" name="Shape 9"/>
          <p:cNvSpPr/>
          <p:nvPr/>
        </p:nvSpPr>
        <p:spPr>
          <a:xfrm>
            <a:off x="4681728" y="1115568"/>
            <a:ext cx="4096512" cy="420624"/>
          </a:xfrm>
          <a:prstGeom prst="rect">
            <a:avLst/>
          </a:prstGeom>
          <a:solidFill>
            <a:srgbClr val="059669"/>
          </a:solidFill>
          <a:ln w="12700">
            <a:solidFill>
              <a:srgbClr val="059669"/>
            </a:solidFill>
            <a:prstDash val="solid"/>
          </a:ln>
        </p:spPr>
        <p:txBody>
          <a:bodyPr/>
          <a:lstStyle/>
          <a:p>
            <a:endParaRPr lang="tr-TR"/>
          </a:p>
        </p:txBody>
      </p:sp>
      <p:sp>
        <p:nvSpPr>
          <p:cNvPr id="12" name="Text 10"/>
          <p:cNvSpPr/>
          <p:nvPr/>
        </p:nvSpPr>
        <p:spPr>
          <a:xfrm>
            <a:off x="4791456" y="1115568"/>
            <a:ext cx="3877056" cy="42062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Boltzmann Makinesi (Hinton &amp; Sejnowski, 1983)</a:t>
            </a:r>
            <a:endParaRPr lang="en-US" sz="1150" dirty="0"/>
          </a:p>
        </p:txBody>
      </p:sp>
      <p:sp>
        <p:nvSpPr>
          <p:cNvPr id="13" name="Text 11"/>
          <p:cNvSpPr/>
          <p:nvPr/>
        </p:nvSpPr>
        <p:spPr>
          <a:xfrm>
            <a:off x="4818888" y="1609344"/>
            <a:ext cx="3840480" cy="3154680"/>
          </a:xfrm>
          <a:prstGeom prst="rect">
            <a:avLst/>
          </a:prstGeom>
          <a:noFill/>
          <a:ln/>
        </p:spPr>
        <p:txBody>
          <a:bodyPr wrap="square" rtlCol="0" anchor="t"/>
          <a:lstStyle/>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Gürültülü Hopfield ağı: olasılıksal aktivasyon p(sᵢ=1) = σ(xᵢ)</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İki tip katman: görünür (v, gözlemlenen) + gizli (h, latent değişkenler)</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Tüm kenarlar yönsüz → bilgi iki yönlü akar (generatif model)</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Olasılık dağılımı: p(v,h) = (1/Z)·e^{-E(v,h)} (Boltzmann dağılımı)</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Enerji: E(v,h) = −Σaᵢvᵢ − Σbⱼhⱼ − Σᵢ,ⱼvᵢhⱼwᵢⱼ</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Eğitim: Maksimum olasılık tahmini → pratik zorluk: Z hesabı</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Kısıtlı BM (RBM): Aynı katmanda bağlantı yok → eğitim kolaylaşır</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Uygulama: Öneri sistemleri, özellik öğrenimi, DBN'lerin yapı taşı</a:t>
            </a:r>
            <a:endParaRPr lang="en-US" sz="950" dirty="0"/>
          </a:p>
        </p:txBody>
      </p:sp>
      <p:sp>
        <p:nvSpPr>
          <p:cNvPr id="14" name="Shape 12"/>
          <p:cNvSpPr/>
          <p:nvPr/>
        </p:nvSpPr>
        <p:spPr>
          <a:xfrm>
            <a:off x="365760" y="4937760"/>
            <a:ext cx="8412480" cy="256032"/>
          </a:xfrm>
          <a:prstGeom prst="rect">
            <a:avLst/>
          </a:prstGeom>
          <a:solidFill>
            <a:srgbClr val="FFF7ED"/>
          </a:solidFill>
          <a:ln w="12700">
            <a:solidFill>
              <a:srgbClr val="D97706"/>
            </a:solidFill>
            <a:prstDash val="solid"/>
          </a:ln>
        </p:spPr>
        <p:txBody>
          <a:bodyPr/>
          <a:lstStyle/>
          <a:p>
            <a:endParaRPr lang="tr-TR"/>
          </a:p>
        </p:txBody>
      </p:sp>
      <p:sp>
        <p:nvSpPr>
          <p:cNvPr id="15" name="Text 13"/>
          <p:cNvSpPr/>
          <p:nvPr/>
        </p:nvSpPr>
        <p:spPr>
          <a:xfrm>
            <a:off x="502920" y="4937760"/>
            <a:ext cx="8183880" cy="256032"/>
          </a:xfrm>
          <a:prstGeom prst="rect">
            <a:avLst/>
          </a:prstGeom>
          <a:noFill/>
          <a:ln/>
        </p:spPr>
        <p:txBody>
          <a:bodyPr wrap="square" lIns="0" tIns="0" rIns="0" bIns="0" rtlCol="0" anchor="ctr"/>
          <a:lstStyle/>
          <a:p>
            <a:pPr marL="0" indent="0">
              <a:buNone/>
            </a:pPr>
            <a:r>
              <a:rPr lang="en-US" sz="850" i="1" dirty="0">
                <a:solidFill>
                  <a:srgbClr val="92400E"/>
                </a:solidFill>
                <a:latin typeface="Calibri" pitchFamily="34" charset="0"/>
                <a:ea typeface="Calibri" pitchFamily="34" charset="-122"/>
                <a:cs typeface="Calibri" pitchFamily="34" charset="-120"/>
              </a:rPr>
              <a:t>🔗 Matematiksel ilişki: Hopfield ağı ve Boltzmann makinesi aynı enerji çerçevesini paylaşır. BM öğrenme, Hopfield hatırlama işlevini temsil eder. Her ikisi de enerji minimizasyonu yoluyla çalışır. — Kaynak: Hinton &amp; Sejnowski (1983)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11 — CNN DETAY</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CNN — Evrişim Hesabı &amp; Havuzlama Türleri</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097280"/>
            <a:ext cx="8412480" cy="566928"/>
          </a:xfrm>
          <a:prstGeom prst="rect">
            <a:avLst/>
          </a:prstGeom>
          <a:solidFill>
            <a:srgbClr val="1B2F4A"/>
          </a:solidFill>
          <a:ln w="12700">
            <a:solidFill>
              <a:srgbClr val="0891B2"/>
            </a:solidFill>
            <a:prstDash val="solid"/>
          </a:ln>
        </p:spPr>
        <p:txBody>
          <a:bodyPr/>
          <a:lstStyle/>
          <a:p>
            <a:endParaRPr lang="tr-TR"/>
          </a:p>
        </p:txBody>
      </p:sp>
      <p:sp>
        <p:nvSpPr>
          <p:cNvPr id="7" name="Text 5"/>
          <p:cNvSpPr/>
          <p:nvPr/>
        </p:nvSpPr>
        <p:spPr>
          <a:xfrm>
            <a:off x="457200" y="1097280"/>
            <a:ext cx="8229600" cy="566928"/>
          </a:xfrm>
          <a:prstGeom prst="rect">
            <a:avLst/>
          </a:prstGeom>
          <a:noFill/>
          <a:ln/>
        </p:spPr>
        <p:txBody>
          <a:bodyPr wrap="square" lIns="0" tIns="0" rIns="0" bIns="0" rtlCol="0" anchor="ctr"/>
          <a:lstStyle/>
          <a:p>
            <a:pPr marL="0" indent="0" algn="ctr">
              <a:buNone/>
            </a:pPr>
            <a:r>
              <a:rPr lang="en-US" sz="1250" b="1" dirty="0">
                <a:solidFill>
                  <a:srgbClr val="06B6D4"/>
                </a:solidFill>
                <a:latin typeface="Calibri" pitchFamily="34" charset="0"/>
                <a:ea typeface="Calibri" pitchFamily="34" charset="-122"/>
                <a:cs typeface="Calibri" pitchFamily="34" charset="-120"/>
              </a:rPr>
              <a:t>Wçıkış = (Wgiriş − N + 2P) / S + 1   ·   Hçıkış = (Hgiriş − N + 2P) / S + 1   ·   D = Z (derinlik)</a:t>
            </a:r>
            <a:endParaRPr lang="en-US" sz="1250" dirty="0"/>
          </a:p>
        </p:txBody>
      </p:sp>
      <p:sp>
        <p:nvSpPr>
          <p:cNvPr id="8" name="Text 6"/>
          <p:cNvSpPr/>
          <p:nvPr/>
        </p:nvSpPr>
        <p:spPr>
          <a:xfrm>
            <a:off x="365760" y="1828800"/>
            <a:ext cx="2103120" cy="256032"/>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6×6 Giriş Matrisi</a:t>
            </a:r>
            <a:endParaRPr lang="en-US" sz="1000" dirty="0"/>
          </a:p>
        </p:txBody>
      </p:sp>
      <p:sp>
        <p:nvSpPr>
          <p:cNvPr id="9" name="Shape 7"/>
          <p:cNvSpPr/>
          <p:nvPr/>
        </p:nvSpPr>
        <p:spPr>
          <a:xfrm>
            <a:off x="384048" y="2121408"/>
            <a:ext cx="310896" cy="310896"/>
          </a:xfrm>
          <a:prstGeom prst="rect">
            <a:avLst/>
          </a:prstGeom>
          <a:solidFill>
            <a:srgbClr val="1B2F4A"/>
          </a:solidFill>
          <a:ln w="12700">
            <a:solidFill>
              <a:srgbClr val="84CC16"/>
            </a:solidFill>
            <a:prstDash val="solid"/>
          </a:ln>
        </p:spPr>
        <p:txBody>
          <a:bodyPr/>
          <a:lstStyle/>
          <a:p>
            <a:endParaRPr lang="tr-TR"/>
          </a:p>
        </p:txBody>
      </p:sp>
      <p:sp>
        <p:nvSpPr>
          <p:cNvPr id="10" name="Text 8"/>
          <p:cNvSpPr/>
          <p:nvPr/>
        </p:nvSpPr>
        <p:spPr>
          <a:xfrm>
            <a:off x="384048" y="2121408"/>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1</a:t>
            </a:r>
            <a:endParaRPr lang="en-US" sz="1000" dirty="0"/>
          </a:p>
        </p:txBody>
      </p:sp>
      <p:sp>
        <p:nvSpPr>
          <p:cNvPr id="11" name="Shape 9"/>
          <p:cNvSpPr/>
          <p:nvPr/>
        </p:nvSpPr>
        <p:spPr>
          <a:xfrm>
            <a:off x="694944" y="2121408"/>
            <a:ext cx="310896" cy="310896"/>
          </a:xfrm>
          <a:prstGeom prst="rect">
            <a:avLst/>
          </a:prstGeom>
          <a:solidFill>
            <a:srgbClr val="1B2F4A"/>
          </a:solidFill>
          <a:ln w="12700">
            <a:solidFill>
              <a:srgbClr val="84CC16"/>
            </a:solidFill>
            <a:prstDash val="solid"/>
          </a:ln>
        </p:spPr>
        <p:txBody>
          <a:bodyPr/>
          <a:lstStyle/>
          <a:p>
            <a:endParaRPr lang="tr-TR"/>
          </a:p>
        </p:txBody>
      </p:sp>
      <p:sp>
        <p:nvSpPr>
          <p:cNvPr id="12" name="Text 10"/>
          <p:cNvSpPr/>
          <p:nvPr/>
        </p:nvSpPr>
        <p:spPr>
          <a:xfrm>
            <a:off x="694944" y="2121408"/>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0</a:t>
            </a:r>
            <a:endParaRPr lang="en-US" sz="1000" dirty="0"/>
          </a:p>
        </p:txBody>
      </p:sp>
      <p:sp>
        <p:nvSpPr>
          <p:cNvPr id="13" name="Shape 11"/>
          <p:cNvSpPr/>
          <p:nvPr/>
        </p:nvSpPr>
        <p:spPr>
          <a:xfrm>
            <a:off x="1005840" y="2121408"/>
            <a:ext cx="310896" cy="310896"/>
          </a:xfrm>
          <a:prstGeom prst="rect">
            <a:avLst/>
          </a:prstGeom>
          <a:solidFill>
            <a:srgbClr val="1B2F4A"/>
          </a:solidFill>
          <a:ln w="12700">
            <a:solidFill>
              <a:srgbClr val="84CC16"/>
            </a:solidFill>
            <a:prstDash val="solid"/>
          </a:ln>
        </p:spPr>
        <p:txBody>
          <a:bodyPr/>
          <a:lstStyle/>
          <a:p>
            <a:endParaRPr lang="tr-TR"/>
          </a:p>
        </p:txBody>
      </p:sp>
      <p:sp>
        <p:nvSpPr>
          <p:cNvPr id="14" name="Text 12"/>
          <p:cNvSpPr/>
          <p:nvPr/>
        </p:nvSpPr>
        <p:spPr>
          <a:xfrm>
            <a:off x="1005840" y="2121408"/>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0</a:t>
            </a:r>
            <a:endParaRPr lang="en-US" sz="1000" dirty="0"/>
          </a:p>
        </p:txBody>
      </p:sp>
      <p:sp>
        <p:nvSpPr>
          <p:cNvPr id="15" name="Shape 13"/>
          <p:cNvSpPr/>
          <p:nvPr/>
        </p:nvSpPr>
        <p:spPr>
          <a:xfrm>
            <a:off x="1316736" y="2121408"/>
            <a:ext cx="310896" cy="310896"/>
          </a:xfrm>
          <a:prstGeom prst="rect">
            <a:avLst/>
          </a:prstGeom>
          <a:solidFill>
            <a:srgbClr val="0D1B2A"/>
          </a:solidFill>
          <a:ln w="12700">
            <a:solidFill>
              <a:srgbClr val="334155"/>
            </a:solidFill>
            <a:prstDash val="solid"/>
          </a:ln>
        </p:spPr>
        <p:txBody>
          <a:bodyPr/>
          <a:lstStyle/>
          <a:p>
            <a:endParaRPr lang="tr-TR"/>
          </a:p>
        </p:txBody>
      </p:sp>
      <p:sp>
        <p:nvSpPr>
          <p:cNvPr id="16" name="Text 14"/>
          <p:cNvSpPr/>
          <p:nvPr/>
        </p:nvSpPr>
        <p:spPr>
          <a:xfrm>
            <a:off x="1316736" y="2121408"/>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17" name="Shape 15"/>
          <p:cNvSpPr/>
          <p:nvPr/>
        </p:nvSpPr>
        <p:spPr>
          <a:xfrm>
            <a:off x="1627632" y="2121408"/>
            <a:ext cx="310896" cy="310896"/>
          </a:xfrm>
          <a:prstGeom prst="rect">
            <a:avLst/>
          </a:prstGeom>
          <a:solidFill>
            <a:srgbClr val="0D1B2A"/>
          </a:solidFill>
          <a:ln w="12700">
            <a:solidFill>
              <a:srgbClr val="334155"/>
            </a:solidFill>
            <a:prstDash val="solid"/>
          </a:ln>
        </p:spPr>
        <p:txBody>
          <a:bodyPr/>
          <a:lstStyle/>
          <a:p>
            <a:endParaRPr lang="tr-TR"/>
          </a:p>
        </p:txBody>
      </p:sp>
      <p:sp>
        <p:nvSpPr>
          <p:cNvPr id="18" name="Text 16"/>
          <p:cNvSpPr/>
          <p:nvPr/>
        </p:nvSpPr>
        <p:spPr>
          <a:xfrm>
            <a:off x="1627632" y="2121408"/>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19" name="Shape 17"/>
          <p:cNvSpPr/>
          <p:nvPr/>
        </p:nvSpPr>
        <p:spPr>
          <a:xfrm>
            <a:off x="1938528" y="2121408"/>
            <a:ext cx="310896" cy="310896"/>
          </a:xfrm>
          <a:prstGeom prst="rect">
            <a:avLst/>
          </a:prstGeom>
          <a:solidFill>
            <a:srgbClr val="0D1B2A"/>
          </a:solidFill>
          <a:ln w="12700">
            <a:solidFill>
              <a:srgbClr val="334155"/>
            </a:solidFill>
            <a:prstDash val="solid"/>
          </a:ln>
        </p:spPr>
        <p:txBody>
          <a:bodyPr/>
          <a:lstStyle/>
          <a:p>
            <a:endParaRPr lang="tr-TR"/>
          </a:p>
        </p:txBody>
      </p:sp>
      <p:sp>
        <p:nvSpPr>
          <p:cNvPr id="20" name="Text 18"/>
          <p:cNvSpPr/>
          <p:nvPr/>
        </p:nvSpPr>
        <p:spPr>
          <a:xfrm>
            <a:off x="1938528" y="2121408"/>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21" name="Shape 19"/>
          <p:cNvSpPr/>
          <p:nvPr/>
        </p:nvSpPr>
        <p:spPr>
          <a:xfrm>
            <a:off x="384048" y="2432304"/>
            <a:ext cx="310896" cy="310896"/>
          </a:xfrm>
          <a:prstGeom prst="rect">
            <a:avLst/>
          </a:prstGeom>
          <a:solidFill>
            <a:srgbClr val="1B2F4A"/>
          </a:solidFill>
          <a:ln w="12700">
            <a:solidFill>
              <a:srgbClr val="84CC16"/>
            </a:solidFill>
            <a:prstDash val="solid"/>
          </a:ln>
        </p:spPr>
        <p:txBody>
          <a:bodyPr/>
          <a:lstStyle/>
          <a:p>
            <a:endParaRPr lang="tr-TR"/>
          </a:p>
        </p:txBody>
      </p:sp>
      <p:sp>
        <p:nvSpPr>
          <p:cNvPr id="22" name="Text 20"/>
          <p:cNvSpPr/>
          <p:nvPr/>
        </p:nvSpPr>
        <p:spPr>
          <a:xfrm>
            <a:off x="384048" y="2432304"/>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0</a:t>
            </a:r>
            <a:endParaRPr lang="en-US" sz="1000" dirty="0"/>
          </a:p>
        </p:txBody>
      </p:sp>
      <p:sp>
        <p:nvSpPr>
          <p:cNvPr id="23" name="Shape 21"/>
          <p:cNvSpPr/>
          <p:nvPr/>
        </p:nvSpPr>
        <p:spPr>
          <a:xfrm>
            <a:off x="694944" y="2432304"/>
            <a:ext cx="310896" cy="310896"/>
          </a:xfrm>
          <a:prstGeom prst="rect">
            <a:avLst/>
          </a:prstGeom>
          <a:solidFill>
            <a:srgbClr val="1B2F4A"/>
          </a:solidFill>
          <a:ln w="12700">
            <a:solidFill>
              <a:srgbClr val="84CC16"/>
            </a:solidFill>
            <a:prstDash val="solid"/>
          </a:ln>
        </p:spPr>
        <p:txBody>
          <a:bodyPr/>
          <a:lstStyle/>
          <a:p>
            <a:endParaRPr lang="tr-TR"/>
          </a:p>
        </p:txBody>
      </p:sp>
      <p:sp>
        <p:nvSpPr>
          <p:cNvPr id="24" name="Text 22"/>
          <p:cNvSpPr/>
          <p:nvPr/>
        </p:nvSpPr>
        <p:spPr>
          <a:xfrm>
            <a:off x="694944" y="2432304"/>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1</a:t>
            </a:r>
            <a:endParaRPr lang="en-US" sz="1000" dirty="0"/>
          </a:p>
        </p:txBody>
      </p:sp>
      <p:sp>
        <p:nvSpPr>
          <p:cNvPr id="25" name="Shape 23"/>
          <p:cNvSpPr/>
          <p:nvPr/>
        </p:nvSpPr>
        <p:spPr>
          <a:xfrm>
            <a:off x="1005840" y="2432304"/>
            <a:ext cx="310896" cy="310896"/>
          </a:xfrm>
          <a:prstGeom prst="rect">
            <a:avLst/>
          </a:prstGeom>
          <a:solidFill>
            <a:srgbClr val="1B2F4A"/>
          </a:solidFill>
          <a:ln w="12700">
            <a:solidFill>
              <a:srgbClr val="84CC16"/>
            </a:solidFill>
            <a:prstDash val="solid"/>
          </a:ln>
        </p:spPr>
        <p:txBody>
          <a:bodyPr/>
          <a:lstStyle/>
          <a:p>
            <a:endParaRPr lang="tr-TR"/>
          </a:p>
        </p:txBody>
      </p:sp>
      <p:sp>
        <p:nvSpPr>
          <p:cNvPr id="26" name="Text 24"/>
          <p:cNvSpPr/>
          <p:nvPr/>
        </p:nvSpPr>
        <p:spPr>
          <a:xfrm>
            <a:off x="1005840" y="2432304"/>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0</a:t>
            </a:r>
            <a:endParaRPr lang="en-US" sz="1000" dirty="0"/>
          </a:p>
        </p:txBody>
      </p:sp>
      <p:sp>
        <p:nvSpPr>
          <p:cNvPr id="27" name="Shape 25"/>
          <p:cNvSpPr/>
          <p:nvPr/>
        </p:nvSpPr>
        <p:spPr>
          <a:xfrm>
            <a:off x="1316736" y="2432304"/>
            <a:ext cx="310896" cy="310896"/>
          </a:xfrm>
          <a:prstGeom prst="rect">
            <a:avLst/>
          </a:prstGeom>
          <a:solidFill>
            <a:srgbClr val="0D1B2A"/>
          </a:solidFill>
          <a:ln w="12700">
            <a:solidFill>
              <a:srgbClr val="334155"/>
            </a:solidFill>
            <a:prstDash val="solid"/>
          </a:ln>
        </p:spPr>
        <p:txBody>
          <a:bodyPr/>
          <a:lstStyle/>
          <a:p>
            <a:endParaRPr lang="tr-TR"/>
          </a:p>
        </p:txBody>
      </p:sp>
      <p:sp>
        <p:nvSpPr>
          <p:cNvPr id="28" name="Text 26"/>
          <p:cNvSpPr/>
          <p:nvPr/>
        </p:nvSpPr>
        <p:spPr>
          <a:xfrm>
            <a:off x="1316736" y="2432304"/>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29" name="Shape 27"/>
          <p:cNvSpPr/>
          <p:nvPr/>
        </p:nvSpPr>
        <p:spPr>
          <a:xfrm>
            <a:off x="1627632" y="2432304"/>
            <a:ext cx="310896" cy="310896"/>
          </a:xfrm>
          <a:prstGeom prst="rect">
            <a:avLst/>
          </a:prstGeom>
          <a:solidFill>
            <a:srgbClr val="0D1B2A"/>
          </a:solidFill>
          <a:ln w="12700">
            <a:solidFill>
              <a:srgbClr val="334155"/>
            </a:solidFill>
            <a:prstDash val="solid"/>
          </a:ln>
        </p:spPr>
        <p:txBody>
          <a:bodyPr/>
          <a:lstStyle/>
          <a:p>
            <a:endParaRPr lang="tr-TR"/>
          </a:p>
        </p:txBody>
      </p:sp>
      <p:sp>
        <p:nvSpPr>
          <p:cNvPr id="30" name="Text 28"/>
          <p:cNvSpPr/>
          <p:nvPr/>
        </p:nvSpPr>
        <p:spPr>
          <a:xfrm>
            <a:off x="1627632" y="2432304"/>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31" name="Shape 29"/>
          <p:cNvSpPr/>
          <p:nvPr/>
        </p:nvSpPr>
        <p:spPr>
          <a:xfrm>
            <a:off x="1938528" y="2432304"/>
            <a:ext cx="310896" cy="310896"/>
          </a:xfrm>
          <a:prstGeom prst="rect">
            <a:avLst/>
          </a:prstGeom>
          <a:solidFill>
            <a:srgbClr val="0D1B2A"/>
          </a:solidFill>
          <a:ln w="12700">
            <a:solidFill>
              <a:srgbClr val="334155"/>
            </a:solidFill>
            <a:prstDash val="solid"/>
          </a:ln>
        </p:spPr>
        <p:txBody>
          <a:bodyPr/>
          <a:lstStyle/>
          <a:p>
            <a:endParaRPr lang="tr-TR"/>
          </a:p>
        </p:txBody>
      </p:sp>
      <p:sp>
        <p:nvSpPr>
          <p:cNvPr id="32" name="Text 30"/>
          <p:cNvSpPr/>
          <p:nvPr/>
        </p:nvSpPr>
        <p:spPr>
          <a:xfrm>
            <a:off x="1938528" y="2432304"/>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33" name="Shape 31"/>
          <p:cNvSpPr/>
          <p:nvPr/>
        </p:nvSpPr>
        <p:spPr>
          <a:xfrm>
            <a:off x="384048" y="2743200"/>
            <a:ext cx="310896" cy="310896"/>
          </a:xfrm>
          <a:prstGeom prst="rect">
            <a:avLst/>
          </a:prstGeom>
          <a:solidFill>
            <a:srgbClr val="1B2F4A"/>
          </a:solidFill>
          <a:ln w="12700">
            <a:solidFill>
              <a:srgbClr val="84CC16"/>
            </a:solidFill>
            <a:prstDash val="solid"/>
          </a:ln>
        </p:spPr>
        <p:txBody>
          <a:bodyPr/>
          <a:lstStyle/>
          <a:p>
            <a:endParaRPr lang="tr-TR"/>
          </a:p>
        </p:txBody>
      </p:sp>
      <p:sp>
        <p:nvSpPr>
          <p:cNvPr id="34" name="Text 32"/>
          <p:cNvSpPr/>
          <p:nvPr/>
        </p:nvSpPr>
        <p:spPr>
          <a:xfrm>
            <a:off x="384048" y="2743200"/>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0</a:t>
            </a:r>
            <a:endParaRPr lang="en-US" sz="1000" dirty="0"/>
          </a:p>
        </p:txBody>
      </p:sp>
      <p:sp>
        <p:nvSpPr>
          <p:cNvPr id="35" name="Shape 33"/>
          <p:cNvSpPr/>
          <p:nvPr/>
        </p:nvSpPr>
        <p:spPr>
          <a:xfrm>
            <a:off x="694944" y="2743200"/>
            <a:ext cx="310896" cy="310896"/>
          </a:xfrm>
          <a:prstGeom prst="rect">
            <a:avLst/>
          </a:prstGeom>
          <a:solidFill>
            <a:srgbClr val="1B2F4A"/>
          </a:solidFill>
          <a:ln w="12700">
            <a:solidFill>
              <a:srgbClr val="84CC16"/>
            </a:solidFill>
            <a:prstDash val="solid"/>
          </a:ln>
        </p:spPr>
        <p:txBody>
          <a:bodyPr/>
          <a:lstStyle/>
          <a:p>
            <a:endParaRPr lang="tr-TR"/>
          </a:p>
        </p:txBody>
      </p:sp>
      <p:sp>
        <p:nvSpPr>
          <p:cNvPr id="36" name="Text 34"/>
          <p:cNvSpPr/>
          <p:nvPr/>
        </p:nvSpPr>
        <p:spPr>
          <a:xfrm>
            <a:off x="694944" y="2743200"/>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0</a:t>
            </a:r>
            <a:endParaRPr lang="en-US" sz="1000" dirty="0"/>
          </a:p>
        </p:txBody>
      </p:sp>
      <p:sp>
        <p:nvSpPr>
          <p:cNvPr id="37" name="Shape 35"/>
          <p:cNvSpPr/>
          <p:nvPr/>
        </p:nvSpPr>
        <p:spPr>
          <a:xfrm>
            <a:off x="1005840" y="2743200"/>
            <a:ext cx="310896" cy="310896"/>
          </a:xfrm>
          <a:prstGeom prst="rect">
            <a:avLst/>
          </a:prstGeom>
          <a:solidFill>
            <a:srgbClr val="1B2F4A"/>
          </a:solidFill>
          <a:ln w="12700">
            <a:solidFill>
              <a:srgbClr val="84CC16"/>
            </a:solidFill>
            <a:prstDash val="solid"/>
          </a:ln>
        </p:spPr>
        <p:txBody>
          <a:bodyPr/>
          <a:lstStyle/>
          <a:p>
            <a:endParaRPr lang="tr-TR"/>
          </a:p>
        </p:txBody>
      </p:sp>
      <p:sp>
        <p:nvSpPr>
          <p:cNvPr id="38" name="Text 36"/>
          <p:cNvSpPr/>
          <p:nvPr/>
        </p:nvSpPr>
        <p:spPr>
          <a:xfrm>
            <a:off x="1005840" y="2743200"/>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1</a:t>
            </a:r>
            <a:endParaRPr lang="en-US" sz="1000" dirty="0"/>
          </a:p>
        </p:txBody>
      </p:sp>
      <p:sp>
        <p:nvSpPr>
          <p:cNvPr id="39" name="Shape 37"/>
          <p:cNvSpPr/>
          <p:nvPr/>
        </p:nvSpPr>
        <p:spPr>
          <a:xfrm>
            <a:off x="1316736" y="2743200"/>
            <a:ext cx="310896" cy="310896"/>
          </a:xfrm>
          <a:prstGeom prst="rect">
            <a:avLst/>
          </a:prstGeom>
          <a:solidFill>
            <a:srgbClr val="0D1B2A"/>
          </a:solidFill>
          <a:ln w="12700">
            <a:solidFill>
              <a:srgbClr val="334155"/>
            </a:solidFill>
            <a:prstDash val="solid"/>
          </a:ln>
        </p:spPr>
        <p:txBody>
          <a:bodyPr/>
          <a:lstStyle/>
          <a:p>
            <a:endParaRPr lang="tr-TR"/>
          </a:p>
        </p:txBody>
      </p:sp>
      <p:sp>
        <p:nvSpPr>
          <p:cNvPr id="40" name="Text 38"/>
          <p:cNvSpPr/>
          <p:nvPr/>
        </p:nvSpPr>
        <p:spPr>
          <a:xfrm>
            <a:off x="1316736" y="2743200"/>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41" name="Shape 39"/>
          <p:cNvSpPr/>
          <p:nvPr/>
        </p:nvSpPr>
        <p:spPr>
          <a:xfrm>
            <a:off x="1627632" y="2743200"/>
            <a:ext cx="310896" cy="310896"/>
          </a:xfrm>
          <a:prstGeom prst="rect">
            <a:avLst/>
          </a:prstGeom>
          <a:solidFill>
            <a:srgbClr val="0D1B2A"/>
          </a:solidFill>
          <a:ln w="12700">
            <a:solidFill>
              <a:srgbClr val="334155"/>
            </a:solidFill>
            <a:prstDash val="solid"/>
          </a:ln>
        </p:spPr>
        <p:txBody>
          <a:bodyPr/>
          <a:lstStyle/>
          <a:p>
            <a:endParaRPr lang="tr-TR"/>
          </a:p>
        </p:txBody>
      </p:sp>
      <p:sp>
        <p:nvSpPr>
          <p:cNvPr id="42" name="Text 40"/>
          <p:cNvSpPr/>
          <p:nvPr/>
        </p:nvSpPr>
        <p:spPr>
          <a:xfrm>
            <a:off x="1627632" y="2743200"/>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43" name="Shape 41"/>
          <p:cNvSpPr/>
          <p:nvPr/>
        </p:nvSpPr>
        <p:spPr>
          <a:xfrm>
            <a:off x="1938528" y="2743200"/>
            <a:ext cx="310896" cy="310896"/>
          </a:xfrm>
          <a:prstGeom prst="rect">
            <a:avLst/>
          </a:prstGeom>
          <a:solidFill>
            <a:srgbClr val="0D1B2A"/>
          </a:solidFill>
          <a:ln w="12700">
            <a:solidFill>
              <a:srgbClr val="334155"/>
            </a:solidFill>
            <a:prstDash val="solid"/>
          </a:ln>
        </p:spPr>
        <p:txBody>
          <a:bodyPr/>
          <a:lstStyle/>
          <a:p>
            <a:endParaRPr lang="tr-TR"/>
          </a:p>
        </p:txBody>
      </p:sp>
      <p:sp>
        <p:nvSpPr>
          <p:cNvPr id="44" name="Text 42"/>
          <p:cNvSpPr/>
          <p:nvPr/>
        </p:nvSpPr>
        <p:spPr>
          <a:xfrm>
            <a:off x="1938528" y="2743200"/>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45" name="Shape 43"/>
          <p:cNvSpPr/>
          <p:nvPr/>
        </p:nvSpPr>
        <p:spPr>
          <a:xfrm>
            <a:off x="384048" y="3054096"/>
            <a:ext cx="310896" cy="310896"/>
          </a:xfrm>
          <a:prstGeom prst="rect">
            <a:avLst/>
          </a:prstGeom>
          <a:solidFill>
            <a:srgbClr val="0D1B2A"/>
          </a:solidFill>
          <a:ln w="12700">
            <a:solidFill>
              <a:srgbClr val="334155"/>
            </a:solidFill>
            <a:prstDash val="solid"/>
          </a:ln>
        </p:spPr>
        <p:txBody>
          <a:bodyPr/>
          <a:lstStyle/>
          <a:p>
            <a:endParaRPr lang="tr-TR"/>
          </a:p>
        </p:txBody>
      </p:sp>
      <p:sp>
        <p:nvSpPr>
          <p:cNvPr id="46" name="Text 44"/>
          <p:cNvSpPr/>
          <p:nvPr/>
        </p:nvSpPr>
        <p:spPr>
          <a:xfrm>
            <a:off x="384048" y="3054096"/>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47" name="Shape 45"/>
          <p:cNvSpPr/>
          <p:nvPr/>
        </p:nvSpPr>
        <p:spPr>
          <a:xfrm>
            <a:off x="694944" y="3054096"/>
            <a:ext cx="310896" cy="310896"/>
          </a:xfrm>
          <a:prstGeom prst="rect">
            <a:avLst/>
          </a:prstGeom>
          <a:solidFill>
            <a:srgbClr val="0D1B2A"/>
          </a:solidFill>
          <a:ln w="12700">
            <a:solidFill>
              <a:srgbClr val="334155"/>
            </a:solidFill>
            <a:prstDash val="solid"/>
          </a:ln>
        </p:spPr>
        <p:txBody>
          <a:bodyPr/>
          <a:lstStyle/>
          <a:p>
            <a:endParaRPr lang="tr-TR"/>
          </a:p>
        </p:txBody>
      </p:sp>
      <p:sp>
        <p:nvSpPr>
          <p:cNvPr id="48" name="Text 46"/>
          <p:cNvSpPr/>
          <p:nvPr/>
        </p:nvSpPr>
        <p:spPr>
          <a:xfrm>
            <a:off x="694944" y="3054096"/>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49" name="Shape 47"/>
          <p:cNvSpPr/>
          <p:nvPr/>
        </p:nvSpPr>
        <p:spPr>
          <a:xfrm>
            <a:off x="1005840" y="3054096"/>
            <a:ext cx="310896" cy="310896"/>
          </a:xfrm>
          <a:prstGeom prst="rect">
            <a:avLst/>
          </a:prstGeom>
          <a:solidFill>
            <a:srgbClr val="0D1B2A"/>
          </a:solidFill>
          <a:ln w="12700">
            <a:solidFill>
              <a:srgbClr val="334155"/>
            </a:solidFill>
            <a:prstDash val="solid"/>
          </a:ln>
        </p:spPr>
        <p:txBody>
          <a:bodyPr/>
          <a:lstStyle/>
          <a:p>
            <a:endParaRPr lang="tr-TR"/>
          </a:p>
        </p:txBody>
      </p:sp>
      <p:sp>
        <p:nvSpPr>
          <p:cNvPr id="50" name="Text 48"/>
          <p:cNvSpPr/>
          <p:nvPr/>
        </p:nvSpPr>
        <p:spPr>
          <a:xfrm>
            <a:off x="1005840" y="3054096"/>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51" name="Shape 49"/>
          <p:cNvSpPr/>
          <p:nvPr/>
        </p:nvSpPr>
        <p:spPr>
          <a:xfrm>
            <a:off x="1316736" y="3054096"/>
            <a:ext cx="310896" cy="310896"/>
          </a:xfrm>
          <a:prstGeom prst="rect">
            <a:avLst/>
          </a:prstGeom>
          <a:solidFill>
            <a:srgbClr val="0D1B2A"/>
          </a:solidFill>
          <a:ln w="12700">
            <a:solidFill>
              <a:srgbClr val="334155"/>
            </a:solidFill>
            <a:prstDash val="solid"/>
          </a:ln>
        </p:spPr>
        <p:txBody>
          <a:bodyPr/>
          <a:lstStyle/>
          <a:p>
            <a:endParaRPr lang="tr-TR"/>
          </a:p>
        </p:txBody>
      </p:sp>
      <p:sp>
        <p:nvSpPr>
          <p:cNvPr id="52" name="Text 50"/>
          <p:cNvSpPr/>
          <p:nvPr/>
        </p:nvSpPr>
        <p:spPr>
          <a:xfrm>
            <a:off x="1316736" y="3054096"/>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53" name="Shape 51"/>
          <p:cNvSpPr/>
          <p:nvPr/>
        </p:nvSpPr>
        <p:spPr>
          <a:xfrm>
            <a:off x="1627632" y="3054096"/>
            <a:ext cx="310896" cy="310896"/>
          </a:xfrm>
          <a:prstGeom prst="rect">
            <a:avLst/>
          </a:prstGeom>
          <a:solidFill>
            <a:srgbClr val="0D1B2A"/>
          </a:solidFill>
          <a:ln w="12700">
            <a:solidFill>
              <a:srgbClr val="334155"/>
            </a:solidFill>
            <a:prstDash val="solid"/>
          </a:ln>
        </p:spPr>
        <p:txBody>
          <a:bodyPr/>
          <a:lstStyle/>
          <a:p>
            <a:endParaRPr lang="tr-TR"/>
          </a:p>
        </p:txBody>
      </p:sp>
      <p:sp>
        <p:nvSpPr>
          <p:cNvPr id="54" name="Text 52"/>
          <p:cNvSpPr/>
          <p:nvPr/>
        </p:nvSpPr>
        <p:spPr>
          <a:xfrm>
            <a:off x="1627632" y="3054096"/>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55" name="Shape 53"/>
          <p:cNvSpPr/>
          <p:nvPr/>
        </p:nvSpPr>
        <p:spPr>
          <a:xfrm>
            <a:off x="1938528" y="3054096"/>
            <a:ext cx="310896" cy="310896"/>
          </a:xfrm>
          <a:prstGeom prst="rect">
            <a:avLst/>
          </a:prstGeom>
          <a:solidFill>
            <a:srgbClr val="0D1B2A"/>
          </a:solidFill>
          <a:ln w="12700">
            <a:solidFill>
              <a:srgbClr val="334155"/>
            </a:solidFill>
            <a:prstDash val="solid"/>
          </a:ln>
        </p:spPr>
        <p:txBody>
          <a:bodyPr/>
          <a:lstStyle/>
          <a:p>
            <a:endParaRPr lang="tr-TR"/>
          </a:p>
        </p:txBody>
      </p:sp>
      <p:sp>
        <p:nvSpPr>
          <p:cNvPr id="56" name="Text 54"/>
          <p:cNvSpPr/>
          <p:nvPr/>
        </p:nvSpPr>
        <p:spPr>
          <a:xfrm>
            <a:off x="1938528" y="3054096"/>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57" name="Shape 55"/>
          <p:cNvSpPr/>
          <p:nvPr/>
        </p:nvSpPr>
        <p:spPr>
          <a:xfrm>
            <a:off x="384048" y="3364992"/>
            <a:ext cx="310896" cy="310896"/>
          </a:xfrm>
          <a:prstGeom prst="rect">
            <a:avLst/>
          </a:prstGeom>
          <a:solidFill>
            <a:srgbClr val="0D1B2A"/>
          </a:solidFill>
          <a:ln w="12700">
            <a:solidFill>
              <a:srgbClr val="334155"/>
            </a:solidFill>
            <a:prstDash val="solid"/>
          </a:ln>
        </p:spPr>
        <p:txBody>
          <a:bodyPr/>
          <a:lstStyle/>
          <a:p>
            <a:endParaRPr lang="tr-TR"/>
          </a:p>
        </p:txBody>
      </p:sp>
      <p:sp>
        <p:nvSpPr>
          <p:cNvPr id="58" name="Text 56"/>
          <p:cNvSpPr/>
          <p:nvPr/>
        </p:nvSpPr>
        <p:spPr>
          <a:xfrm>
            <a:off x="384048" y="3364992"/>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59" name="Shape 57"/>
          <p:cNvSpPr/>
          <p:nvPr/>
        </p:nvSpPr>
        <p:spPr>
          <a:xfrm>
            <a:off x="694944" y="3364992"/>
            <a:ext cx="310896" cy="310896"/>
          </a:xfrm>
          <a:prstGeom prst="rect">
            <a:avLst/>
          </a:prstGeom>
          <a:solidFill>
            <a:srgbClr val="0D1B2A"/>
          </a:solidFill>
          <a:ln w="12700">
            <a:solidFill>
              <a:srgbClr val="334155"/>
            </a:solidFill>
            <a:prstDash val="solid"/>
          </a:ln>
        </p:spPr>
        <p:txBody>
          <a:bodyPr/>
          <a:lstStyle/>
          <a:p>
            <a:endParaRPr lang="tr-TR"/>
          </a:p>
        </p:txBody>
      </p:sp>
      <p:sp>
        <p:nvSpPr>
          <p:cNvPr id="60" name="Text 58"/>
          <p:cNvSpPr/>
          <p:nvPr/>
        </p:nvSpPr>
        <p:spPr>
          <a:xfrm>
            <a:off x="694944" y="3364992"/>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61" name="Shape 59"/>
          <p:cNvSpPr/>
          <p:nvPr/>
        </p:nvSpPr>
        <p:spPr>
          <a:xfrm>
            <a:off x="1005840" y="3364992"/>
            <a:ext cx="310896" cy="310896"/>
          </a:xfrm>
          <a:prstGeom prst="rect">
            <a:avLst/>
          </a:prstGeom>
          <a:solidFill>
            <a:srgbClr val="0D1B2A"/>
          </a:solidFill>
          <a:ln w="12700">
            <a:solidFill>
              <a:srgbClr val="334155"/>
            </a:solidFill>
            <a:prstDash val="solid"/>
          </a:ln>
        </p:spPr>
        <p:txBody>
          <a:bodyPr/>
          <a:lstStyle/>
          <a:p>
            <a:endParaRPr lang="tr-TR"/>
          </a:p>
        </p:txBody>
      </p:sp>
      <p:sp>
        <p:nvSpPr>
          <p:cNvPr id="62" name="Text 60"/>
          <p:cNvSpPr/>
          <p:nvPr/>
        </p:nvSpPr>
        <p:spPr>
          <a:xfrm>
            <a:off x="1005840" y="3364992"/>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63" name="Shape 61"/>
          <p:cNvSpPr/>
          <p:nvPr/>
        </p:nvSpPr>
        <p:spPr>
          <a:xfrm>
            <a:off x="1316736" y="3364992"/>
            <a:ext cx="310896" cy="310896"/>
          </a:xfrm>
          <a:prstGeom prst="rect">
            <a:avLst/>
          </a:prstGeom>
          <a:solidFill>
            <a:srgbClr val="0D1B2A"/>
          </a:solidFill>
          <a:ln w="12700">
            <a:solidFill>
              <a:srgbClr val="334155"/>
            </a:solidFill>
            <a:prstDash val="solid"/>
          </a:ln>
        </p:spPr>
        <p:txBody>
          <a:bodyPr/>
          <a:lstStyle/>
          <a:p>
            <a:endParaRPr lang="tr-TR"/>
          </a:p>
        </p:txBody>
      </p:sp>
      <p:sp>
        <p:nvSpPr>
          <p:cNvPr id="64" name="Text 62"/>
          <p:cNvSpPr/>
          <p:nvPr/>
        </p:nvSpPr>
        <p:spPr>
          <a:xfrm>
            <a:off x="1316736" y="3364992"/>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65" name="Shape 63"/>
          <p:cNvSpPr/>
          <p:nvPr/>
        </p:nvSpPr>
        <p:spPr>
          <a:xfrm>
            <a:off x="1627632" y="3364992"/>
            <a:ext cx="310896" cy="310896"/>
          </a:xfrm>
          <a:prstGeom prst="rect">
            <a:avLst/>
          </a:prstGeom>
          <a:solidFill>
            <a:srgbClr val="0D1B2A"/>
          </a:solidFill>
          <a:ln w="12700">
            <a:solidFill>
              <a:srgbClr val="334155"/>
            </a:solidFill>
            <a:prstDash val="solid"/>
          </a:ln>
        </p:spPr>
        <p:txBody>
          <a:bodyPr/>
          <a:lstStyle/>
          <a:p>
            <a:endParaRPr lang="tr-TR"/>
          </a:p>
        </p:txBody>
      </p:sp>
      <p:sp>
        <p:nvSpPr>
          <p:cNvPr id="66" name="Text 64"/>
          <p:cNvSpPr/>
          <p:nvPr/>
        </p:nvSpPr>
        <p:spPr>
          <a:xfrm>
            <a:off x="1627632" y="3364992"/>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67" name="Shape 65"/>
          <p:cNvSpPr/>
          <p:nvPr/>
        </p:nvSpPr>
        <p:spPr>
          <a:xfrm>
            <a:off x="1938528" y="3364992"/>
            <a:ext cx="310896" cy="310896"/>
          </a:xfrm>
          <a:prstGeom prst="rect">
            <a:avLst/>
          </a:prstGeom>
          <a:solidFill>
            <a:srgbClr val="0D1B2A"/>
          </a:solidFill>
          <a:ln w="12700">
            <a:solidFill>
              <a:srgbClr val="334155"/>
            </a:solidFill>
            <a:prstDash val="solid"/>
          </a:ln>
        </p:spPr>
        <p:txBody>
          <a:bodyPr/>
          <a:lstStyle/>
          <a:p>
            <a:endParaRPr lang="tr-TR"/>
          </a:p>
        </p:txBody>
      </p:sp>
      <p:sp>
        <p:nvSpPr>
          <p:cNvPr id="68" name="Text 66"/>
          <p:cNvSpPr/>
          <p:nvPr/>
        </p:nvSpPr>
        <p:spPr>
          <a:xfrm>
            <a:off x="1938528" y="3364992"/>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69" name="Shape 67"/>
          <p:cNvSpPr/>
          <p:nvPr/>
        </p:nvSpPr>
        <p:spPr>
          <a:xfrm>
            <a:off x="384048" y="3675888"/>
            <a:ext cx="310896" cy="310896"/>
          </a:xfrm>
          <a:prstGeom prst="rect">
            <a:avLst/>
          </a:prstGeom>
          <a:solidFill>
            <a:srgbClr val="0D1B2A"/>
          </a:solidFill>
          <a:ln w="12700">
            <a:solidFill>
              <a:srgbClr val="334155"/>
            </a:solidFill>
            <a:prstDash val="solid"/>
          </a:ln>
        </p:spPr>
        <p:txBody>
          <a:bodyPr/>
          <a:lstStyle/>
          <a:p>
            <a:endParaRPr lang="tr-TR"/>
          </a:p>
        </p:txBody>
      </p:sp>
      <p:sp>
        <p:nvSpPr>
          <p:cNvPr id="70" name="Text 68"/>
          <p:cNvSpPr/>
          <p:nvPr/>
        </p:nvSpPr>
        <p:spPr>
          <a:xfrm>
            <a:off x="384048" y="3675888"/>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71" name="Shape 69"/>
          <p:cNvSpPr/>
          <p:nvPr/>
        </p:nvSpPr>
        <p:spPr>
          <a:xfrm>
            <a:off x="694944" y="3675888"/>
            <a:ext cx="310896" cy="310896"/>
          </a:xfrm>
          <a:prstGeom prst="rect">
            <a:avLst/>
          </a:prstGeom>
          <a:solidFill>
            <a:srgbClr val="0D1B2A"/>
          </a:solidFill>
          <a:ln w="12700">
            <a:solidFill>
              <a:srgbClr val="334155"/>
            </a:solidFill>
            <a:prstDash val="solid"/>
          </a:ln>
        </p:spPr>
        <p:txBody>
          <a:bodyPr/>
          <a:lstStyle/>
          <a:p>
            <a:endParaRPr lang="tr-TR"/>
          </a:p>
        </p:txBody>
      </p:sp>
      <p:sp>
        <p:nvSpPr>
          <p:cNvPr id="72" name="Text 70"/>
          <p:cNvSpPr/>
          <p:nvPr/>
        </p:nvSpPr>
        <p:spPr>
          <a:xfrm>
            <a:off x="694944" y="3675888"/>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73" name="Shape 71"/>
          <p:cNvSpPr/>
          <p:nvPr/>
        </p:nvSpPr>
        <p:spPr>
          <a:xfrm>
            <a:off x="1005840" y="3675888"/>
            <a:ext cx="310896" cy="310896"/>
          </a:xfrm>
          <a:prstGeom prst="rect">
            <a:avLst/>
          </a:prstGeom>
          <a:solidFill>
            <a:srgbClr val="0D1B2A"/>
          </a:solidFill>
          <a:ln w="12700">
            <a:solidFill>
              <a:srgbClr val="334155"/>
            </a:solidFill>
            <a:prstDash val="solid"/>
          </a:ln>
        </p:spPr>
        <p:txBody>
          <a:bodyPr/>
          <a:lstStyle/>
          <a:p>
            <a:endParaRPr lang="tr-TR"/>
          </a:p>
        </p:txBody>
      </p:sp>
      <p:sp>
        <p:nvSpPr>
          <p:cNvPr id="74" name="Text 72"/>
          <p:cNvSpPr/>
          <p:nvPr/>
        </p:nvSpPr>
        <p:spPr>
          <a:xfrm>
            <a:off x="1005840" y="3675888"/>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75" name="Shape 73"/>
          <p:cNvSpPr/>
          <p:nvPr/>
        </p:nvSpPr>
        <p:spPr>
          <a:xfrm>
            <a:off x="1316736" y="3675888"/>
            <a:ext cx="310896" cy="310896"/>
          </a:xfrm>
          <a:prstGeom prst="rect">
            <a:avLst/>
          </a:prstGeom>
          <a:solidFill>
            <a:srgbClr val="0D1B2A"/>
          </a:solidFill>
          <a:ln w="12700">
            <a:solidFill>
              <a:srgbClr val="334155"/>
            </a:solidFill>
            <a:prstDash val="solid"/>
          </a:ln>
        </p:spPr>
        <p:txBody>
          <a:bodyPr/>
          <a:lstStyle/>
          <a:p>
            <a:endParaRPr lang="tr-TR"/>
          </a:p>
        </p:txBody>
      </p:sp>
      <p:sp>
        <p:nvSpPr>
          <p:cNvPr id="76" name="Text 74"/>
          <p:cNvSpPr/>
          <p:nvPr/>
        </p:nvSpPr>
        <p:spPr>
          <a:xfrm>
            <a:off x="1316736" y="3675888"/>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77" name="Shape 75"/>
          <p:cNvSpPr/>
          <p:nvPr/>
        </p:nvSpPr>
        <p:spPr>
          <a:xfrm>
            <a:off x="1627632" y="3675888"/>
            <a:ext cx="310896" cy="310896"/>
          </a:xfrm>
          <a:prstGeom prst="rect">
            <a:avLst/>
          </a:prstGeom>
          <a:solidFill>
            <a:srgbClr val="0D1B2A"/>
          </a:solidFill>
          <a:ln w="12700">
            <a:solidFill>
              <a:srgbClr val="334155"/>
            </a:solidFill>
            <a:prstDash val="solid"/>
          </a:ln>
        </p:spPr>
        <p:txBody>
          <a:bodyPr/>
          <a:lstStyle/>
          <a:p>
            <a:endParaRPr lang="tr-TR"/>
          </a:p>
        </p:txBody>
      </p:sp>
      <p:sp>
        <p:nvSpPr>
          <p:cNvPr id="78" name="Text 76"/>
          <p:cNvSpPr/>
          <p:nvPr/>
        </p:nvSpPr>
        <p:spPr>
          <a:xfrm>
            <a:off x="1627632" y="3675888"/>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0</a:t>
            </a:r>
            <a:endParaRPr lang="en-US" sz="1000" dirty="0"/>
          </a:p>
        </p:txBody>
      </p:sp>
      <p:sp>
        <p:nvSpPr>
          <p:cNvPr id="79" name="Shape 77"/>
          <p:cNvSpPr/>
          <p:nvPr/>
        </p:nvSpPr>
        <p:spPr>
          <a:xfrm>
            <a:off x="1938528" y="3675888"/>
            <a:ext cx="310896" cy="310896"/>
          </a:xfrm>
          <a:prstGeom prst="rect">
            <a:avLst/>
          </a:prstGeom>
          <a:solidFill>
            <a:srgbClr val="0D1B2A"/>
          </a:solidFill>
          <a:ln w="12700">
            <a:solidFill>
              <a:srgbClr val="334155"/>
            </a:solidFill>
            <a:prstDash val="solid"/>
          </a:ln>
        </p:spPr>
        <p:txBody>
          <a:bodyPr/>
          <a:lstStyle/>
          <a:p>
            <a:endParaRPr lang="tr-TR"/>
          </a:p>
        </p:txBody>
      </p:sp>
      <p:sp>
        <p:nvSpPr>
          <p:cNvPr id="80" name="Text 78"/>
          <p:cNvSpPr/>
          <p:nvPr/>
        </p:nvSpPr>
        <p:spPr>
          <a:xfrm>
            <a:off x="1938528" y="3675888"/>
            <a:ext cx="310896" cy="310896"/>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
        <p:nvSpPr>
          <p:cNvPr id="81" name="Text 79"/>
          <p:cNvSpPr/>
          <p:nvPr/>
        </p:nvSpPr>
        <p:spPr>
          <a:xfrm>
            <a:off x="2468880" y="1828800"/>
            <a:ext cx="1463040" cy="256032"/>
          </a:xfrm>
          <a:prstGeom prst="rect">
            <a:avLst/>
          </a:prstGeom>
          <a:noFill/>
          <a:ln/>
        </p:spPr>
        <p:txBody>
          <a:bodyPr wrap="square" lIns="0" tIns="0" rIns="0" bIns="0" rtlCol="0" anchor="ctr"/>
          <a:lstStyle/>
          <a:p>
            <a:pPr marL="0" indent="0">
              <a:buNone/>
            </a:pPr>
            <a:r>
              <a:rPr lang="en-US" sz="1000" b="1" dirty="0">
                <a:solidFill>
                  <a:srgbClr val="84CC16"/>
                </a:solidFill>
                <a:latin typeface="Calibri" pitchFamily="34" charset="0"/>
                <a:ea typeface="Calibri" pitchFamily="34" charset="-122"/>
                <a:cs typeface="Calibri" pitchFamily="34" charset="-120"/>
              </a:rPr>
              <a:t>3×3 Çekirdek</a:t>
            </a:r>
            <a:endParaRPr lang="en-US" sz="1000" dirty="0"/>
          </a:p>
        </p:txBody>
      </p:sp>
      <p:sp>
        <p:nvSpPr>
          <p:cNvPr id="82" name="Text 80"/>
          <p:cNvSpPr/>
          <p:nvPr/>
        </p:nvSpPr>
        <p:spPr>
          <a:xfrm>
            <a:off x="2331720" y="2816352"/>
            <a:ext cx="256032" cy="34747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83" name="Shape 81"/>
          <p:cNvSpPr/>
          <p:nvPr/>
        </p:nvSpPr>
        <p:spPr>
          <a:xfrm>
            <a:off x="2514600" y="2487168"/>
            <a:ext cx="310896" cy="310896"/>
          </a:xfrm>
          <a:prstGeom prst="rect">
            <a:avLst/>
          </a:prstGeom>
          <a:solidFill>
            <a:srgbClr val="1B2F4A"/>
          </a:solidFill>
          <a:ln w="12700">
            <a:solidFill>
              <a:srgbClr val="84CC16"/>
            </a:solidFill>
            <a:prstDash val="solid"/>
          </a:ln>
        </p:spPr>
        <p:txBody>
          <a:bodyPr/>
          <a:lstStyle/>
          <a:p>
            <a:endParaRPr lang="tr-TR"/>
          </a:p>
        </p:txBody>
      </p:sp>
      <p:sp>
        <p:nvSpPr>
          <p:cNvPr id="84" name="Text 82"/>
          <p:cNvSpPr/>
          <p:nvPr/>
        </p:nvSpPr>
        <p:spPr>
          <a:xfrm>
            <a:off x="2514600" y="2487168"/>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1</a:t>
            </a:r>
            <a:endParaRPr lang="en-US" sz="1000" dirty="0"/>
          </a:p>
        </p:txBody>
      </p:sp>
      <p:sp>
        <p:nvSpPr>
          <p:cNvPr id="85" name="Shape 83"/>
          <p:cNvSpPr/>
          <p:nvPr/>
        </p:nvSpPr>
        <p:spPr>
          <a:xfrm>
            <a:off x="2825496" y="2487168"/>
            <a:ext cx="310896" cy="310896"/>
          </a:xfrm>
          <a:prstGeom prst="rect">
            <a:avLst/>
          </a:prstGeom>
          <a:solidFill>
            <a:srgbClr val="1B2F4A"/>
          </a:solidFill>
          <a:ln w="12700">
            <a:solidFill>
              <a:srgbClr val="84CC16"/>
            </a:solidFill>
            <a:prstDash val="solid"/>
          </a:ln>
        </p:spPr>
        <p:txBody>
          <a:bodyPr/>
          <a:lstStyle/>
          <a:p>
            <a:endParaRPr lang="tr-TR"/>
          </a:p>
        </p:txBody>
      </p:sp>
      <p:sp>
        <p:nvSpPr>
          <p:cNvPr id="86" name="Text 84"/>
          <p:cNvSpPr/>
          <p:nvPr/>
        </p:nvSpPr>
        <p:spPr>
          <a:xfrm>
            <a:off x="2825496" y="2487168"/>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0</a:t>
            </a:r>
            <a:endParaRPr lang="en-US" sz="1000" dirty="0"/>
          </a:p>
        </p:txBody>
      </p:sp>
      <p:sp>
        <p:nvSpPr>
          <p:cNvPr id="87" name="Shape 85"/>
          <p:cNvSpPr/>
          <p:nvPr/>
        </p:nvSpPr>
        <p:spPr>
          <a:xfrm>
            <a:off x="3136392" y="2487168"/>
            <a:ext cx="310896" cy="310896"/>
          </a:xfrm>
          <a:prstGeom prst="rect">
            <a:avLst/>
          </a:prstGeom>
          <a:solidFill>
            <a:srgbClr val="1B2F4A"/>
          </a:solidFill>
          <a:ln w="12700">
            <a:solidFill>
              <a:srgbClr val="84CC16"/>
            </a:solidFill>
            <a:prstDash val="solid"/>
          </a:ln>
        </p:spPr>
        <p:txBody>
          <a:bodyPr/>
          <a:lstStyle/>
          <a:p>
            <a:endParaRPr lang="tr-TR"/>
          </a:p>
        </p:txBody>
      </p:sp>
      <p:sp>
        <p:nvSpPr>
          <p:cNvPr id="88" name="Text 86"/>
          <p:cNvSpPr/>
          <p:nvPr/>
        </p:nvSpPr>
        <p:spPr>
          <a:xfrm>
            <a:off x="3136392" y="2487168"/>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1</a:t>
            </a:r>
            <a:endParaRPr lang="en-US" sz="1000" dirty="0"/>
          </a:p>
        </p:txBody>
      </p:sp>
      <p:sp>
        <p:nvSpPr>
          <p:cNvPr id="89" name="Shape 87"/>
          <p:cNvSpPr/>
          <p:nvPr/>
        </p:nvSpPr>
        <p:spPr>
          <a:xfrm>
            <a:off x="2514600" y="2798064"/>
            <a:ext cx="310896" cy="310896"/>
          </a:xfrm>
          <a:prstGeom prst="rect">
            <a:avLst/>
          </a:prstGeom>
          <a:solidFill>
            <a:srgbClr val="1B2F4A"/>
          </a:solidFill>
          <a:ln w="12700">
            <a:solidFill>
              <a:srgbClr val="84CC16"/>
            </a:solidFill>
            <a:prstDash val="solid"/>
          </a:ln>
        </p:spPr>
        <p:txBody>
          <a:bodyPr/>
          <a:lstStyle/>
          <a:p>
            <a:endParaRPr lang="tr-TR"/>
          </a:p>
        </p:txBody>
      </p:sp>
      <p:sp>
        <p:nvSpPr>
          <p:cNvPr id="90" name="Text 88"/>
          <p:cNvSpPr/>
          <p:nvPr/>
        </p:nvSpPr>
        <p:spPr>
          <a:xfrm>
            <a:off x="2514600" y="2798064"/>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0</a:t>
            </a:r>
            <a:endParaRPr lang="en-US" sz="1000" dirty="0"/>
          </a:p>
        </p:txBody>
      </p:sp>
      <p:sp>
        <p:nvSpPr>
          <p:cNvPr id="91" name="Shape 89"/>
          <p:cNvSpPr/>
          <p:nvPr/>
        </p:nvSpPr>
        <p:spPr>
          <a:xfrm>
            <a:off x="2825496" y="2798064"/>
            <a:ext cx="310896" cy="310896"/>
          </a:xfrm>
          <a:prstGeom prst="rect">
            <a:avLst/>
          </a:prstGeom>
          <a:solidFill>
            <a:srgbClr val="1B2F4A"/>
          </a:solidFill>
          <a:ln w="12700">
            <a:solidFill>
              <a:srgbClr val="84CC16"/>
            </a:solidFill>
            <a:prstDash val="solid"/>
          </a:ln>
        </p:spPr>
        <p:txBody>
          <a:bodyPr/>
          <a:lstStyle/>
          <a:p>
            <a:endParaRPr lang="tr-TR"/>
          </a:p>
        </p:txBody>
      </p:sp>
      <p:sp>
        <p:nvSpPr>
          <p:cNvPr id="92" name="Text 90"/>
          <p:cNvSpPr/>
          <p:nvPr/>
        </p:nvSpPr>
        <p:spPr>
          <a:xfrm>
            <a:off x="2825496" y="2798064"/>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1</a:t>
            </a:r>
            <a:endParaRPr lang="en-US" sz="1000" dirty="0"/>
          </a:p>
        </p:txBody>
      </p:sp>
      <p:sp>
        <p:nvSpPr>
          <p:cNvPr id="93" name="Shape 91"/>
          <p:cNvSpPr/>
          <p:nvPr/>
        </p:nvSpPr>
        <p:spPr>
          <a:xfrm>
            <a:off x="3136392" y="2798064"/>
            <a:ext cx="310896" cy="310896"/>
          </a:xfrm>
          <a:prstGeom prst="rect">
            <a:avLst/>
          </a:prstGeom>
          <a:solidFill>
            <a:srgbClr val="1B2F4A"/>
          </a:solidFill>
          <a:ln w="12700">
            <a:solidFill>
              <a:srgbClr val="84CC16"/>
            </a:solidFill>
            <a:prstDash val="solid"/>
          </a:ln>
        </p:spPr>
        <p:txBody>
          <a:bodyPr/>
          <a:lstStyle/>
          <a:p>
            <a:endParaRPr lang="tr-TR"/>
          </a:p>
        </p:txBody>
      </p:sp>
      <p:sp>
        <p:nvSpPr>
          <p:cNvPr id="94" name="Text 92"/>
          <p:cNvSpPr/>
          <p:nvPr/>
        </p:nvSpPr>
        <p:spPr>
          <a:xfrm>
            <a:off x="3136392" y="2798064"/>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0</a:t>
            </a:r>
            <a:endParaRPr lang="en-US" sz="1000" dirty="0"/>
          </a:p>
        </p:txBody>
      </p:sp>
      <p:sp>
        <p:nvSpPr>
          <p:cNvPr id="95" name="Shape 93"/>
          <p:cNvSpPr/>
          <p:nvPr/>
        </p:nvSpPr>
        <p:spPr>
          <a:xfrm>
            <a:off x="2514600" y="3108960"/>
            <a:ext cx="310896" cy="310896"/>
          </a:xfrm>
          <a:prstGeom prst="rect">
            <a:avLst/>
          </a:prstGeom>
          <a:solidFill>
            <a:srgbClr val="1B2F4A"/>
          </a:solidFill>
          <a:ln w="12700">
            <a:solidFill>
              <a:srgbClr val="84CC16"/>
            </a:solidFill>
            <a:prstDash val="solid"/>
          </a:ln>
        </p:spPr>
        <p:txBody>
          <a:bodyPr/>
          <a:lstStyle/>
          <a:p>
            <a:endParaRPr lang="tr-TR"/>
          </a:p>
        </p:txBody>
      </p:sp>
      <p:sp>
        <p:nvSpPr>
          <p:cNvPr id="96" name="Text 94"/>
          <p:cNvSpPr/>
          <p:nvPr/>
        </p:nvSpPr>
        <p:spPr>
          <a:xfrm>
            <a:off x="2514600" y="3108960"/>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1</a:t>
            </a:r>
            <a:endParaRPr lang="en-US" sz="1000" dirty="0"/>
          </a:p>
        </p:txBody>
      </p:sp>
      <p:sp>
        <p:nvSpPr>
          <p:cNvPr id="97" name="Shape 95"/>
          <p:cNvSpPr/>
          <p:nvPr/>
        </p:nvSpPr>
        <p:spPr>
          <a:xfrm>
            <a:off x="2825496" y="3108960"/>
            <a:ext cx="310896" cy="310896"/>
          </a:xfrm>
          <a:prstGeom prst="rect">
            <a:avLst/>
          </a:prstGeom>
          <a:solidFill>
            <a:srgbClr val="1B2F4A"/>
          </a:solidFill>
          <a:ln w="12700">
            <a:solidFill>
              <a:srgbClr val="84CC16"/>
            </a:solidFill>
            <a:prstDash val="solid"/>
          </a:ln>
        </p:spPr>
        <p:txBody>
          <a:bodyPr/>
          <a:lstStyle/>
          <a:p>
            <a:endParaRPr lang="tr-TR"/>
          </a:p>
        </p:txBody>
      </p:sp>
      <p:sp>
        <p:nvSpPr>
          <p:cNvPr id="98" name="Text 96"/>
          <p:cNvSpPr/>
          <p:nvPr/>
        </p:nvSpPr>
        <p:spPr>
          <a:xfrm>
            <a:off x="2825496" y="3108960"/>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0</a:t>
            </a:r>
            <a:endParaRPr lang="en-US" sz="1000" dirty="0"/>
          </a:p>
        </p:txBody>
      </p:sp>
      <p:sp>
        <p:nvSpPr>
          <p:cNvPr id="99" name="Shape 97"/>
          <p:cNvSpPr/>
          <p:nvPr/>
        </p:nvSpPr>
        <p:spPr>
          <a:xfrm>
            <a:off x="3136392" y="3108960"/>
            <a:ext cx="310896" cy="310896"/>
          </a:xfrm>
          <a:prstGeom prst="rect">
            <a:avLst/>
          </a:prstGeom>
          <a:solidFill>
            <a:srgbClr val="1B2F4A"/>
          </a:solidFill>
          <a:ln w="12700">
            <a:solidFill>
              <a:srgbClr val="84CC16"/>
            </a:solidFill>
            <a:prstDash val="solid"/>
          </a:ln>
        </p:spPr>
        <p:txBody>
          <a:bodyPr/>
          <a:lstStyle/>
          <a:p>
            <a:endParaRPr lang="tr-TR"/>
          </a:p>
        </p:txBody>
      </p:sp>
      <p:sp>
        <p:nvSpPr>
          <p:cNvPr id="100" name="Text 98"/>
          <p:cNvSpPr/>
          <p:nvPr/>
        </p:nvSpPr>
        <p:spPr>
          <a:xfrm>
            <a:off x="3136392" y="3108960"/>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1</a:t>
            </a:r>
            <a:endParaRPr lang="en-US" sz="1000" dirty="0"/>
          </a:p>
        </p:txBody>
      </p:sp>
      <p:sp>
        <p:nvSpPr>
          <p:cNvPr id="101" name="Text 99"/>
          <p:cNvSpPr/>
          <p:nvPr/>
        </p:nvSpPr>
        <p:spPr>
          <a:xfrm>
            <a:off x="3730752" y="1828800"/>
            <a:ext cx="2194560" cy="256032"/>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4×4 Aktivasyon Haritası</a:t>
            </a:r>
            <a:endParaRPr lang="en-US" sz="1000" dirty="0"/>
          </a:p>
        </p:txBody>
      </p:sp>
      <p:sp>
        <p:nvSpPr>
          <p:cNvPr id="102" name="Text 100"/>
          <p:cNvSpPr/>
          <p:nvPr/>
        </p:nvSpPr>
        <p:spPr>
          <a:xfrm>
            <a:off x="3511296" y="2816352"/>
            <a:ext cx="256032" cy="34747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03" name="Shape 101"/>
          <p:cNvSpPr/>
          <p:nvPr/>
        </p:nvSpPr>
        <p:spPr>
          <a:xfrm>
            <a:off x="3730752" y="2212848"/>
            <a:ext cx="310896" cy="310896"/>
          </a:xfrm>
          <a:prstGeom prst="rect">
            <a:avLst/>
          </a:prstGeom>
          <a:solidFill>
            <a:srgbClr val="243B55"/>
          </a:solidFill>
          <a:ln w="12700">
            <a:solidFill>
              <a:srgbClr val="0891B2"/>
            </a:solidFill>
            <a:prstDash val="solid"/>
          </a:ln>
        </p:spPr>
        <p:txBody>
          <a:bodyPr/>
          <a:lstStyle/>
          <a:p>
            <a:endParaRPr lang="tr-TR"/>
          </a:p>
        </p:txBody>
      </p:sp>
      <p:sp>
        <p:nvSpPr>
          <p:cNvPr id="104" name="Text 102"/>
          <p:cNvSpPr/>
          <p:nvPr/>
        </p:nvSpPr>
        <p:spPr>
          <a:xfrm>
            <a:off x="3730752" y="2212848"/>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3</a:t>
            </a:r>
            <a:endParaRPr lang="en-US" sz="1000" dirty="0"/>
          </a:p>
        </p:txBody>
      </p:sp>
      <p:sp>
        <p:nvSpPr>
          <p:cNvPr id="105" name="Shape 103"/>
          <p:cNvSpPr/>
          <p:nvPr/>
        </p:nvSpPr>
        <p:spPr>
          <a:xfrm>
            <a:off x="4041648" y="2212848"/>
            <a:ext cx="310896" cy="310896"/>
          </a:xfrm>
          <a:prstGeom prst="rect">
            <a:avLst/>
          </a:prstGeom>
          <a:solidFill>
            <a:srgbClr val="243B55"/>
          </a:solidFill>
          <a:ln w="12700">
            <a:solidFill>
              <a:srgbClr val="0891B2"/>
            </a:solidFill>
            <a:prstDash val="solid"/>
          </a:ln>
        </p:spPr>
        <p:txBody>
          <a:bodyPr/>
          <a:lstStyle/>
          <a:p>
            <a:endParaRPr lang="tr-TR"/>
          </a:p>
        </p:txBody>
      </p:sp>
      <p:sp>
        <p:nvSpPr>
          <p:cNvPr id="106" name="Text 104"/>
          <p:cNvSpPr/>
          <p:nvPr/>
        </p:nvSpPr>
        <p:spPr>
          <a:xfrm>
            <a:off x="4041648" y="2212848"/>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0</a:t>
            </a:r>
            <a:endParaRPr lang="en-US" sz="1000" dirty="0"/>
          </a:p>
        </p:txBody>
      </p:sp>
      <p:sp>
        <p:nvSpPr>
          <p:cNvPr id="107" name="Shape 105"/>
          <p:cNvSpPr/>
          <p:nvPr/>
        </p:nvSpPr>
        <p:spPr>
          <a:xfrm>
            <a:off x="4352544" y="2212848"/>
            <a:ext cx="310896" cy="310896"/>
          </a:xfrm>
          <a:prstGeom prst="rect">
            <a:avLst/>
          </a:prstGeom>
          <a:solidFill>
            <a:srgbClr val="243B55"/>
          </a:solidFill>
          <a:ln w="12700">
            <a:solidFill>
              <a:srgbClr val="0891B2"/>
            </a:solidFill>
            <a:prstDash val="solid"/>
          </a:ln>
        </p:spPr>
        <p:txBody>
          <a:bodyPr/>
          <a:lstStyle/>
          <a:p>
            <a:endParaRPr lang="tr-TR"/>
          </a:p>
        </p:txBody>
      </p:sp>
      <p:sp>
        <p:nvSpPr>
          <p:cNvPr id="108" name="Text 106"/>
          <p:cNvSpPr/>
          <p:nvPr/>
        </p:nvSpPr>
        <p:spPr>
          <a:xfrm>
            <a:off x="4352544" y="2212848"/>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2</a:t>
            </a:r>
            <a:endParaRPr lang="en-US" sz="1000" dirty="0"/>
          </a:p>
        </p:txBody>
      </p:sp>
      <p:sp>
        <p:nvSpPr>
          <p:cNvPr id="109" name="Shape 107"/>
          <p:cNvSpPr/>
          <p:nvPr/>
        </p:nvSpPr>
        <p:spPr>
          <a:xfrm>
            <a:off x="4663440" y="2212848"/>
            <a:ext cx="310896" cy="310896"/>
          </a:xfrm>
          <a:prstGeom prst="rect">
            <a:avLst/>
          </a:prstGeom>
          <a:solidFill>
            <a:srgbClr val="065F46"/>
          </a:solidFill>
          <a:ln w="12700">
            <a:solidFill>
              <a:srgbClr val="84CC16"/>
            </a:solidFill>
            <a:prstDash val="solid"/>
          </a:ln>
        </p:spPr>
        <p:txBody>
          <a:bodyPr/>
          <a:lstStyle/>
          <a:p>
            <a:endParaRPr lang="tr-TR"/>
          </a:p>
        </p:txBody>
      </p:sp>
      <p:sp>
        <p:nvSpPr>
          <p:cNvPr id="110" name="Text 108"/>
          <p:cNvSpPr/>
          <p:nvPr/>
        </p:nvSpPr>
        <p:spPr>
          <a:xfrm>
            <a:off x="4663440" y="2212848"/>
            <a:ext cx="310896" cy="310896"/>
          </a:xfrm>
          <a:prstGeom prst="rect">
            <a:avLst/>
          </a:prstGeom>
          <a:noFill/>
          <a:ln/>
        </p:spPr>
        <p:txBody>
          <a:bodyPr wrap="square" lIns="0" tIns="0" rIns="0" bIns="0" rtlCol="0" anchor="ctr"/>
          <a:lstStyle/>
          <a:p>
            <a:pPr marL="0" indent="0" algn="ctr">
              <a:buNone/>
            </a:pPr>
            <a:r>
              <a:rPr lang="en-US" sz="1000" dirty="0">
                <a:solidFill>
                  <a:srgbClr val="84CC16"/>
                </a:solidFill>
                <a:latin typeface="Calibri" pitchFamily="34" charset="0"/>
                <a:ea typeface="Calibri" pitchFamily="34" charset="-122"/>
                <a:cs typeface="Calibri" pitchFamily="34" charset="-120"/>
              </a:rPr>
              <a:t>2</a:t>
            </a:r>
            <a:endParaRPr lang="en-US" sz="1000" dirty="0"/>
          </a:p>
        </p:txBody>
      </p:sp>
      <p:sp>
        <p:nvSpPr>
          <p:cNvPr id="111" name="Shape 109"/>
          <p:cNvSpPr/>
          <p:nvPr/>
        </p:nvSpPr>
        <p:spPr>
          <a:xfrm>
            <a:off x="3730752" y="2523744"/>
            <a:ext cx="310896" cy="310896"/>
          </a:xfrm>
          <a:prstGeom prst="rect">
            <a:avLst/>
          </a:prstGeom>
          <a:solidFill>
            <a:srgbClr val="243B55"/>
          </a:solidFill>
          <a:ln w="12700">
            <a:solidFill>
              <a:srgbClr val="0891B2"/>
            </a:solidFill>
            <a:prstDash val="solid"/>
          </a:ln>
        </p:spPr>
        <p:txBody>
          <a:bodyPr/>
          <a:lstStyle/>
          <a:p>
            <a:endParaRPr lang="tr-TR"/>
          </a:p>
        </p:txBody>
      </p:sp>
      <p:sp>
        <p:nvSpPr>
          <p:cNvPr id="112" name="Text 110"/>
          <p:cNvSpPr/>
          <p:nvPr/>
        </p:nvSpPr>
        <p:spPr>
          <a:xfrm>
            <a:off x="3730752" y="2523744"/>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0</a:t>
            </a:r>
            <a:endParaRPr lang="en-US" sz="1000" dirty="0"/>
          </a:p>
        </p:txBody>
      </p:sp>
      <p:sp>
        <p:nvSpPr>
          <p:cNvPr id="113" name="Shape 111"/>
          <p:cNvSpPr/>
          <p:nvPr/>
        </p:nvSpPr>
        <p:spPr>
          <a:xfrm>
            <a:off x="4041648" y="2523744"/>
            <a:ext cx="310896" cy="310896"/>
          </a:xfrm>
          <a:prstGeom prst="rect">
            <a:avLst/>
          </a:prstGeom>
          <a:solidFill>
            <a:srgbClr val="243B55"/>
          </a:solidFill>
          <a:ln w="12700">
            <a:solidFill>
              <a:srgbClr val="0891B2"/>
            </a:solidFill>
            <a:prstDash val="solid"/>
          </a:ln>
        </p:spPr>
        <p:txBody>
          <a:bodyPr/>
          <a:lstStyle/>
          <a:p>
            <a:endParaRPr lang="tr-TR"/>
          </a:p>
        </p:txBody>
      </p:sp>
      <p:sp>
        <p:nvSpPr>
          <p:cNvPr id="114" name="Text 112"/>
          <p:cNvSpPr/>
          <p:nvPr/>
        </p:nvSpPr>
        <p:spPr>
          <a:xfrm>
            <a:off x="4041648" y="2523744"/>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3</a:t>
            </a:r>
            <a:endParaRPr lang="en-US" sz="1000" dirty="0"/>
          </a:p>
        </p:txBody>
      </p:sp>
      <p:sp>
        <p:nvSpPr>
          <p:cNvPr id="115" name="Shape 113"/>
          <p:cNvSpPr/>
          <p:nvPr/>
        </p:nvSpPr>
        <p:spPr>
          <a:xfrm>
            <a:off x="4352544" y="2523744"/>
            <a:ext cx="310896" cy="310896"/>
          </a:xfrm>
          <a:prstGeom prst="rect">
            <a:avLst/>
          </a:prstGeom>
          <a:solidFill>
            <a:srgbClr val="243B55"/>
          </a:solidFill>
          <a:ln w="12700">
            <a:solidFill>
              <a:srgbClr val="0891B2"/>
            </a:solidFill>
            <a:prstDash val="solid"/>
          </a:ln>
        </p:spPr>
        <p:txBody>
          <a:bodyPr/>
          <a:lstStyle/>
          <a:p>
            <a:endParaRPr lang="tr-TR"/>
          </a:p>
        </p:txBody>
      </p:sp>
      <p:sp>
        <p:nvSpPr>
          <p:cNvPr id="116" name="Text 114"/>
          <p:cNvSpPr/>
          <p:nvPr/>
        </p:nvSpPr>
        <p:spPr>
          <a:xfrm>
            <a:off x="4352544" y="2523744"/>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2</a:t>
            </a:r>
            <a:endParaRPr lang="en-US" sz="1000" dirty="0"/>
          </a:p>
        </p:txBody>
      </p:sp>
      <p:sp>
        <p:nvSpPr>
          <p:cNvPr id="117" name="Shape 115"/>
          <p:cNvSpPr/>
          <p:nvPr/>
        </p:nvSpPr>
        <p:spPr>
          <a:xfrm>
            <a:off x="4663440" y="2523744"/>
            <a:ext cx="310896" cy="310896"/>
          </a:xfrm>
          <a:prstGeom prst="rect">
            <a:avLst/>
          </a:prstGeom>
          <a:solidFill>
            <a:srgbClr val="243B55"/>
          </a:solidFill>
          <a:ln w="12700">
            <a:solidFill>
              <a:srgbClr val="0891B2"/>
            </a:solidFill>
            <a:prstDash val="solid"/>
          </a:ln>
        </p:spPr>
        <p:txBody>
          <a:bodyPr/>
          <a:lstStyle/>
          <a:p>
            <a:endParaRPr lang="tr-TR"/>
          </a:p>
        </p:txBody>
      </p:sp>
      <p:sp>
        <p:nvSpPr>
          <p:cNvPr id="118" name="Text 116"/>
          <p:cNvSpPr/>
          <p:nvPr/>
        </p:nvSpPr>
        <p:spPr>
          <a:xfrm>
            <a:off x="4663440" y="2523744"/>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3</a:t>
            </a:r>
            <a:endParaRPr lang="en-US" sz="1000" dirty="0"/>
          </a:p>
        </p:txBody>
      </p:sp>
      <p:sp>
        <p:nvSpPr>
          <p:cNvPr id="119" name="Shape 117"/>
          <p:cNvSpPr/>
          <p:nvPr/>
        </p:nvSpPr>
        <p:spPr>
          <a:xfrm>
            <a:off x="3730752" y="2834640"/>
            <a:ext cx="310896" cy="310896"/>
          </a:xfrm>
          <a:prstGeom prst="rect">
            <a:avLst/>
          </a:prstGeom>
          <a:solidFill>
            <a:srgbClr val="243B55"/>
          </a:solidFill>
          <a:ln w="12700">
            <a:solidFill>
              <a:srgbClr val="0891B2"/>
            </a:solidFill>
            <a:prstDash val="solid"/>
          </a:ln>
        </p:spPr>
        <p:txBody>
          <a:bodyPr/>
          <a:lstStyle/>
          <a:p>
            <a:endParaRPr lang="tr-TR"/>
          </a:p>
        </p:txBody>
      </p:sp>
      <p:sp>
        <p:nvSpPr>
          <p:cNvPr id="120" name="Text 118"/>
          <p:cNvSpPr/>
          <p:nvPr/>
        </p:nvSpPr>
        <p:spPr>
          <a:xfrm>
            <a:off x="3730752" y="2834640"/>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3</a:t>
            </a:r>
            <a:endParaRPr lang="en-US" sz="1000" dirty="0"/>
          </a:p>
        </p:txBody>
      </p:sp>
      <p:sp>
        <p:nvSpPr>
          <p:cNvPr id="121" name="Shape 119"/>
          <p:cNvSpPr/>
          <p:nvPr/>
        </p:nvSpPr>
        <p:spPr>
          <a:xfrm>
            <a:off x="4041648" y="2834640"/>
            <a:ext cx="310896" cy="310896"/>
          </a:xfrm>
          <a:prstGeom prst="rect">
            <a:avLst/>
          </a:prstGeom>
          <a:solidFill>
            <a:srgbClr val="243B55"/>
          </a:solidFill>
          <a:ln w="12700">
            <a:solidFill>
              <a:srgbClr val="0891B2"/>
            </a:solidFill>
            <a:prstDash val="solid"/>
          </a:ln>
        </p:spPr>
        <p:txBody>
          <a:bodyPr/>
          <a:lstStyle/>
          <a:p>
            <a:endParaRPr lang="tr-TR"/>
          </a:p>
        </p:txBody>
      </p:sp>
      <p:sp>
        <p:nvSpPr>
          <p:cNvPr id="122" name="Text 120"/>
          <p:cNvSpPr/>
          <p:nvPr/>
        </p:nvSpPr>
        <p:spPr>
          <a:xfrm>
            <a:off x="4041648" y="2834640"/>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1</a:t>
            </a:r>
            <a:endParaRPr lang="en-US" sz="1000" dirty="0"/>
          </a:p>
        </p:txBody>
      </p:sp>
      <p:sp>
        <p:nvSpPr>
          <p:cNvPr id="123" name="Shape 121"/>
          <p:cNvSpPr/>
          <p:nvPr/>
        </p:nvSpPr>
        <p:spPr>
          <a:xfrm>
            <a:off x="4352544" y="2834640"/>
            <a:ext cx="310896" cy="310896"/>
          </a:xfrm>
          <a:prstGeom prst="rect">
            <a:avLst/>
          </a:prstGeom>
          <a:solidFill>
            <a:srgbClr val="243B55"/>
          </a:solidFill>
          <a:ln w="12700">
            <a:solidFill>
              <a:srgbClr val="0891B2"/>
            </a:solidFill>
            <a:prstDash val="solid"/>
          </a:ln>
        </p:spPr>
        <p:txBody>
          <a:bodyPr/>
          <a:lstStyle/>
          <a:p>
            <a:endParaRPr lang="tr-TR"/>
          </a:p>
        </p:txBody>
      </p:sp>
      <p:sp>
        <p:nvSpPr>
          <p:cNvPr id="124" name="Text 122"/>
          <p:cNvSpPr/>
          <p:nvPr/>
        </p:nvSpPr>
        <p:spPr>
          <a:xfrm>
            <a:off x="4352544" y="2834640"/>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5</a:t>
            </a:r>
            <a:endParaRPr lang="en-US" sz="1000" dirty="0"/>
          </a:p>
        </p:txBody>
      </p:sp>
      <p:sp>
        <p:nvSpPr>
          <p:cNvPr id="125" name="Shape 123"/>
          <p:cNvSpPr/>
          <p:nvPr/>
        </p:nvSpPr>
        <p:spPr>
          <a:xfrm>
            <a:off x="4663440" y="2834640"/>
            <a:ext cx="310896" cy="310896"/>
          </a:xfrm>
          <a:prstGeom prst="rect">
            <a:avLst/>
          </a:prstGeom>
          <a:solidFill>
            <a:srgbClr val="243B55"/>
          </a:solidFill>
          <a:ln w="12700">
            <a:solidFill>
              <a:srgbClr val="0891B2"/>
            </a:solidFill>
            <a:prstDash val="solid"/>
          </a:ln>
        </p:spPr>
        <p:txBody>
          <a:bodyPr/>
          <a:lstStyle/>
          <a:p>
            <a:endParaRPr lang="tr-TR"/>
          </a:p>
        </p:txBody>
      </p:sp>
      <p:sp>
        <p:nvSpPr>
          <p:cNvPr id="126" name="Text 124"/>
          <p:cNvSpPr/>
          <p:nvPr/>
        </p:nvSpPr>
        <p:spPr>
          <a:xfrm>
            <a:off x="4663440" y="2834640"/>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4</a:t>
            </a:r>
            <a:endParaRPr lang="en-US" sz="1000" dirty="0"/>
          </a:p>
        </p:txBody>
      </p:sp>
      <p:sp>
        <p:nvSpPr>
          <p:cNvPr id="127" name="Shape 125"/>
          <p:cNvSpPr/>
          <p:nvPr/>
        </p:nvSpPr>
        <p:spPr>
          <a:xfrm>
            <a:off x="3730752" y="3145536"/>
            <a:ext cx="310896" cy="310896"/>
          </a:xfrm>
          <a:prstGeom prst="rect">
            <a:avLst/>
          </a:prstGeom>
          <a:solidFill>
            <a:srgbClr val="243B55"/>
          </a:solidFill>
          <a:ln w="12700">
            <a:solidFill>
              <a:srgbClr val="0891B2"/>
            </a:solidFill>
            <a:prstDash val="solid"/>
          </a:ln>
        </p:spPr>
        <p:txBody>
          <a:bodyPr/>
          <a:lstStyle/>
          <a:p>
            <a:endParaRPr lang="tr-TR"/>
          </a:p>
        </p:txBody>
      </p:sp>
      <p:sp>
        <p:nvSpPr>
          <p:cNvPr id="128" name="Text 126"/>
          <p:cNvSpPr/>
          <p:nvPr/>
        </p:nvSpPr>
        <p:spPr>
          <a:xfrm>
            <a:off x="3730752" y="3145536"/>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0</a:t>
            </a:r>
            <a:endParaRPr lang="en-US" sz="1000" dirty="0"/>
          </a:p>
        </p:txBody>
      </p:sp>
      <p:sp>
        <p:nvSpPr>
          <p:cNvPr id="129" name="Shape 127"/>
          <p:cNvSpPr/>
          <p:nvPr/>
        </p:nvSpPr>
        <p:spPr>
          <a:xfrm>
            <a:off x="4041648" y="3145536"/>
            <a:ext cx="310896" cy="310896"/>
          </a:xfrm>
          <a:prstGeom prst="rect">
            <a:avLst/>
          </a:prstGeom>
          <a:solidFill>
            <a:srgbClr val="243B55"/>
          </a:solidFill>
          <a:ln w="12700">
            <a:solidFill>
              <a:srgbClr val="0891B2"/>
            </a:solidFill>
            <a:prstDash val="solid"/>
          </a:ln>
        </p:spPr>
        <p:txBody>
          <a:bodyPr/>
          <a:lstStyle/>
          <a:p>
            <a:endParaRPr lang="tr-TR"/>
          </a:p>
        </p:txBody>
      </p:sp>
      <p:sp>
        <p:nvSpPr>
          <p:cNvPr id="130" name="Text 128"/>
          <p:cNvSpPr/>
          <p:nvPr/>
        </p:nvSpPr>
        <p:spPr>
          <a:xfrm>
            <a:off x="4041648" y="3145536"/>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3</a:t>
            </a:r>
            <a:endParaRPr lang="en-US" sz="1000" dirty="0"/>
          </a:p>
        </p:txBody>
      </p:sp>
      <p:sp>
        <p:nvSpPr>
          <p:cNvPr id="131" name="Shape 129"/>
          <p:cNvSpPr/>
          <p:nvPr/>
        </p:nvSpPr>
        <p:spPr>
          <a:xfrm>
            <a:off x="4352544" y="3145536"/>
            <a:ext cx="310896" cy="310896"/>
          </a:xfrm>
          <a:prstGeom prst="rect">
            <a:avLst/>
          </a:prstGeom>
          <a:solidFill>
            <a:srgbClr val="243B55"/>
          </a:solidFill>
          <a:ln w="12700">
            <a:solidFill>
              <a:srgbClr val="0891B2"/>
            </a:solidFill>
            <a:prstDash val="solid"/>
          </a:ln>
        </p:spPr>
        <p:txBody>
          <a:bodyPr/>
          <a:lstStyle/>
          <a:p>
            <a:endParaRPr lang="tr-TR"/>
          </a:p>
        </p:txBody>
      </p:sp>
      <p:sp>
        <p:nvSpPr>
          <p:cNvPr id="132" name="Text 130"/>
          <p:cNvSpPr/>
          <p:nvPr/>
        </p:nvSpPr>
        <p:spPr>
          <a:xfrm>
            <a:off x="4352544" y="3145536"/>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2</a:t>
            </a:r>
            <a:endParaRPr lang="en-US" sz="1000" dirty="0"/>
          </a:p>
        </p:txBody>
      </p:sp>
      <p:sp>
        <p:nvSpPr>
          <p:cNvPr id="133" name="Shape 131"/>
          <p:cNvSpPr/>
          <p:nvPr/>
        </p:nvSpPr>
        <p:spPr>
          <a:xfrm>
            <a:off x="4663440" y="3145536"/>
            <a:ext cx="310896" cy="310896"/>
          </a:xfrm>
          <a:prstGeom prst="rect">
            <a:avLst/>
          </a:prstGeom>
          <a:solidFill>
            <a:srgbClr val="243B55"/>
          </a:solidFill>
          <a:ln w="12700">
            <a:solidFill>
              <a:srgbClr val="0891B2"/>
            </a:solidFill>
            <a:prstDash val="solid"/>
          </a:ln>
        </p:spPr>
        <p:txBody>
          <a:bodyPr/>
          <a:lstStyle/>
          <a:p>
            <a:endParaRPr lang="tr-TR"/>
          </a:p>
        </p:txBody>
      </p:sp>
      <p:sp>
        <p:nvSpPr>
          <p:cNvPr id="134" name="Text 132"/>
          <p:cNvSpPr/>
          <p:nvPr/>
        </p:nvSpPr>
        <p:spPr>
          <a:xfrm>
            <a:off x="4663440" y="3145536"/>
            <a:ext cx="310896" cy="310896"/>
          </a:xfrm>
          <a:prstGeom prst="rect">
            <a:avLst/>
          </a:prstGeom>
          <a:noFill/>
          <a:ln/>
        </p:spPr>
        <p:txBody>
          <a:bodyPr wrap="square" lIns="0" tIns="0" rIns="0" bIns="0" rtlCol="0" anchor="ctr"/>
          <a:lstStyle/>
          <a:p>
            <a:pPr marL="0" indent="0" algn="ctr">
              <a:buNone/>
            </a:pPr>
            <a:r>
              <a:rPr lang="en-US" sz="1000" dirty="0">
                <a:solidFill>
                  <a:srgbClr val="F1F5F9"/>
                </a:solidFill>
                <a:latin typeface="Calibri" pitchFamily="34" charset="0"/>
                <a:ea typeface="Calibri" pitchFamily="34" charset="-122"/>
                <a:cs typeface="Calibri" pitchFamily="34" charset="-120"/>
              </a:rPr>
              <a:t>3</a:t>
            </a:r>
            <a:endParaRPr lang="en-US" sz="1000" dirty="0"/>
          </a:p>
        </p:txBody>
      </p:sp>
      <p:sp>
        <p:nvSpPr>
          <p:cNvPr id="135" name="Text 133"/>
          <p:cNvSpPr/>
          <p:nvPr/>
        </p:nvSpPr>
        <p:spPr>
          <a:xfrm>
            <a:off x="365760" y="4133088"/>
            <a:ext cx="5029200" cy="237744"/>
          </a:xfrm>
          <a:prstGeom prst="rect">
            <a:avLst/>
          </a:prstGeom>
          <a:noFill/>
          <a:ln/>
        </p:spPr>
        <p:txBody>
          <a:bodyPr wrap="square" lIns="0" tIns="0" rIns="0" bIns="0" rtlCol="0" anchor="ctr"/>
          <a:lstStyle/>
          <a:p>
            <a:pPr marL="0" indent="0">
              <a:buNone/>
            </a:pPr>
            <a:r>
              <a:rPr lang="en-US" sz="950" i="1" dirty="0">
                <a:solidFill>
                  <a:srgbClr val="94A3B8"/>
                </a:solidFill>
                <a:latin typeface="Calibri" pitchFamily="34" charset="0"/>
                <a:ea typeface="Calibri" pitchFamily="34" charset="-122"/>
                <a:cs typeface="Calibri" pitchFamily="34" charset="-120"/>
              </a:rPr>
              <a:t>Hesap: Adım 1 (S=1), Dolgu 0 (P=0) → Wçıkış = (6−3+0)/1+1 = 4</a:t>
            </a:r>
            <a:endParaRPr lang="en-US" sz="950" dirty="0"/>
          </a:p>
        </p:txBody>
      </p:sp>
      <p:sp>
        <p:nvSpPr>
          <p:cNvPr id="136" name="Text 134"/>
          <p:cNvSpPr/>
          <p:nvPr/>
        </p:nvSpPr>
        <p:spPr>
          <a:xfrm>
            <a:off x="5166360" y="1828800"/>
            <a:ext cx="3657600" cy="274320"/>
          </a:xfrm>
          <a:prstGeom prst="rect">
            <a:avLst/>
          </a:prstGeom>
          <a:noFill/>
          <a:ln/>
        </p:spPr>
        <p:txBody>
          <a:bodyPr wrap="square" lIns="0" tIns="0" rIns="0" bIns="0"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Havuzlama (Pooling) Türleri</a:t>
            </a:r>
            <a:endParaRPr lang="en-US" sz="1200" dirty="0"/>
          </a:p>
        </p:txBody>
      </p:sp>
      <p:sp>
        <p:nvSpPr>
          <p:cNvPr id="137" name="Shape 135"/>
          <p:cNvSpPr/>
          <p:nvPr/>
        </p:nvSpPr>
        <p:spPr>
          <a:xfrm>
            <a:off x="5166360" y="2176272"/>
            <a:ext cx="3657600" cy="841248"/>
          </a:xfrm>
          <a:prstGeom prst="rect">
            <a:avLst/>
          </a:prstGeom>
          <a:solidFill>
            <a:srgbClr val="243B55"/>
          </a:solidFill>
          <a:ln w="12700">
            <a:solidFill>
              <a:srgbClr val="0891B2"/>
            </a:solidFill>
            <a:prstDash val="solid"/>
          </a:ln>
          <a:effectLst>
            <a:outerShdw blurRad="63500" dist="25400" dir="8100000" algn="bl" rotWithShape="0">
              <a:srgbClr val="000000">
                <a:alpha val="8000"/>
              </a:srgbClr>
            </a:outerShdw>
          </a:effectLst>
        </p:spPr>
        <p:txBody>
          <a:bodyPr/>
          <a:lstStyle/>
          <a:p>
            <a:endParaRPr lang="tr-TR"/>
          </a:p>
        </p:txBody>
      </p:sp>
      <p:sp>
        <p:nvSpPr>
          <p:cNvPr id="138" name="Shape 136"/>
          <p:cNvSpPr/>
          <p:nvPr/>
        </p:nvSpPr>
        <p:spPr>
          <a:xfrm>
            <a:off x="5166360" y="2176272"/>
            <a:ext cx="54864" cy="841248"/>
          </a:xfrm>
          <a:prstGeom prst="rect">
            <a:avLst/>
          </a:prstGeom>
          <a:solidFill>
            <a:srgbClr val="0891B2"/>
          </a:solidFill>
          <a:ln w="12700">
            <a:solidFill>
              <a:srgbClr val="0891B2"/>
            </a:solidFill>
            <a:prstDash val="solid"/>
          </a:ln>
        </p:spPr>
        <p:txBody>
          <a:bodyPr/>
          <a:lstStyle/>
          <a:p>
            <a:endParaRPr lang="tr-TR"/>
          </a:p>
        </p:txBody>
      </p:sp>
      <p:sp>
        <p:nvSpPr>
          <p:cNvPr id="139" name="Text 137"/>
          <p:cNvSpPr/>
          <p:nvPr/>
        </p:nvSpPr>
        <p:spPr>
          <a:xfrm>
            <a:off x="5276088" y="2221992"/>
            <a:ext cx="3456432" cy="256032"/>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Max-Pooling</a:t>
            </a:r>
            <a:endParaRPr lang="en-US" sz="1100" dirty="0"/>
          </a:p>
        </p:txBody>
      </p:sp>
      <p:sp>
        <p:nvSpPr>
          <p:cNvPr id="140" name="Text 138"/>
          <p:cNvSpPr/>
          <p:nvPr/>
        </p:nvSpPr>
        <p:spPr>
          <a:xfrm>
            <a:off x="5276088" y="2487168"/>
            <a:ext cx="3456432" cy="475488"/>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Alt-penceredeki maksimum değer. En yaygın kullanılan tür. Görüntü özelliklerinde baskın. Öteleme değişmezliği sağlar. (Scherer et al., 2010)</a:t>
            </a:r>
            <a:endParaRPr lang="en-US" sz="900" dirty="0"/>
          </a:p>
        </p:txBody>
      </p:sp>
      <p:sp>
        <p:nvSpPr>
          <p:cNvPr id="141" name="Shape 139"/>
          <p:cNvSpPr/>
          <p:nvPr/>
        </p:nvSpPr>
        <p:spPr>
          <a:xfrm>
            <a:off x="5166360" y="3145536"/>
            <a:ext cx="3657600" cy="841248"/>
          </a:xfrm>
          <a:prstGeom prst="rect">
            <a:avLst/>
          </a:prstGeom>
          <a:solidFill>
            <a:srgbClr val="243B55"/>
          </a:solidFill>
          <a:ln w="12700">
            <a:solidFill>
              <a:srgbClr val="7C3AED"/>
            </a:solidFill>
            <a:prstDash val="solid"/>
          </a:ln>
          <a:effectLst>
            <a:outerShdw blurRad="63500" dist="25400" dir="8100000" algn="bl" rotWithShape="0">
              <a:srgbClr val="000000">
                <a:alpha val="8000"/>
              </a:srgbClr>
            </a:outerShdw>
          </a:effectLst>
        </p:spPr>
        <p:txBody>
          <a:bodyPr/>
          <a:lstStyle/>
          <a:p>
            <a:endParaRPr lang="tr-TR"/>
          </a:p>
        </p:txBody>
      </p:sp>
      <p:sp>
        <p:nvSpPr>
          <p:cNvPr id="142" name="Shape 140"/>
          <p:cNvSpPr/>
          <p:nvPr/>
        </p:nvSpPr>
        <p:spPr>
          <a:xfrm>
            <a:off x="5166360" y="3145536"/>
            <a:ext cx="54864" cy="841248"/>
          </a:xfrm>
          <a:prstGeom prst="rect">
            <a:avLst/>
          </a:prstGeom>
          <a:solidFill>
            <a:srgbClr val="7C3AED"/>
          </a:solidFill>
          <a:ln w="12700">
            <a:solidFill>
              <a:srgbClr val="7C3AED"/>
            </a:solidFill>
            <a:prstDash val="solid"/>
          </a:ln>
        </p:spPr>
        <p:txBody>
          <a:bodyPr/>
          <a:lstStyle/>
          <a:p>
            <a:endParaRPr lang="tr-TR"/>
          </a:p>
        </p:txBody>
      </p:sp>
      <p:sp>
        <p:nvSpPr>
          <p:cNvPr id="143" name="Text 141"/>
          <p:cNvSpPr/>
          <p:nvPr/>
        </p:nvSpPr>
        <p:spPr>
          <a:xfrm>
            <a:off x="5276088" y="3191256"/>
            <a:ext cx="3456432" cy="256032"/>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Average-Pooling</a:t>
            </a:r>
            <a:endParaRPr lang="en-US" sz="1100" dirty="0"/>
          </a:p>
        </p:txBody>
      </p:sp>
      <p:sp>
        <p:nvSpPr>
          <p:cNvPr id="144" name="Text 142"/>
          <p:cNvSpPr/>
          <p:nvPr/>
        </p:nvSpPr>
        <p:spPr>
          <a:xfrm>
            <a:off x="5276088" y="3456432"/>
            <a:ext cx="3456432" cy="475488"/>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Alt-penceredeki ortalama. Daha yumuşak özetleme. Max-pooling kadar yaygın değil ama bazı mimarilerde tercih edilir.</a:t>
            </a:r>
            <a:endParaRPr lang="en-US" sz="900" dirty="0"/>
          </a:p>
        </p:txBody>
      </p:sp>
      <p:sp>
        <p:nvSpPr>
          <p:cNvPr id="145" name="Shape 143"/>
          <p:cNvSpPr/>
          <p:nvPr/>
        </p:nvSpPr>
        <p:spPr>
          <a:xfrm>
            <a:off x="5166360" y="4114800"/>
            <a:ext cx="3657600" cy="841248"/>
          </a:xfrm>
          <a:prstGeom prst="rect">
            <a:avLst/>
          </a:prstGeom>
          <a:solidFill>
            <a:srgbClr val="243B55"/>
          </a:solidFill>
          <a:ln w="12700">
            <a:solidFill>
              <a:srgbClr val="F59E0B"/>
            </a:solidFill>
            <a:prstDash val="solid"/>
          </a:ln>
          <a:effectLst>
            <a:outerShdw blurRad="63500" dist="25400" dir="8100000" algn="bl" rotWithShape="0">
              <a:srgbClr val="000000">
                <a:alpha val="8000"/>
              </a:srgbClr>
            </a:outerShdw>
          </a:effectLst>
        </p:spPr>
        <p:txBody>
          <a:bodyPr/>
          <a:lstStyle/>
          <a:p>
            <a:endParaRPr lang="tr-TR"/>
          </a:p>
        </p:txBody>
      </p:sp>
      <p:sp>
        <p:nvSpPr>
          <p:cNvPr id="146" name="Shape 144"/>
          <p:cNvSpPr/>
          <p:nvPr/>
        </p:nvSpPr>
        <p:spPr>
          <a:xfrm>
            <a:off x="5166360" y="4114800"/>
            <a:ext cx="54864" cy="841248"/>
          </a:xfrm>
          <a:prstGeom prst="rect">
            <a:avLst/>
          </a:prstGeom>
          <a:solidFill>
            <a:srgbClr val="F59E0B"/>
          </a:solidFill>
          <a:ln w="12700">
            <a:solidFill>
              <a:srgbClr val="F59E0B"/>
            </a:solidFill>
            <a:prstDash val="solid"/>
          </a:ln>
        </p:spPr>
        <p:txBody>
          <a:bodyPr/>
          <a:lstStyle/>
          <a:p>
            <a:endParaRPr lang="tr-TR"/>
          </a:p>
        </p:txBody>
      </p:sp>
      <p:sp>
        <p:nvSpPr>
          <p:cNvPr id="147" name="Text 145"/>
          <p:cNvSpPr/>
          <p:nvPr/>
        </p:nvSpPr>
        <p:spPr>
          <a:xfrm>
            <a:off x="5276088" y="4160520"/>
            <a:ext cx="3456432" cy="256032"/>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Global Max-Pooling</a:t>
            </a:r>
            <a:endParaRPr lang="en-US" sz="1100" dirty="0"/>
          </a:p>
        </p:txBody>
      </p:sp>
      <p:sp>
        <p:nvSpPr>
          <p:cNvPr id="148" name="Text 146"/>
          <p:cNvSpPr/>
          <p:nvPr/>
        </p:nvSpPr>
        <p:spPr>
          <a:xfrm>
            <a:off x="5276088" y="4425696"/>
            <a:ext cx="3456432" cy="475488"/>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Tüm aktivasyon haritasından tek değer. Tam bağlantılı katmanın yerini alabilir. Parametre sayısını azaltır. (Lin et al., 2013)</a:t>
            </a:r>
            <a:endParaRPr lang="en-US" sz="900" dirty="0"/>
          </a:p>
        </p:txBody>
      </p:sp>
      <p:sp>
        <p:nvSpPr>
          <p:cNvPr id="149" name="Text 147"/>
          <p:cNvSpPr/>
          <p:nvPr/>
        </p:nvSpPr>
        <p:spPr>
          <a:xfrm>
            <a:off x="365760" y="4407408"/>
            <a:ext cx="8412480" cy="292608"/>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Parametre azaltma örneği: 100×100×3 giriş, 2 çekirdek (4×4) → yalnızca 4×4×3×2 = 96 ağırlık (100 nörona rağmen ağırlık paylaşımı sayesinde)</a:t>
            </a:r>
            <a:endParaRPr lang="en-US" sz="900" dirty="0"/>
          </a:p>
        </p:txBody>
      </p:sp>
      <p:sp>
        <p:nvSpPr>
          <p:cNvPr id="150" name="Text 148"/>
          <p:cNvSpPr/>
          <p:nvPr/>
        </p:nvSpPr>
        <p:spPr>
          <a:xfrm>
            <a:off x="365760" y="4773168"/>
            <a:ext cx="8412480" cy="18288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Kaynak: LeCun et al. (2015) Nature; Scherer et al. (2010) ICANN; CS231n Stanford Ders Notları (cs231n.github.io)</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1B2F4A"/>
          </a:solidFill>
          <a:ln w="12700">
            <a:solidFill>
              <a:srgbClr val="1B2F4A"/>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12 — RBM</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Kısıtlı Boltzmann Makinesi (RBM) &amp; CD Algoritması</a:t>
            </a:r>
            <a:endParaRPr lang="en-US" sz="2600" dirty="0"/>
          </a:p>
        </p:txBody>
      </p:sp>
      <p:sp>
        <p:nvSpPr>
          <p:cNvPr id="5" name="Shape 3"/>
          <p:cNvSpPr/>
          <p:nvPr/>
        </p:nvSpPr>
        <p:spPr>
          <a:xfrm>
            <a:off x="365760" y="1024128"/>
            <a:ext cx="137160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115568"/>
            <a:ext cx="4114800" cy="3767328"/>
          </a:xfrm>
          <a:prstGeom prst="rect">
            <a:avLst/>
          </a:prstGeom>
          <a:solidFill>
            <a:srgbClr val="EFF6FF"/>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7" name="Text 5"/>
          <p:cNvSpPr/>
          <p:nvPr/>
        </p:nvSpPr>
        <p:spPr>
          <a:xfrm>
            <a:off x="502920" y="1188720"/>
            <a:ext cx="384048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RBM Yapısı ve Enerji Fonksiyonu</a:t>
            </a:r>
            <a:endParaRPr lang="en-US" sz="1100" dirty="0"/>
          </a:p>
        </p:txBody>
      </p:sp>
      <p:sp>
        <p:nvSpPr>
          <p:cNvPr id="8" name="Text 6"/>
          <p:cNvSpPr/>
          <p:nvPr/>
        </p:nvSpPr>
        <p:spPr>
          <a:xfrm>
            <a:off x="502920" y="1536192"/>
            <a:ext cx="1371600" cy="237744"/>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Görünür (v)</a:t>
            </a:r>
            <a:endParaRPr lang="en-US" sz="1000" dirty="0"/>
          </a:p>
        </p:txBody>
      </p:sp>
      <p:sp>
        <p:nvSpPr>
          <p:cNvPr id="9" name="Text 7"/>
          <p:cNvSpPr/>
          <p:nvPr/>
        </p:nvSpPr>
        <p:spPr>
          <a:xfrm>
            <a:off x="2743200" y="1536192"/>
            <a:ext cx="1371600" cy="237744"/>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Gizli (h)</a:t>
            </a:r>
            <a:endParaRPr lang="en-US" sz="1000" dirty="0"/>
          </a:p>
        </p:txBody>
      </p:sp>
      <p:sp>
        <p:nvSpPr>
          <p:cNvPr id="10" name="Shape 8"/>
          <p:cNvSpPr/>
          <p:nvPr/>
        </p:nvSpPr>
        <p:spPr>
          <a:xfrm>
            <a:off x="548640" y="1828800"/>
            <a:ext cx="457200" cy="457200"/>
          </a:xfrm>
          <a:prstGeom prst="ellipse">
            <a:avLst/>
          </a:prstGeom>
          <a:solidFill>
            <a:srgbClr val="0891B2"/>
          </a:solidFill>
          <a:ln w="12700">
            <a:solidFill>
              <a:srgbClr val="FFFFFF"/>
            </a:solidFill>
            <a:prstDash val="solid"/>
          </a:ln>
        </p:spPr>
        <p:txBody>
          <a:bodyPr/>
          <a:lstStyle/>
          <a:p>
            <a:endParaRPr lang="tr-TR"/>
          </a:p>
        </p:txBody>
      </p:sp>
      <p:sp>
        <p:nvSpPr>
          <p:cNvPr id="11" name="Text 9"/>
          <p:cNvSpPr/>
          <p:nvPr/>
        </p:nvSpPr>
        <p:spPr>
          <a:xfrm>
            <a:off x="548640" y="182880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v1</a:t>
            </a:r>
            <a:endParaRPr lang="en-US" sz="1100" dirty="0"/>
          </a:p>
        </p:txBody>
      </p:sp>
      <p:sp>
        <p:nvSpPr>
          <p:cNvPr id="12" name="Shape 10"/>
          <p:cNvSpPr/>
          <p:nvPr/>
        </p:nvSpPr>
        <p:spPr>
          <a:xfrm>
            <a:off x="548640" y="2450592"/>
            <a:ext cx="457200" cy="457200"/>
          </a:xfrm>
          <a:prstGeom prst="ellipse">
            <a:avLst/>
          </a:prstGeom>
          <a:solidFill>
            <a:srgbClr val="0891B2"/>
          </a:solidFill>
          <a:ln w="12700">
            <a:solidFill>
              <a:srgbClr val="FFFFFF"/>
            </a:solidFill>
            <a:prstDash val="solid"/>
          </a:ln>
        </p:spPr>
        <p:txBody>
          <a:bodyPr/>
          <a:lstStyle/>
          <a:p>
            <a:endParaRPr lang="tr-TR"/>
          </a:p>
        </p:txBody>
      </p:sp>
      <p:sp>
        <p:nvSpPr>
          <p:cNvPr id="13" name="Text 11"/>
          <p:cNvSpPr/>
          <p:nvPr/>
        </p:nvSpPr>
        <p:spPr>
          <a:xfrm>
            <a:off x="548640" y="2450592"/>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v2</a:t>
            </a:r>
            <a:endParaRPr lang="en-US" sz="1100" dirty="0"/>
          </a:p>
        </p:txBody>
      </p:sp>
      <p:sp>
        <p:nvSpPr>
          <p:cNvPr id="14" name="Shape 12"/>
          <p:cNvSpPr/>
          <p:nvPr/>
        </p:nvSpPr>
        <p:spPr>
          <a:xfrm>
            <a:off x="548640" y="3072384"/>
            <a:ext cx="457200" cy="457200"/>
          </a:xfrm>
          <a:prstGeom prst="ellipse">
            <a:avLst/>
          </a:prstGeom>
          <a:solidFill>
            <a:srgbClr val="0891B2"/>
          </a:solidFill>
          <a:ln w="12700">
            <a:solidFill>
              <a:srgbClr val="FFFFFF"/>
            </a:solidFill>
            <a:prstDash val="solid"/>
          </a:ln>
        </p:spPr>
        <p:txBody>
          <a:bodyPr/>
          <a:lstStyle/>
          <a:p>
            <a:endParaRPr lang="tr-TR"/>
          </a:p>
        </p:txBody>
      </p:sp>
      <p:sp>
        <p:nvSpPr>
          <p:cNvPr id="15" name="Text 13"/>
          <p:cNvSpPr/>
          <p:nvPr/>
        </p:nvSpPr>
        <p:spPr>
          <a:xfrm>
            <a:off x="548640" y="3072384"/>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v3</a:t>
            </a:r>
            <a:endParaRPr lang="en-US" sz="1100" dirty="0"/>
          </a:p>
        </p:txBody>
      </p:sp>
      <p:sp>
        <p:nvSpPr>
          <p:cNvPr id="16" name="Shape 14"/>
          <p:cNvSpPr/>
          <p:nvPr/>
        </p:nvSpPr>
        <p:spPr>
          <a:xfrm>
            <a:off x="548640" y="3694176"/>
            <a:ext cx="457200" cy="457200"/>
          </a:xfrm>
          <a:prstGeom prst="ellipse">
            <a:avLst/>
          </a:prstGeom>
          <a:solidFill>
            <a:srgbClr val="0891B2"/>
          </a:solidFill>
          <a:ln w="12700">
            <a:solidFill>
              <a:srgbClr val="FFFFFF"/>
            </a:solidFill>
            <a:prstDash val="solid"/>
          </a:ln>
        </p:spPr>
        <p:txBody>
          <a:bodyPr/>
          <a:lstStyle/>
          <a:p>
            <a:endParaRPr lang="tr-TR"/>
          </a:p>
        </p:txBody>
      </p:sp>
      <p:sp>
        <p:nvSpPr>
          <p:cNvPr id="17" name="Text 15"/>
          <p:cNvSpPr/>
          <p:nvPr/>
        </p:nvSpPr>
        <p:spPr>
          <a:xfrm>
            <a:off x="548640" y="3694176"/>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v4</a:t>
            </a:r>
            <a:endParaRPr lang="en-US" sz="1100" dirty="0"/>
          </a:p>
        </p:txBody>
      </p:sp>
      <p:sp>
        <p:nvSpPr>
          <p:cNvPr id="18" name="Shape 16"/>
          <p:cNvSpPr/>
          <p:nvPr/>
        </p:nvSpPr>
        <p:spPr>
          <a:xfrm>
            <a:off x="3017520" y="2029968"/>
            <a:ext cx="457200" cy="457200"/>
          </a:xfrm>
          <a:prstGeom prst="ellipse">
            <a:avLst/>
          </a:prstGeom>
          <a:solidFill>
            <a:srgbClr val="7C3AED"/>
          </a:solidFill>
          <a:ln w="12700">
            <a:solidFill>
              <a:srgbClr val="FFFFFF"/>
            </a:solidFill>
            <a:prstDash val="solid"/>
          </a:ln>
        </p:spPr>
        <p:txBody>
          <a:bodyPr/>
          <a:lstStyle/>
          <a:p>
            <a:endParaRPr lang="tr-TR"/>
          </a:p>
        </p:txBody>
      </p:sp>
      <p:sp>
        <p:nvSpPr>
          <p:cNvPr id="19" name="Text 17"/>
          <p:cNvSpPr/>
          <p:nvPr/>
        </p:nvSpPr>
        <p:spPr>
          <a:xfrm>
            <a:off x="3017520" y="202996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h1</a:t>
            </a:r>
            <a:endParaRPr lang="en-US" sz="1100" dirty="0"/>
          </a:p>
        </p:txBody>
      </p:sp>
      <p:sp>
        <p:nvSpPr>
          <p:cNvPr id="20" name="Shape 18"/>
          <p:cNvSpPr/>
          <p:nvPr/>
        </p:nvSpPr>
        <p:spPr>
          <a:xfrm>
            <a:off x="3017520" y="2779776"/>
            <a:ext cx="457200" cy="457200"/>
          </a:xfrm>
          <a:prstGeom prst="ellipse">
            <a:avLst/>
          </a:prstGeom>
          <a:solidFill>
            <a:srgbClr val="7C3AED"/>
          </a:solidFill>
          <a:ln w="12700">
            <a:solidFill>
              <a:srgbClr val="FFFFFF"/>
            </a:solidFill>
            <a:prstDash val="solid"/>
          </a:ln>
        </p:spPr>
        <p:txBody>
          <a:bodyPr/>
          <a:lstStyle/>
          <a:p>
            <a:endParaRPr lang="tr-TR"/>
          </a:p>
        </p:txBody>
      </p:sp>
      <p:sp>
        <p:nvSpPr>
          <p:cNvPr id="21" name="Text 19"/>
          <p:cNvSpPr/>
          <p:nvPr/>
        </p:nvSpPr>
        <p:spPr>
          <a:xfrm>
            <a:off x="3017520" y="2779776"/>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h2</a:t>
            </a:r>
            <a:endParaRPr lang="en-US" sz="1100" dirty="0"/>
          </a:p>
        </p:txBody>
      </p:sp>
      <p:sp>
        <p:nvSpPr>
          <p:cNvPr id="22" name="Shape 20"/>
          <p:cNvSpPr/>
          <p:nvPr/>
        </p:nvSpPr>
        <p:spPr>
          <a:xfrm>
            <a:off x="3017520" y="3529584"/>
            <a:ext cx="457200" cy="457200"/>
          </a:xfrm>
          <a:prstGeom prst="ellipse">
            <a:avLst/>
          </a:prstGeom>
          <a:solidFill>
            <a:srgbClr val="7C3AED"/>
          </a:solidFill>
          <a:ln w="12700">
            <a:solidFill>
              <a:srgbClr val="FFFFFF"/>
            </a:solidFill>
            <a:prstDash val="solid"/>
          </a:ln>
        </p:spPr>
        <p:txBody>
          <a:bodyPr/>
          <a:lstStyle/>
          <a:p>
            <a:endParaRPr lang="tr-TR"/>
          </a:p>
        </p:txBody>
      </p:sp>
      <p:sp>
        <p:nvSpPr>
          <p:cNvPr id="23" name="Text 21"/>
          <p:cNvSpPr/>
          <p:nvPr/>
        </p:nvSpPr>
        <p:spPr>
          <a:xfrm>
            <a:off x="3017520" y="3529584"/>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h3</a:t>
            </a:r>
            <a:endParaRPr lang="en-US" sz="1100" dirty="0"/>
          </a:p>
        </p:txBody>
      </p:sp>
      <p:sp>
        <p:nvSpPr>
          <p:cNvPr id="24" name="Shape 22"/>
          <p:cNvSpPr/>
          <p:nvPr/>
        </p:nvSpPr>
        <p:spPr>
          <a:xfrm>
            <a:off x="1024128" y="2057400"/>
            <a:ext cx="1993392" cy="201168"/>
          </a:xfrm>
          <a:prstGeom prst="line">
            <a:avLst/>
          </a:prstGeom>
          <a:noFill/>
          <a:ln w="12700">
            <a:solidFill>
              <a:srgbClr val="94A3B8"/>
            </a:solidFill>
            <a:prstDash val="solid"/>
          </a:ln>
        </p:spPr>
        <p:txBody>
          <a:bodyPr/>
          <a:lstStyle/>
          <a:p>
            <a:endParaRPr lang="tr-TR"/>
          </a:p>
        </p:txBody>
      </p:sp>
      <p:sp>
        <p:nvSpPr>
          <p:cNvPr id="25" name="Shape 23"/>
          <p:cNvSpPr/>
          <p:nvPr/>
        </p:nvSpPr>
        <p:spPr>
          <a:xfrm>
            <a:off x="1024128" y="2057400"/>
            <a:ext cx="1993392" cy="950976"/>
          </a:xfrm>
          <a:prstGeom prst="line">
            <a:avLst/>
          </a:prstGeom>
          <a:noFill/>
          <a:ln w="12700">
            <a:solidFill>
              <a:srgbClr val="94A3B8"/>
            </a:solidFill>
            <a:prstDash val="solid"/>
          </a:ln>
        </p:spPr>
        <p:txBody>
          <a:bodyPr/>
          <a:lstStyle/>
          <a:p>
            <a:endParaRPr lang="tr-TR"/>
          </a:p>
        </p:txBody>
      </p:sp>
      <p:sp>
        <p:nvSpPr>
          <p:cNvPr id="26" name="Shape 24"/>
          <p:cNvSpPr/>
          <p:nvPr/>
        </p:nvSpPr>
        <p:spPr>
          <a:xfrm>
            <a:off x="1024128" y="2057400"/>
            <a:ext cx="1993392" cy="1700784"/>
          </a:xfrm>
          <a:prstGeom prst="line">
            <a:avLst/>
          </a:prstGeom>
          <a:noFill/>
          <a:ln w="12700">
            <a:solidFill>
              <a:srgbClr val="94A3B8"/>
            </a:solidFill>
            <a:prstDash val="solid"/>
          </a:ln>
        </p:spPr>
        <p:txBody>
          <a:bodyPr/>
          <a:lstStyle/>
          <a:p>
            <a:endParaRPr lang="tr-TR"/>
          </a:p>
        </p:txBody>
      </p:sp>
      <p:sp>
        <p:nvSpPr>
          <p:cNvPr id="27" name="Shape 25"/>
          <p:cNvSpPr/>
          <p:nvPr/>
        </p:nvSpPr>
        <p:spPr>
          <a:xfrm>
            <a:off x="1024128" y="2679192"/>
            <a:ext cx="1993392" cy="0"/>
          </a:xfrm>
          <a:prstGeom prst="line">
            <a:avLst/>
          </a:prstGeom>
          <a:noFill/>
          <a:ln w="12700">
            <a:solidFill>
              <a:srgbClr val="94A3B8"/>
            </a:solidFill>
            <a:prstDash val="solid"/>
          </a:ln>
        </p:spPr>
        <p:txBody>
          <a:bodyPr/>
          <a:lstStyle/>
          <a:p>
            <a:endParaRPr lang="tr-TR"/>
          </a:p>
        </p:txBody>
      </p:sp>
      <p:sp>
        <p:nvSpPr>
          <p:cNvPr id="28" name="Shape 26"/>
          <p:cNvSpPr/>
          <p:nvPr/>
        </p:nvSpPr>
        <p:spPr>
          <a:xfrm>
            <a:off x="1024128" y="2679192"/>
            <a:ext cx="1993392" cy="329184"/>
          </a:xfrm>
          <a:prstGeom prst="line">
            <a:avLst/>
          </a:prstGeom>
          <a:noFill/>
          <a:ln w="12700">
            <a:solidFill>
              <a:srgbClr val="94A3B8"/>
            </a:solidFill>
            <a:prstDash val="solid"/>
          </a:ln>
        </p:spPr>
        <p:txBody>
          <a:bodyPr/>
          <a:lstStyle/>
          <a:p>
            <a:endParaRPr lang="tr-TR"/>
          </a:p>
        </p:txBody>
      </p:sp>
      <p:sp>
        <p:nvSpPr>
          <p:cNvPr id="29" name="Shape 27"/>
          <p:cNvSpPr/>
          <p:nvPr/>
        </p:nvSpPr>
        <p:spPr>
          <a:xfrm>
            <a:off x="1024128" y="2679192"/>
            <a:ext cx="1993392" cy="1078992"/>
          </a:xfrm>
          <a:prstGeom prst="line">
            <a:avLst/>
          </a:prstGeom>
          <a:noFill/>
          <a:ln w="12700">
            <a:solidFill>
              <a:srgbClr val="94A3B8"/>
            </a:solidFill>
            <a:prstDash val="solid"/>
          </a:ln>
        </p:spPr>
        <p:txBody>
          <a:bodyPr/>
          <a:lstStyle/>
          <a:p>
            <a:endParaRPr lang="tr-TR"/>
          </a:p>
        </p:txBody>
      </p:sp>
      <p:sp>
        <p:nvSpPr>
          <p:cNvPr id="30" name="Shape 28"/>
          <p:cNvSpPr/>
          <p:nvPr/>
        </p:nvSpPr>
        <p:spPr>
          <a:xfrm>
            <a:off x="1024128" y="3300984"/>
            <a:ext cx="1993392" cy="0"/>
          </a:xfrm>
          <a:prstGeom prst="line">
            <a:avLst/>
          </a:prstGeom>
          <a:noFill/>
          <a:ln w="12700">
            <a:solidFill>
              <a:srgbClr val="94A3B8"/>
            </a:solidFill>
            <a:prstDash val="solid"/>
          </a:ln>
        </p:spPr>
        <p:txBody>
          <a:bodyPr/>
          <a:lstStyle/>
          <a:p>
            <a:endParaRPr lang="tr-TR"/>
          </a:p>
        </p:txBody>
      </p:sp>
      <p:sp>
        <p:nvSpPr>
          <p:cNvPr id="31" name="Shape 29"/>
          <p:cNvSpPr/>
          <p:nvPr/>
        </p:nvSpPr>
        <p:spPr>
          <a:xfrm>
            <a:off x="1024128" y="3300984"/>
            <a:ext cx="1993392" cy="0"/>
          </a:xfrm>
          <a:prstGeom prst="line">
            <a:avLst/>
          </a:prstGeom>
          <a:noFill/>
          <a:ln w="12700">
            <a:solidFill>
              <a:srgbClr val="94A3B8"/>
            </a:solidFill>
            <a:prstDash val="solid"/>
          </a:ln>
        </p:spPr>
        <p:txBody>
          <a:bodyPr/>
          <a:lstStyle/>
          <a:p>
            <a:endParaRPr lang="tr-TR"/>
          </a:p>
        </p:txBody>
      </p:sp>
      <p:sp>
        <p:nvSpPr>
          <p:cNvPr id="32" name="Shape 30"/>
          <p:cNvSpPr/>
          <p:nvPr/>
        </p:nvSpPr>
        <p:spPr>
          <a:xfrm>
            <a:off x="1024128" y="3300984"/>
            <a:ext cx="1993392" cy="457200"/>
          </a:xfrm>
          <a:prstGeom prst="line">
            <a:avLst/>
          </a:prstGeom>
          <a:noFill/>
          <a:ln w="12700">
            <a:solidFill>
              <a:srgbClr val="94A3B8"/>
            </a:solidFill>
            <a:prstDash val="solid"/>
          </a:ln>
        </p:spPr>
        <p:txBody>
          <a:bodyPr/>
          <a:lstStyle/>
          <a:p>
            <a:endParaRPr lang="tr-TR"/>
          </a:p>
        </p:txBody>
      </p:sp>
      <p:sp>
        <p:nvSpPr>
          <p:cNvPr id="33" name="Shape 31"/>
          <p:cNvSpPr/>
          <p:nvPr/>
        </p:nvSpPr>
        <p:spPr>
          <a:xfrm>
            <a:off x="1024128" y="3922776"/>
            <a:ext cx="1993392" cy="0"/>
          </a:xfrm>
          <a:prstGeom prst="line">
            <a:avLst/>
          </a:prstGeom>
          <a:noFill/>
          <a:ln w="12700">
            <a:solidFill>
              <a:srgbClr val="94A3B8"/>
            </a:solidFill>
            <a:prstDash val="solid"/>
          </a:ln>
        </p:spPr>
        <p:txBody>
          <a:bodyPr/>
          <a:lstStyle/>
          <a:p>
            <a:endParaRPr lang="tr-TR"/>
          </a:p>
        </p:txBody>
      </p:sp>
      <p:sp>
        <p:nvSpPr>
          <p:cNvPr id="34" name="Shape 32"/>
          <p:cNvSpPr/>
          <p:nvPr/>
        </p:nvSpPr>
        <p:spPr>
          <a:xfrm>
            <a:off x="1024128" y="3922776"/>
            <a:ext cx="1993392" cy="0"/>
          </a:xfrm>
          <a:prstGeom prst="line">
            <a:avLst/>
          </a:prstGeom>
          <a:noFill/>
          <a:ln w="12700">
            <a:solidFill>
              <a:srgbClr val="94A3B8"/>
            </a:solidFill>
            <a:prstDash val="solid"/>
          </a:ln>
        </p:spPr>
        <p:txBody>
          <a:bodyPr/>
          <a:lstStyle/>
          <a:p>
            <a:endParaRPr lang="tr-TR"/>
          </a:p>
        </p:txBody>
      </p:sp>
      <p:sp>
        <p:nvSpPr>
          <p:cNvPr id="35" name="Shape 33"/>
          <p:cNvSpPr/>
          <p:nvPr/>
        </p:nvSpPr>
        <p:spPr>
          <a:xfrm>
            <a:off x="1024128" y="3922776"/>
            <a:ext cx="1993392" cy="0"/>
          </a:xfrm>
          <a:prstGeom prst="line">
            <a:avLst/>
          </a:prstGeom>
          <a:noFill/>
          <a:ln w="12700">
            <a:solidFill>
              <a:srgbClr val="94A3B8"/>
            </a:solidFill>
            <a:prstDash val="solid"/>
          </a:ln>
        </p:spPr>
        <p:txBody>
          <a:bodyPr/>
          <a:lstStyle/>
          <a:p>
            <a:endParaRPr lang="tr-TR"/>
          </a:p>
        </p:txBody>
      </p:sp>
      <p:sp>
        <p:nvSpPr>
          <p:cNvPr id="36" name="Text 34"/>
          <p:cNvSpPr/>
          <p:nvPr/>
        </p:nvSpPr>
        <p:spPr>
          <a:xfrm>
            <a:off x="1737360" y="2450592"/>
            <a:ext cx="548640" cy="256032"/>
          </a:xfrm>
          <a:prstGeom prst="rect">
            <a:avLst/>
          </a:prstGeom>
          <a:noFill/>
          <a:ln/>
        </p:spPr>
        <p:txBody>
          <a:bodyPr wrap="square" lIns="0" tIns="0" rIns="0" bIns="0" rtlCol="0" anchor="ctr"/>
          <a:lstStyle/>
          <a:p>
            <a:pPr marL="0" indent="0">
              <a:buNone/>
            </a:pPr>
            <a:r>
              <a:rPr lang="en-US" sz="1100" i="1" dirty="0">
                <a:solidFill>
                  <a:srgbClr val="D97706"/>
                </a:solidFill>
                <a:latin typeface="Calibri" pitchFamily="34" charset="0"/>
                <a:ea typeface="Calibri" pitchFamily="34" charset="-122"/>
                <a:cs typeface="Calibri" pitchFamily="34" charset="-120"/>
              </a:rPr>
              <a:t>wᵢⱼ</a:t>
            </a:r>
            <a:endParaRPr lang="en-US" sz="1100" dirty="0"/>
          </a:p>
        </p:txBody>
      </p:sp>
      <p:sp>
        <p:nvSpPr>
          <p:cNvPr id="37" name="Shape 35"/>
          <p:cNvSpPr/>
          <p:nvPr/>
        </p:nvSpPr>
        <p:spPr>
          <a:xfrm>
            <a:off x="457200" y="4005072"/>
            <a:ext cx="3840480" cy="548640"/>
          </a:xfrm>
          <a:prstGeom prst="rect">
            <a:avLst/>
          </a:prstGeom>
          <a:solidFill>
            <a:srgbClr val="1B2F4A"/>
          </a:solidFill>
          <a:ln w="12700">
            <a:solidFill>
              <a:srgbClr val="0891B2"/>
            </a:solidFill>
            <a:prstDash val="solid"/>
          </a:ln>
        </p:spPr>
        <p:txBody>
          <a:bodyPr/>
          <a:lstStyle/>
          <a:p>
            <a:endParaRPr lang="tr-TR"/>
          </a:p>
        </p:txBody>
      </p:sp>
      <p:sp>
        <p:nvSpPr>
          <p:cNvPr id="38" name="Text 36"/>
          <p:cNvSpPr/>
          <p:nvPr/>
        </p:nvSpPr>
        <p:spPr>
          <a:xfrm>
            <a:off x="457200" y="4005072"/>
            <a:ext cx="3840480" cy="548640"/>
          </a:xfrm>
          <a:prstGeom prst="rect">
            <a:avLst/>
          </a:prstGeom>
          <a:noFill/>
          <a:ln/>
        </p:spPr>
        <p:txBody>
          <a:bodyPr wrap="square" lIns="0" tIns="0" rIns="0" bIns="0" rtlCol="0" anchor="ctr"/>
          <a:lstStyle/>
          <a:p>
            <a:pPr marL="0" indent="0" algn="ctr">
              <a:buNone/>
            </a:pPr>
            <a:r>
              <a:rPr lang="en-US" sz="1200" b="1" dirty="0">
                <a:solidFill>
                  <a:srgbClr val="06B6D4"/>
                </a:solidFill>
                <a:latin typeface="Calibri" pitchFamily="34" charset="0"/>
                <a:ea typeface="Calibri" pitchFamily="34" charset="-122"/>
                <a:cs typeface="Calibri" pitchFamily="34" charset="-120"/>
              </a:rPr>
              <a:t>E(v,h) = −Σᵢaᵢvᵢ − Σⱼbⱼhⱼ − Σᵢ,ⱼ vᵢhⱼwᵢⱼ</a:t>
            </a:r>
            <a:endParaRPr lang="en-US" sz="1200" dirty="0"/>
          </a:p>
        </p:txBody>
      </p:sp>
      <p:sp>
        <p:nvSpPr>
          <p:cNvPr id="39" name="Shape 37"/>
          <p:cNvSpPr/>
          <p:nvPr/>
        </p:nvSpPr>
        <p:spPr>
          <a:xfrm>
            <a:off x="457200" y="4645152"/>
            <a:ext cx="3840480" cy="201168"/>
          </a:xfrm>
          <a:prstGeom prst="rect">
            <a:avLst/>
          </a:prstGeom>
          <a:solidFill>
            <a:srgbClr val="EFF6FF"/>
          </a:solidFill>
          <a:ln w="12700">
            <a:solidFill>
              <a:srgbClr val="0891B2"/>
            </a:solidFill>
            <a:prstDash val="solid"/>
          </a:ln>
        </p:spPr>
        <p:txBody>
          <a:bodyPr/>
          <a:lstStyle/>
          <a:p>
            <a:endParaRPr lang="tr-TR"/>
          </a:p>
        </p:txBody>
      </p:sp>
      <p:sp>
        <p:nvSpPr>
          <p:cNvPr id="40" name="Text 38"/>
          <p:cNvSpPr/>
          <p:nvPr/>
        </p:nvSpPr>
        <p:spPr>
          <a:xfrm>
            <a:off x="502920" y="4645152"/>
            <a:ext cx="3749040" cy="201168"/>
          </a:xfrm>
          <a:prstGeom prst="rect">
            <a:avLst/>
          </a:prstGeom>
          <a:noFill/>
          <a:ln/>
        </p:spPr>
        <p:txBody>
          <a:bodyPr wrap="square" lIns="0" tIns="0" rIns="0" bIns="0" rtlCol="0" anchor="ctr"/>
          <a:lstStyle/>
          <a:p>
            <a:pPr marL="0" indent="0">
              <a:buNone/>
            </a:pPr>
            <a:r>
              <a:rPr lang="en-US" sz="850" dirty="0">
                <a:solidFill>
                  <a:srgbClr val="1E3A5F"/>
                </a:solidFill>
                <a:latin typeface="Calibri" pitchFamily="34" charset="0"/>
                <a:ea typeface="Calibri" pitchFamily="34" charset="-122"/>
                <a:cs typeface="Calibri" pitchFamily="34" charset="-120"/>
              </a:rPr>
              <a:t>p(v,h) = e^{-E(v,h)} / Z   (Z = Σᵥ,ₕ e^{-E(v,h)}: partition function)</a:t>
            </a:r>
            <a:endParaRPr lang="en-US" sz="850" dirty="0"/>
          </a:p>
        </p:txBody>
      </p:sp>
      <p:sp>
        <p:nvSpPr>
          <p:cNvPr id="41" name="Text 39"/>
          <p:cNvSpPr/>
          <p:nvPr/>
        </p:nvSpPr>
        <p:spPr>
          <a:xfrm>
            <a:off x="4663440" y="1115568"/>
            <a:ext cx="41148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Çelişkili Ayrıklık (Contrastive Divergence) Algoritması</a:t>
            </a:r>
            <a:endParaRPr lang="en-US" sz="1100" dirty="0"/>
          </a:p>
        </p:txBody>
      </p:sp>
      <p:sp>
        <p:nvSpPr>
          <p:cNvPr id="42" name="Shape 40"/>
          <p:cNvSpPr/>
          <p:nvPr/>
        </p:nvSpPr>
        <p:spPr>
          <a:xfrm>
            <a:off x="4663440" y="1481328"/>
            <a:ext cx="4114800" cy="749808"/>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3" name="Shape 41"/>
          <p:cNvSpPr/>
          <p:nvPr/>
        </p:nvSpPr>
        <p:spPr>
          <a:xfrm>
            <a:off x="4754880" y="1554480"/>
            <a:ext cx="347472" cy="347472"/>
          </a:xfrm>
          <a:prstGeom prst="ellipse">
            <a:avLst/>
          </a:prstGeom>
          <a:solidFill>
            <a:srgbClr val="0891B2"/>
          </a:solidFill>
          <a:ln w="12700">
            <a:solidFill>
              <a:srgbClr val="0891B2"/>
            </a:solidFill>
            <a:prstDash val="solid"/>
          </a:ln>
        </p:spPr>
        <p:txBody>
          <a:bodyPr/>
          <a:lstStyle/>
          <a:p>
            <a:endParaRPr lang="tr-TR"/>
          </a:p>
        </p:txBody>
      </p:sp>
      <p:sp>
        <p:nvSpPr>
          <p:cNvPr id="44" name="Text 42"/>
          <p:cNvSpPr/>
          <p:nvPr/>
        </p:nvSpPr>
        <p:spPr>
          <a:xfrm>
            <a:off x="4754880" y="155448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5" name="Text 43"/>
          <p:cNvSpPr/>
          <p:nvPr/>
        </p:nvSpPr>
        <p:spPr>
          <a:xfrm>
            <a:off x="5193792" y="1572768"/>
            <a:ext cx="347472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Pozitif Faz — Veriyi Kullan</a:t>
            </a:r>
            <a:endParaRPr lang="en-US" sz="1100" dirty="0"/>
          </a:p>
        </p:txBody>
      </p:sp>
      <p:sp>
        <p:nvSpPr>
          <p:cNvPr id="46" name="Text 44"/>
          <p:cNvSpPr/>
          <p:nvPr/>
        </p:nvSpPr>
        <p:spPr>
          <a:xfrm>
            <a:off x="5193792" y="1883664"/>
            <a:ext cx="347472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Eğitim verisi v⁽⁰⁾ ile başla. p(hⱼ=1|v⁽⁰⁾) hesapla. Gibbs örneklemesiyle h⁽⁰⁾ örneğini al.</a:t>
            </a:r>
            <a:endParaRPr lang="en-US" sz="950" dirty="0"/>
          </a:p>
        </p:txBody>
      </p:sp>
      <p:sp>
        <p:nvSpPr>
          <p:cNvPr id="47" name="Shape 45"/>
          <p:cNvSpPr/>
          <p:nvPr/>
        </p:nvSpPr>
        <p:spPr>
          <a:xfrm>
            <a:off x="4663440" y="2322576"/>
            <a:ext cx="4114800" cy="749808"/>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8" name="Shape 46"/>
          <p:cNvSpPr/>
          <p:nvPr/>
        </p:nvSpPr>
        <p:spPr>
          <a:xfrm>
            <a:off x="4754880" y="2395728"/>
            <a:ext cx="347472" cy="347472"/>
          </a:xfrm>
          <a:prstGeom prst="ellipse">
            <a:avLst/>
          </a:prstGeom>
          <a:solidFill>
            <a:srgbClr val="7C3AED"/>
          </a:solidFill>
          <a:ln w="12700">
            <a:solidFill>
              <a:srgbClr val="7C3AED"/>
            </a:solidFill>
            <a:prstDash val="solid"/>
          </a:ln>
        </p:spPr>
        <p:txBody>
          <a:bodyPr/>
          <a:lstStyle/>
          <a:p>
            <a:endParaRPr lang="tr-TR"/>
          </a:p>
        </p:txBody>
      </p:sp>
      <p:sp>
        <p:nvSpPr>
          <p:cNvPr id="49" name="Text 47"/>
          <p:cNvSpPr/>
          <p:nvPr/>
        </p:nvSpPr>
        <p:spPr>
          <a:xfrm>
            <a:off x="4754880" y="2395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0" name="Text 48"/>
          <p:cNvSpPr/>
          <p:nvPr/>
        </p:nvSpPr>
        <p:spPr>
          <a:xfrm>
            <a:off x="5193792" y="2414016"/>
            <a:ext cx="347472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Negatif Faz — Modeli Örnekle</a:t>
            </a:r>
            <a:endParaRPr lang="en-US" sz="1100" dirty="0"/>
          </a:p>
        </p:txBody>
      </p:sp>
      <p:sp>
        <p:nvSpPr>
          <p:cNvPr id="51" name="Text 49"/>
          <p:cNvSpPr/>
          <p:nvPr/>
        </p:nvSpPr>
        <p:spPr>
          <a:xfrm>
            <a:off x="5193792" y="2724912"/>
            <a:ext cx="347472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h⁽⁰⁾'dan p(vᵢ=1|h) ile v⁽¹⁾ yeniden oluştur. Sonra p(hⱼ=1|v⁽¹⁾) hesapla → h⁽¹⁾ al.</a:t>
            </a:r>
            <a:endParaRPr lang="en-US" sz="950" dirty="0"/>
          </a:p>
        </p:txBody>
      </p:sp>
      <p:sp>
        <p:nvSpPr>
          <p:cNvPr id="52" name="Shape 50"/>
          <p:cNvSpPr/>
          <p:nvPr/>
        </p:nvSpPr>
        <p:spPr>
          <a:xfrm>
            <a:off x="4663440" y="3163824"/>
            <a:ext cx="4114800" cy="749808"/>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53" name="Shape 51"/>
          <p:cNvSpPr/>
          <p:nvPr/>
        </p:nvSpPr>
        <p:spPr>
          <a:xfrm>
            <a:off x="4754880" y="3236976"/>
            <a:ext cx="347472" cy="347472"/>
          </a:xfrm>
          <a:prstGeom prst="ellipse">
            <a:avLst/>
          </a:prstGeom>
          <a:solidFill>
            <a:srgbClr val="059669"/>
          </a:solidFill>
          <a:ln w="12700">
            <a:solidFill>
              <a:srgbClr val="059669"/>
            </a:solidFill>
            <a:prstDash val="solid"/>
          </a:ln>
        </p:spPr>
        <p:txBody>
          <a:bodyPr/>
          <a:lstStyle/>
          <a:p>
            <a:endParaRPr lang="tr-TR"/>
          </a:p>
        </p:txBody>
      </p:sp>
      <p:sp>
        <p:nvSpPr>
          <p:cNvPr id="54" name="Text 52"/>
          <p:cNvSpPr/>
          <p:nvPr/>
        </p:nvSpPr>
        <p:spPr>
          <a:xfrm>
            <a:off x="4754880" y="323697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5" name="Text 53"/>
          <p:cNvSpPr/>
          <p:nvPr/>
        </p:nvSpPr>
        <p:spPr>
          <a:xfrm>
            <a:off x="5193792" y="3255264"/>
            <a:ext cx="347472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Parametre Güncelleme</a:t>
            </a:r>
            <a:endParaRPr lang="en-US" sz="1100" dirty="0"/>
          </a:p>
        </p:txBody>
      </p:sp>
      <p:sp>
        <p:nvSpPr>
          <p:cNvPr id="56" name="Text 54"/>
          <p:cNvSpPr/>
          <p:nvPr/>
        </p:nvSpPr>
        <p:spPr>
          <a:xfrm>
            <a:off x="5193792" y="3566160"/>
            <a:ext cx="347472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Δwᵢⱼ = η[&lt;vᵢhⱼ&gt;veri − &lt;vᵢhⱼ&gt;model]. Δaᵢ = η[vᵢ⁽⁰⁾−vᵢ⁽¹⁾]. Δbⱼ = η[hⱼ⁽⁰⁾−hⱼ⁽¹⁾].</a:t>
            </a:r>
            <a:endParaRPr lang="en-US" sz="950" dirty="0"/>
          </a:p>
        </p:txBody>
      </p:sp>
      <p:sp>
        <p:nvSpPr>
          <p:cNvPr id="57" name="Shape 55"/>
          <p:cNvSpPr/>
          <p:nvPr/>
        </p:nvSpPr>
        <p:spPr>
          <a:xfrm>
            <a:off x="4663440" y="4005072"/>
            <a:ext cx="4114800" cy="749808"/>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58" name="Shape 56"/>
          <p:cNvSpPr/>
          <p:nvPr/>
        </p:nvSpPr>
        <p:spPr>
          <a:xfrm>
            <a:off x="4754880" y="4078224"/>
            <a:ext cx="347472" cy="347472"/>
          </a:xfrm>
          <a:prstGeom prst="ellipse">
            <a:avLst/>
          </a:prstGeom>
          <a:solidFill>
            <a:srgbClr val="F59E0B"/>
          </a:solidFill>
          <a:ln w="12700">
            <a:solidFill>
              <a:srgbClr val="F59E0B"/>
            </a:solidFill>
            <a:prstDash val="solid"/>
          </a:ln>
        </p:spPr>
        <p:txBody>
          <a:bodyPr/>
          <a:lstStyle/>
          <a:p>
            <a:endParaRPr lang="tr-TR"/>
          </a:p>
        </p:txBody>
      </p:sp>
      <p:sp>
        <p:nvSpPr>
          <p:cNvPr id="59" name="Text 57"/>
          <p:cNvSpPr/>
          <p:nvPr/>
        </p:nvSpPr>
        <p:spPr>
          <a:xfrm>
            <a:off x="4754880" y="407822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0" name="Text 58"/>
          <p:cNvSpPr/>
          <p:nvPr/>
        </p:nvSpPr>
        <p:spPr>
          <a:xfrm>
            <a:off x="5193792" y="4096512"/>
            <a:ext cx="347472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CD-1 Yeterince İyi!</a:t>
            </a:r>
            <a:endParaRPr lang="en-US" sz="1100" dirty="0"/>
          </a:p>
        </p:txBody>
      </p:sp>
      <p:sp>
        <p:nvSpPr>
          <p:cNvPr id="61" name="Text 59"/>
          <p:cNvSpPr/>
          <p:nvPr/>
        </p:nvSpPr>
        <p:spPr>
          <a:xfrm>
            <a:off x="5193792" y="4407408"/>
            <a:ext cx="3474720" cy="25603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k=1 Gibbs adımı bile ön-eğitim için tatmin edici sonuç verir. k→∞ → tam maksimum olasılık (ML). (Carreira-Perpinan &amp; Hinton, 2005)</a:t>
            </a:r>
            <a:endParaRPr lang="en-US" sz="950" dirty="0"/>
          </a:p>
        </p:txBody>
      </p:sp>
      <p:sp>
        <p:nvSpPr>
          <p:cNvPr id="62" name="Text 60"/>
          <p:cNvSpPr/>
          <p:nvPr/>
        </p:nvSpPr>
        <p:spPr>
          <a:xfrm>
            <a:off x="365760" y="4892040"/>
            <a:ext cx="8412480" cy="201168"/>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Kaynak: Hinton (2012) 'A Practical Guide to Training RBMs'; Fischer &amp; Igel (2012) CIARP; RBM tanımı için Emmert-Streib et al. (2020)</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13 — DBN EĞİTİMİ</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DBN Eğitim Süreci — Adım Adım RBM İstifleme</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097280"/>
            <a:ext cx="8412480" cy="530352"/>
          </a:xfrm>
          <a:prstGeom prst="rect">
            <a:avLst/>
          </a:prstGeom>
          <a:solidFill>
            <a:srgbClr val="243B55"/>
          </a:solidFill>
          <a:ln w="12700">
            <a:solidFill>
              <a:srgbClr val="F59E0B"/>
            </a:solidFill>
            <a:prstDash val="solid"/>
          </a:ln>
        </p:spPr>
        <p:txBody>
          <a:bodyPr/>
          <a:lstStyle/>
          <a:p>
            <a:endParaRPr lang="tr-TR"/>
          </a:p>
        </p:txBody>
      </p:sp>
      <p:sp>
        <p:nvSpPr>
          <p:cNvPr id="7" name="Text 5"/>
          <p:cNvSpPr/>
          <p:nvPr/>
        </p:nvSpPr>
        <p:spPr>
          <a:xfrm>
            <a:off x="502920" y="1115568"/>
            <a:ext cx="3657600" cy="256032"/>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 Açgözlü Katmanlı Ön-Eğitim (Greedy Layer-wise Pre-training):</a:t>
            </a:r>
            <a:endParaRPr lang="en-US" sz="1000" dirty="0"/>
          </a:p>
        </p:txBody>
      </p:sp>
      <p:sp>
        <p:nvSpPr>
          <p:cNvPr id="8" name="Text 6"/>
          <p:cNvSpPr/>
          <p:nvPr/>
        </p:nvSpPr>
        <p:spPr>
          <a:xfrm>
            <a:off x="502920" y="1371600"/>
            <a:ext cx="8092440" cy="201168"/>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Her RBM bağımsız olarak eğitilir; bir sonraki RBM'nin giriş verisi önceki RBM'nin gizli aktivasyonlarıdır. Bu yaklaşım, derin ağların doğrudan eğitilmesindeki güçlükleri aşar.</a:t>
            </a:r>
            <a:endParaRPr lang="en-US" sz="900" dirty="0"/>
          </a:p>
        </p:txBody>
      </p:sp>
      <p:sp>
        <p:nvSpPr>
          <p:cNvPr id="9" name="Shape 7"/>
          <p:cNvSpPr/>
          <p:nvPr/>
        </p:nvSpPr>
        <p:spPr>
          <a:xfrm>
            <a:off x="411480" y="1783080"/>
            <a:ext cx="658368" cy="2011680"/>
          </a:xfrm>
          <a:prstGeom prst="rect">
            <a:avLst/>
          </a:prstGeom>
          <a:solidFill>
            <a:srgbClr val="0891B2">
              <a:alpha val="80000"/>
            </a:srgbClr>
          </a:solidFill>
          <a:ln w="12700">
            <a:solidFill>
              <a:srgbClr val="0891B2"/>
            </a:solidFill>
            <a:prstDash val="solid"/>
          </a:ln>
        </p:spPr>
        <p:txBody>
          <a:bodyPr/>
          <a:lstStyle/>
          <a:p>
            <a:endParaRPr lang="tr-TR"/>
          </a:p>
        </p:txBody>
      </p:sp>
      <p:sp>
        <p:nvSpPr>
          <p:cNvPr id="10" name="Text 8"/>
          <p:cNvSpPr/>
          <p:nvPr/>
        </p:nvSpPr>
        <p:spPr>
          <a:xfrm>
            <a:off x="411480" y="1783080"/>
            <a:ext cx="658368" cy="20116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#Özellik</a:t>
            </a:r>
            <a:endParaRPr lang="en-US" sz="1000" dirty="0"/>
          </a:p>
        </p:txBody>
      </p:sp>
      <p:sp>
        <p:nvSpPr>
          <p:cNvPr id="11" name="Text 9"/>
          <p:cNvSpPr/>
          <p:nvPr/>
        </p:nvSpPr>
        <p:spPr>
          <a:xfrm>
            <a:off x="1088136" y="2514600"/>
            <a:ext cx="347472" cy="347472"/>
          </a:xfrm>
          <a:prstGeom prst="rect">
            <a:avLst/>
          </a:prstGeom>
          <a:noFill/>
          <a:ln/>
        </p:spPr>
        <p:txBody>
          <a:bodyPr wrap="square" lIns="0" tIns="0" rIns="0" bIns="0" rtlCol="0" anchor="ctr"/>
          <a:lstStyle/>
          <a:p>
            <a:pPr marL="0" indent="0" algn="ctr">
              <a:buNone/>
            </a:pPr>
            <a:r>
              <a:rPr lang="en-US" sz="1600" dirty="0">
                <a:solidFill>
                  <a:srgbClr val="94A3B8"/>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1463040" y="1783080"/>
            <a:ext cx="658368" cy="1247242"/>
          </a:xfrm>
          <a:prstGeom prst="rect">
            <a:avLst/>
          </a:prstGeom>
          <a:solidFill>
            <a:srgbClr val="7C3AED">
              <a:alpha val="75000"/>
            </a:srgbClr>
          </a:solidFill>
          <a:ln w="12700">
            <a:solidFill>
              <a:srgbClr val="7C3AED"/>
            </a:solidFill>
            <a:prstDash val="solid"/>
          </a:ln>
        </p:spPr>
        <p:txBody>
          <a:bodyPr/>
          <a:lstStyle/>
          <a:p>
            <a:endParaRPr lang="tr-TR"/>
          </a:p>
        </p:txBody>
      </p:sp>
      <p:sp>
        <p:nvSpPr>
          <p:cNvPr id="13" name="Text 11"/>
          <p:cNvSpPr/>
          <p:nvPr/>
        </p:nvSpPr>
        <p:spPr>
          <a:xfrm>
            <a:off x="1463040" y="1783080"/>
            <a:ext cx="658368" cy="124724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500</a:t>
            </a:r>
            <a:endParaRPr lang="en-US" sz="1000" dirty="0"/>
          </a:p>
        </p:txBody>
      </p:sp>
      <p:sp>
        <p:nvSpPr>
          <p:cNvPr id="14" name="Text 12"/>
          <p:cNvSpPr/>
          <p:nvPr/>
        </p:nvSpPr>
        <p:spPr>
          <a:xfrm>
            <a:off x="411480" y="3886200"/>
            <a:ext cx="1719072" cy="256032"/>
          </a:xfrm>
          <a:prstGeom prst="rect">
            <a:avLst/>
          </a:prstGeom>
          <a:noFill/>
          <a:ln/>
        </p:spPr>
        <p:txBody>
          <a:bodyPr wrap="square" lIns="0" tIns="0" rIns="0" bIns="0" rtlCol="0" anchor="ctr"/>
          <a:lstStyle/>
          <a:p>
            <a:pPr marL="0" indent="0" algn="ctr">
              <a:buNone/>
            </a:pPr>
            <a:r>
              <a:rPr lang="en-US" sz="1000" b="1" dirty="0">
                <a:solidFill>
                  <a:srgbClr val="0891B2"/>
                </a:solidFill>
                <a:latin typeface="Calibri" pitchFamily="34" charset="0"/>
                <a:ea typeface="Calibri" pitchFamily="34" charset="-122"/>
                <a:cs typeface="Calibri" pitchFamily="34" charset="-120"/>
              </a:rPr>
              <a:t>1. RBM</a:t>
            </a:r>
            <a:endParaRPr lang="en-US" sz="1000" dirty="0"/>
          </a:p>
        </p:txBody>
      </p:sp>
      <p:sp>
        <p:nvSpPr>
          <p:cNvPr id="15" name="Shape 13"/>
          <p:cNvSpPr/>
          <p:nvPr/>
        </p:nvSpPr>
        <p:spPr>
          <a:xfrm>
            <a:off x="2148840" y="2578608"/>
            <a:ext cx="274320" cy="36576"/>
          </a:xfrm>
          <a:prstGeom prst="rect">
            <a:avLst/>
          </a:prstGeom>
          <a:solidFill>
            <a:srgbClr val="94A3B8"/>
          </a:solidFill>
          <a:ln w="12700">
            <a:solidFill>
              <a:srgbClr val="94A3B8"/>
            </a:solidFill>
            <a:prstDash val="solid"/>
          </a:ln>
        </p:spPr>
        <p:txBody>
          <a:bodyPr/>
          <a:lstStyle/>
          <a:p>
            <a:endParaRPr lang="tr-TR"/>
          </a:p>
        </p:txBody>
      </p:sp>
      <p:sp>
        <p:nvSpPr>
          <p:cNvPr id="16" name="Shape 14"/>
          <p:cNvSpPr/>
          <p:nvPr/>
        </p:nvSpPr>
        <p:spPr>
          <a:xfrm>
            <a:off x="2441448" y="1783080"/>
            <a:ext cx="658368" cy="1247242"/>
          </a:xfrm>
          <a:prstGeom prst="rect">
            <a:avLst/>
          </a:prstGeom>
          <a:solidFill>
            <a:srgbClr val="06B6D4">
              <a:alpha val="80000"/>
            </a:srgbClr>
          </a:solidFill>
          <a:ln w="12700">
            <a:solidFill>
              <a:srgbClr val="06B6D4"/>
            </a:solidFill>
            <a:prstDash val="solid"/>
          </a:ln>
        </p:spPr>
        <p:txBody>
          <a:bodyPr/>
          <a:lstStyle/>
          <a:p>
            <a:endParaRPr lang="tr-TR"/>
          </a:p>
        </p:txBody>
      </p:sp>
      <p:sp>
        <p:nvSpPr>
          <p:cNvPr id="17" name="Text 15"/>
          <p:cNvSpPr/>
          <p:nvPr/>
        </p:nvSpPr>
        <p:spPr>
          <a:xfrm>
            <a:off x="2441448" y="1783080"/>
            <a:ext cx="658368" cy="124724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500</a:t>
            </a:r>
            <a:endParaRPr lang="en-US" sz="1000" dirty="0"/>
          </a:p>
        </p:txBody>
      </p:sp>
      <p:sp>
        <p:nvSpPr>
          <p:cNvPr id="18" name="Text 16"/>
          <p:cNvSpPr/>
          <p:nvPr/>
        </p:nvSpPr>
        <p:spPr>
          <a:xfrm>
            <a:off x="3118104" y="2514600"/>
            <a:ext cx="347472" cy="347472"/>
          </a:xfrm>
          <a:prstGeom prst="rect">
            <a:avLst/>
          </a:prstGeom>
          <a:noFill/>
          <a:ln/>
        </p:spPr>
        <p:txBody>
          <a:bodyPr wrap="square" lIns="0" tIns="0" rIns="0" bIns="0" rtlCol="0" anchor="ctr"/>
          <a:lstStyle/>
          <a:p>
            <a:pPr marL="0" indent="0" algn="ctr">
              <a:buNone/>
            </a:pPr>
            <a:r>
              <a:rPr lang="en-US" sz="1600" dirty="0">
                <a:solidFill>
                  <a:srgbClr val="94A3B8"/>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3493008" y="1783080"/>
            <a:ext cx="658368" cy="844906"/>
          </a:xfrm>
          <a:prstGeom prst="rect">
            <a:avLst/>
          </a:prstGeom>
          <a:solidFill>
            <a:srgbClr val="7C3AED">
              <a:alpha val="75000"/>
            </a:srgbClr>
          </a:solidFill>
          <a:ln w="12700">
            <a:solidFill>
              <a:srgbClr val="7C3AED"/>
            </a:solidFill>
            <a:prstDash val="solid"/>
          </a:ln>
        </p:spPr>
        <p:txBody>
          <a:bodyPr/>
          <a:lstStyle/>
          <a:p>
            <a:endParaRPr lang="tr-TR"/>
          </a:p>
        </p:txBody>
      </p:sp>
      <p:sp>
        <p:nvSpPr>
          <p:cNvPr id="20" name="Text 18"/>
          <p:cNvSpPr/>
          <p:nvPr/>
        </p:nvSpPr>
        <p:spPr>
          <a:xfrm>
            <a:off x="3493008" y="1783080"/>
            <a:ext cx="658368" cy="84490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250</a:t>
            </a:r>
            <a:endParaRPr lang="en-US" sz="1000" dirty="0"/>
          </a:p>
        </p:txBody>
      </p:sp>
      <p:sp>
        <p:nvSpPr>
          <p:cNvPr id="21" name="Text 19"/>
          <p:cNvSpPr/>
          <p:nvPr/>
        </p:nvSpPr>
        <p:spPr>
          <a:xfrm>
            <a:off x="2441448" y="3886200"/>
            <a:ext cx="1719072" cy="256032"/>
          </a:xfrm>
          <a:prstGeom prst="rect">
            <a:avLst/>
          </a:prstGeom>
          <a:noFill/>
          <a:ln/>
        </p:spPr>
        <p:txBody>
          <a:bodyPr wrap="square" lIns="0" tIns="0" rIns="0" bIns="0" rtlCol="0" anchor="ctr"/>
          <a:lstStyle/>
          <a:p>
            <a:pPr marL="0" indent="0" algn="ctr">
              <a:buNone/>
            </a:pPr>
            <a:r>
              <a:rPr lang="en-US" sz="1000" b="1" dirty="0">
                <a:solidFill>
                  <a:srgbClr val="06B6D4"/>
                </a:solidFill>
                <a:latin typeface="Calibri" pitchFamily="34" charset="0"/>
                <a:ea typeface="Calibri" pitchFamily="34" charset="-122"/>
                <a:cs typeface="Calibri" pitchFamily="34" charset="-120"/>
              </a:rPr>
              <a:t>2. RBM</a:t>
            </a:r>
            <a:endParaRPr lang="en-US" sz="1000" dirty="0"/>
          </a:p>
        </p:txBody>
      </p:sp>
      <p:sp>
        <p:nvSpPr>
          <p:cNvPr id="22" name="Shape 20"/>
          <p:cNvSpPr/>
          <p:nvPr/>
        </p:nvSpPr>
        <p:spPr>
          <a:xfrm>
            <a:off x="4178808" y="2578608"/>
            <a:ext cx="274320" cy="36576"/>
          </a:xfrm>
          <a:prstGeom prst="rect">
            <a:avLst/>
          </a:prstGeom>
          <a:solidFill>
            <a:srgbClr val="94A3B8"/>
          </a:solidFill>
          <a:ln w="12700">
            <a:solidFill>
              <a:srgbClr val="94A3B8"/>
            </a:solidFill>
            <a:prstDash val="solid"/>
          </a:ln>
        </p:spPr>
        <p:txBody>
          <a:bodyPr/>
          <a:lstStyle/>
          <a:p>
            <a:endParaRPr lang="tr-TR"/>
          </a:p>
        </p:txBody>
      </p:sp>
      <p:sp>
        <p:nvSpPr>
          <p:cNvPr id="23" name="Shape 21"/>
          <p:cNvSpPr/>
          <p:nvPr/>
        </p:nvSpPr>
        <p:spPr>
          <a:xfrm>
            <a:off x="4471416" y="1783080"/>
            <a:ext cx="658368" cy="844906"/>
          </a:xfrm>
          <a:prstGeom prst="rect">
            <a:avLst/>
          </a:prstGeom>
          <a:solidFill>
            <a:srgbClr val="84CC16">
              <a:alpha val="80000"/>
            </a:srgbClr>
          </a:solidFill>
          <a:ln w="12700">
            <a:solidFill>
              <a:srgbClr val="84CC16"/>
            </a:solidFill>
            <a:prstDash val="solid"/>
          </a:ln>
        </p:spPr>
        <p:txBody>
          <a:bodyPr/>
          <a:lstStyle/>
          <a:p>
            <a:endParaRPr lang="tr-TR"/>
          </a:p>
        </p:txBody>
      </p:sp>
      <p:sp>
        <p:nvSpPr>
          <p:cNvPr id="24" name="Text 22"/>
          <p:cNvSpPr/>
          <p:nvPr/>
        </p:nvSpPr>
        <p:spPr>
          <a:xfrm>
            <a:off x="4471416" y="1783080"/>
            <a:ext cx="658368" cy="84490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250</a:t>
            </a:r>
            <a:endParaRPr lang="en-US" sz="1000" dirty="0"/>
          </a:p>
        </p:txBody>
      </p:sp>
      <p:sp>
        <p:nvSpPr>
          <p:cNvPr id="25" name="Text 23"/>
          <p:cNvSpPr/>
          <p:nvPr/>
        </p:nvSpPr>
        <p:spPr>
          <a:xfrm>
            <a:off x="5148072" y="2514600"/>
            <a:ext cx="347472" cy="347472"/>
          </a:xfrm>
          <a:prstGeom prst="rect">
            <a:avLst/>
          </a:prstGeom>
          <a:noFill/>
          <a:ln/>
        </p:spPr>
        <p:txBody>
          <a:bodyPr wrap="square" lIns="0" tIns="0" rIns="0" bIns="0" rtlCol="0" anchor="ctr"/>
          <a:lstStyle/>
          <a:p>
            <a:pPr marL="0" indent="0" algn="ctr">
              <a:buNone/>
            </a:pPr>
            <a:r>
              <a:rPr lang="en-US" sz="1600" dirty="0">
                <a:solidFill>
                  <a:srgbClr val="94A3B8"/>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5522976" y="1783080"/>
            <a:ext cx="658368" cy="563270"/>
          </a:xfrm>
          <a:prstGeom prst="rect">
            <a:avLst/>
          </a:prstGeom>
          <a:solidFill>
            <a:srgbClr val="7C3AED">
              <a:alpha val="75000"/>
            </a:srgbClr>
          </a:solidFill>
          <a:ln w="12700">
            <a:solidFill>
              <a:srgbClr val="7C3AED"/>
            </a:solidFill>
            <a:prstDash val="solid"/>
          </a:ln>
        </p:spPr>
        <p:txBody>
          <a:bodyPr/>
          <a:lstStyle/>
          <a:p>
            <a:endParaRPr lang="tr-TR"/>
          </a:p>
        </p:txBody>
      </p:sp>
      <p:sp>
        <p:nvSpPr>
          <p:cNvPr id="27" name="Text 25"/>
          <p:cNvSpPr/>
          <p:nvPr/>
        </p:nvSpPr>
        <p:spPr>
          <a:xfrm>
            <a:off x="5522976" y="1783080"/>
            <a:ext cx="658368" cy="56327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125</a:t>
            </a:r>
            <a:endParaRPr lang="en-US" sz="1000" dirty="0"/>
          </a:p>
        </p:txBody>
      </p:sp>
      <p:sp>
        <p:nvSpPr>
          <p:cNvPr id="28" name="Text 26"/>
          <p:cNvSpPr/>
          <p:nvPr/>
        </p:nvSpPr>
        <p:spPr>
          <a:xfrm>
            <a:off x="4471416" y="3886200"/>
            <a:ext cx="1719072" cy="256032"/>
          </a:xfrm>
          <a:prstGeom prst="rect">
            <a:avLst/>
          </a:prstGeom>
          <a:noFill/>
          <a:ln/>
        </p:spPr>
        <p:txBody>
          <a:bodyPr wrap="square" lIns="0" tIns="0" rIns="0" bIns="0" rtlCol="0" anchor="ctr"/>
          <a:lstStyle/>
          <a:p>
            <a:pPr marL="0" indent="0" algn="ctr">
              <a:buNone/>
            </a:pPr>
            <a:r>
              <a:rPr lang="en-US" sz="1000" b="1" dirty="0">
                <a:solidFill>
                  <a:srgbClr val="84CC16"/>
                </a:solidFill>
                <a:latin typeface="Calibri" pitchFamily="34" charset="0"/>
                <a:ea typeface="Calibri" pitchFamily="34" charset="-122"/>
                <a:cs typeface="Calibri" pitchFamily="34" charset="-120"/>
              </a:rPr>
              <a:t>3. RBM</a:t>
            </a:r>
            <a:endParaRPr lang="en-US" sz="1000" dirty="0"/>
          </a:p>
        </p:txBody>
      </p:sp>
      <p:sp>
        <p:nvSpPr>
          <p:cNvPr id="29" name="Shape 27"/>
          <p:cNvSpPr/>
          <p:nvPr/>
        </p:nvSpPr>
        <p:spPr>
          <a:xfrm>
            <a:off x="6208776" y="2578608"/>
            <a:ext cx="274320" cy="36576"/>
          </a:xfrm>
          <a:prstGeom prst="rect">
            <a:avLst/>
          </a:prstGeom>
          <a:solidFill>
            <a:srgbClr val="94A3B8"/>
          </a:solidFill>
          <a:ln w="12700">
            <a:solidFill>
              <a:srgbClr val="94A3B8"/>
            </a:solidFill>
            <a:prstDash val="solid"/>
          </a:ln>
        </p:spPr>
        <p:txBody>
          <a:bodyPr/>
          <a:lstStyle/>
          <a:p>
            <a:endParaRPr lang="tr-TR"/>
          </a:p>
        </p:txBody>
      </p:sp>
      <p:sp>
        <p:nvSpPr>
          <p:cNvPr id="30" name="Shape 28"/>
          <p:cNvSpPr/>
          <p:nvPr/>
        </p:nvSpPr>
        <p:spPr>
          <a:xfrm>
            <a:off x="6501384" y="1783080"/>
            <a:ext cx="658368" cy="563270"/>
          </a:xfrm>
          <a:prstGeom prst="rect">
            <a:avLst/>
          </a:prstGeom>
          <a:solidFill>
            <a:srgbClr val="F59E0B">
              <a:alpha val="80000"/>
            </a:srgbClr>
          </a:solidFill>
          <a:ln w="12700">
            <a:solidFill>
              <a:srgbClr val="F59E0B"/>
            </a:solidFill>
            <a:prstDash val="solid"/>
          </a:ln>
        </p:spPr>
        <p:txBody>
          <a:bodyPr/>
          <a:lstStyle/>
          <a:p>
            <a:endParaRPr lang="tr-TR"/>
          </a:p>
        </p:txBody>
      </p:sp>
      <p:sp>
        <p:nvSpPr>
          <p:cNvPr id="31" name="Text 29"/>
          <p:cNvSpPr/>
          <p:nvPr/>
        </p:nvSpPr>
        <p:spPr>
          <a:xfrm>
            <a:off x="6501384" y="1783080"/>
            <a:ext cx="658368" cy="56327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125</a:t>
            </a:r>
            <a:endParaRPr lang="en-US" sz="1000" dirty="0"/>
          </a:p>
        </p:txBody>
      </p:sp>
      <p:sp>
        <p:nvSpPr>
          <p:cNvPr id="32" name="Text 30"/>
          <p:cNvSpPr/>
          <p:nvPr/>
        </p:nvSpPr>
        <p:spPr>
          <a:xfrm>
            <a:off x="7178040" y="2514600"/>
            <a:ext cx="347472" cy="347472"/>
          </a:xfrm>
          <a:prstGeom prst="rect">
            <a:avLst/>
          </a:prstGeom>
          <a:noFill/>
          <a:ln/>
        </p:spPr>
        <p:txBody>
          <a:bodyPr wrap="square" lIns="0" tIns="0" rIns="0" bIns="0" rtlCol="0" anchor="ctr"/>
          <a:lstStyle/>
          <a:p>
            <a:pPr marL="0" indent="0" algn="ctr">
              <a:buNone/>
            </a:pPr>
            <a:r>
              <a:rPr lang="en-US" sz="1600" dirty="0">
                <a:solidFill>
                  <a:srgbClr val="94A3B8"/>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7552944" y="1783080"/>
            <a:ext cx="658368" cy="402336"/>
          </a:xfrm>
          <a:prstGeom prst="rect">
            <a:avLst/>
          </a:prstGeom>
          <a:solidFill>
            <a:srgbClr val="7C3AED">
              <a:alpha val="75000"/>
            </a:srgbClr>
          </a:solidFill>
          <a:ln w="12700">
            <a:solidFill>
              <a:srgbClr val="7C3AED"/>
            </a:solidFill>
            <a:prstDash val="solid"/>
          </a:ln>
        </p:spPr>
        <p:txBody>
          <a:bodyPr/>
          <a:lstStyle/>
          <a:p>
            <a:endParaRPr lang="tr-TR"/>
          </a:p>
        </p:txBody>
      </p:sp>
      <p:sp>
        <p:nvSpPr>
          <p:cNvPr id="34" name="Text 32"/>
          <p:cNvSpPr/>
          <p:nvPr/>
        </p:nvSpPr>
        <p:spPr>
          <a:xfrm>
            <a:off x="7552944" y="1783080"/>
            <a:ext cx="658368"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50</a:t>
            </a:r>
            <a:endParaRPr lang="en-US" sz="1000" dirty="0"/>
          </a:p>
        </p:txBody>
      </p:sp>
      <p:sp>
        <p:nvSpPr>
          <p:cNvPr id="35" name="Text 33"/>
          <p:cNvSpPr/>
          <p:nvPr/>
        </p:nvSpPr>
        <p:spPr>
          <a:xfrm>
            <a:off x="6501384" y="3886200"/>
            <a:ext cx="1719072" cy="256032"/>
          </a:xfrm>
          <a:prstGeom prst="rect">
            <a:avLst/>
          </a:prstGeom>
          <a:noFill/>
          <a:ln/>
        </p:spPr>
        <p:txBody>
          <a:bodyPr wrap="square" lIns="0" tIns="0" rIns="0" bIns="0" rtlCol="0" anchor="ctr"/>
          <a:lstStyle/>
          <a:p>
            <a:pPr marL="0" indent="0" algn="ctr">
              <a:buNone/>
            </a:pPr>
            <a:r>
              <a:rPr lang="en-US" sz="1000" b="1" dirty="0">
                <a:solidFill>
                  <a:srgbClr val="F59E0B"/>
                </a:solidFill>
                <a:latin typeface="Calibri" pitchFamily="34" charset="0"/>
                <a:ea typeface="Calibri" pitchFamily="34" charset="-122"/>
                <a:cs typeface="Calibri" pitchFamily="34" charset="-120"/>
              </a:rPr>
              <a:t>4. RBM</a:t>
            </a:r>
            <a:endParaRPr lang="en-US" sz="1000" dirty="0"/>
          </a:p>
        </p:txBody>
      </p:sp>
      <p:sp>
        <p:nvSpPr>
          <p:cNvPr id="36" name="Shape 34"/>
          <p:cNvSpPr/>
          <p:nvPr/>
        </p:nvSpPr>
        <p:spPr>
          <a:xfrm>
            <a:off x="4754880" y="1783080"/>
            <a:ext cx="4114800" cy="69494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37" name="Shape 35"/>
          <p:cNvSpPr/>
          <p:nvPr/>
        </p:nvSpPr>
        <p:spPr>
          <a:xfrm>
            <a:off x="4846320" y="1856232"/>
            <a:ext cx="347472" cy="347472"/>
          </a:xfrm>
          <a:prstGeom prst="ellipse">
            <a:avLst/>
          </a:prstGeom>
          <a:solidFill>
            <a:srgbClr val="0891B2"/>
          </a:solidFill>
          <a:ln w="12700">
            <a:solidFill>
              <a:srgbClr val="0891B2"/>
            </a:solidFill>
            <a:prstDash val="solid"/>
          </a:ln>
        </p:spPr>
        <p:txBody>
          <a:bodyPr/>
          <a:lstStyle/>
          <a:p>
            <a:endParaRPr lang="tr-TR"/>
          </a:p>
        </p:txBody>
      </p:sp>
      <p:sp>
        <p:nvSpPr>
          <p:cNvPr id="38" name="Text 36"/>
          <p:cNvSpPr/>
          <p:nvPr/>
        </p:nvSpPr>
        <p:spPr>
          <a:xfrm>
            <a:off x="4846320" y="18562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9" name="Text 37"/>
          <p:cNvSpPr/>
          <p:nvPr/>
        </p:nvSpPr>
        <p:spPr>
          <a:xfrm>
            <a:off x="5285232" y="1874520"/>
            <a:ext cx="347472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1. RBM: Gerçek Veriyle Eğit</a:t>
            </a:r>
            <a:endParaRPr lang="en-US" sz="1100" dirty="0"/>
          </a:p>
        </p:txBody>
      </p:sp>
      <p:sp>
        <p:nvSpPr>
          <p:cNvPr id="40" name="Text 38"/>
          <p:cNvSpPr/>
          <p:nvPr/>
        </p:nvSpPr>
        <p:spPr>
          <a:xfrm>
            <a:off x="5285232" y="2185416"/>
            <a:ext cx="347472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Ham giriş (#özellik → 500 gizli birim). CD algoritması ile ağırlıklar öğrenilir.</a:t>
            </a:r>
            <a:endParaRPr lang="en-US" sz="950" dirty="0"/>
          </a:p>
        </p:txBody>
      </p:sp>
      <p:sp>
        <p:nvSpPr>
          <p:cNvPr id="41" name="Shape 39"/>
          <p:cNvSpPr/>
          <p:nvPr/>
        </p:nvSpPr>
        <p:spPr>
          <a:xfrm>
            <a:off x="4754880" y="2569464"/>
            <a:ext cx="4114800" cy="69494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2" name="Shape 40"/>
          <p:cNvSpPr/>
          <p:nvPr/>
        </p:nvSpPr>
        <p:spPr>
          <a:xfrm>
            <a:off x="4846320" y="2642616"/>
            <a:ext cx="347472" cy="347472"/>
          </a:xfrm>
          <a:prstGeom prst="ellipse">
            <a:avLst/>
          </a:prstGeom>
          <a:solidFill>
            <a:srgbClr val="0891B2"/>
          </a:solidFill>
          <a:ln w="12700">
            <a:solidFill>
              <a:srgbClr val="0891B2"/>
            </a:solidFill>
            <a:prstDash val="solid"/>
          </a:ln>
        </p:spPr>
        <p:txBody>
          <a:bodyPr/>
          <a:lstStyle/>
          <a:p>
            <a:endParaRPr lang="tr-TR"/>
          </a:p>
        </p:txBody>
      </p:sp>
      <p:sp>
        <p:nvSpPr>
          <p:cNvPr id="43" name="Text 41"/>
          <p:cNvSpPr/>
          <p:nvPr/>
        </p:nvSpPr>
        <p:spPr>
          <a:xfrm>
            <a:off x="4846320" y="264261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4" name="Text 42"/>
          <p:cNvSpPr/>
          <p:nvPr/>
        </p:nvSpPr>
        <p:spPr>
          <a:xfrm>
            <a:off x="5285232" y="2660904"/>
            <a:ext cx="347472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2. RBM: Gizli Çıktıyı Besle</a:t>
            </a:r>
            <a:endParaRPr lang="en-US" sz="1100" dirty="0"/>
          </a:p>
        </p:txBody>
      </p:sp>
      <p:sp>
        <p:nvSpPr>
          <p:cNvPr id="45" name="Text 43"/>
          <p:cNvSpPr/>
          <p:nvPr/>
        </p:nvSpPr>
        <p:spPr>
          <a:xfrm>
            <a:off x="5285232" y="2971800"/>
            <a:ext cx="347472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1. RBM'nin 500 boyutlu gizli aktivasyonları → 2. RBM'nin girişi (500→250).</a:t>
            </a:r>
            <a:endParaRPr lang="en-US" sz="950" dirty="0"/>
          </a:p>
        </p:txBody>
      </p:sp>
      <p:sp>
        <p:nvSpPr>
          <p:cNvPr id="46" name="Shape 44"/>
          <p:cNvSpPr/>
          <p:nvPr/>
        </p:nvSpPr>
        <p:spPr>
          <a:xfrm>
            <a:off x="4754880" y="3355848"/>
            <a:ext cx="4114800" cy="69494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47" name="Shape 45"/>
          <p:cNvSpPr/>
          <p:nvPr/>
        </p:nvSpPr>
        <p:spPr>
          <a:xfrm>
            <a:off x="4846320" y="3429000"/>
            <a:ext cx="347472" cy="347472"/>
          </a:xfrm>
          <a:prstGeom prst="ellipse">
            <a:avLst/>
          </a:prstGeom>
          <a:solidFill>
            <a:srgbClr val="0891B2"/>
          </a:solidFill>
          <a:ln w="12700">
            <a:solidFill>
              <a:srgbClr val="0891B2"/>
            </a:solidFill>
            <a:prstDash val="solid"/>
          </a:ln>
        </p:spPr>
        <p:txBody>
          <a:bodyPr/>
          <a:lstStyle/>
          <a:p>
            <a:endParaRPr lang="tr-TR"/>
          </a:p>
        </p:txBody>
      </p:sp>
      <p:sp>
        <p:nvSpPr>
          <p:cNvPr id="48" name="Text 46"/>
          <p:cNvSpPr/>
          <p:nvPr/>
        </p:nvSpPr>
        <p:spPr>
          <a:xfrm>
            <a:off x="4846320" y="3429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9" name="Text 47"/>
          <p:cNvSpPr/>
          <p:nvPr/>
        </p:nvSpPr>
        <p:spPr>
          <a:xfrm>
            <a:off x="5285232" y="3447288"/>
            <a:ext cx="347472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3. &amp; 4. RBM: Devam Et</a:t>
            </a:r>
            <a:endParaRPr lang="en-US" sz="1100" dirty="0"/>
          </a:p>
        </p:txBody>
      </p:sp>
      <p:sp>
        <p:nvSpPr>
          <p:cNvPr id="50" name="Text 48"/>
          <p:cNvSpPr/>
          <p:nvPr/>
        </p:nvSpPr>
        <p:spPr>
          <a:xfrm>
            <a:off x="5285232" y="3758184"/>
            <a:ext cx="347472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250→125, 125→50. Her adımda daha kompakt ve soyut temsil öğrenilir.</a:t>
            </a:r>
            <a:endParaRPr lang="en-US" sz="950" dirty="0"/>
          </a:p>
        </p:txBody>
      </p:sp>
      <p:sp>
        <p:nvSpPr>
          <p:cNvPr id="51" name="Shape 49"/>
          <p:cNvSpPr/>
          <p:nvPr/>
        </p:nvSpPr>
        <p:spPr>
          <a:xfrm>
            <a:off x="4754880" y="4142232"/>
            <a:ext cx="4114800" cy="694944"/>
          </a:xfrm>
          <a:prstGeom prst="rect">
            <a:avLst/>
          </a:prstGeom>
          <a:solidFill>
            <a:srgbClr val="FFFFFF"/>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tr-TR"/>
          </a:p>
        </p:txBody>
      </p:sp>
      <p:sp>
        <p:nvSpPr>
          <p:cNvPr id="52" name="Shape 50"/>
          <p:cNvSpPr/>
          <p:nvPr/>
        </p:nvSpPr>
        <p:spPr>
          <a:xfrm>
            <a:off x="4846320" y="4215384"/>
            <a:ext cx="347472" cy="347472"/>
          </a:xfrm>
          <a:prstGeom prst="ellipse">
            <a:avLst/>
          </a:prstGeom>
          <a:solidFill>
            <a:srgbClr val="0891B2"/>
          </a:solidFill>
          <a:ln w="12700">
            <a:solidFill>
              <a:srgbClr val="0891B2"/>
            </a:solidFill>
            <a:prstDash val="solid"/>
          </a:ln>
        </p:spPr>
        <p:txBody>
          <a:bodyPr/>
          <a:lstStyle/>
          <a:p>
            <a:endParaRPr lang="tr-TR"/>
          </a:p>
        </p:txBody>
      </p:sp>
      <p:sp>
        <p:nvSpPr>
          <p:cNvPr id="53" name="Text 51"/>
          <p:cNvSpPr/>
          <p:nvPr/>
        </p:nvSpPr>
        <p:spPr>
          <a:xfrm>
            <a:off x="4846320" y="421538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4" name="Text 52"/>
          <p:cNvSpPr/>
          <p:nvPr/>
        </p:nvSpPr>
        <p:spPr>
          <a:xfrm>
            <a:off x="5285232" y="4233672"/>
            <a:ext cx="347472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İnce-Ayar (Fine-tuning)</a:t>
            </a:r>
            <a:endParaRPr lang="en-US" sz="1100" dirty="0"/>
          </a:p>
        </p:txBody>
      </p:sp>
      <p:sp>
        <p:nvSpPr>
          <p:cNvPr id="55" name="Text 53"/>
          <p:cNvSpPr/>
          <p:nvPr/>
        </p:nvSpPr>
        <p:spPr>
          <a:xfrm>
            <a:off x="5285232" y="4544568"/>
            <a:ext cx="347472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Tüm RBM katmanları + sınıflandırıcı birleştirilerek backpropagation ile optimize edilir.</a:t>
            </a:r>
            <a:endParaRPr lang="en-US" sz="950" dirty="0"/>
          </a:p>
        </p:txBody>
      </p:sp>
      <p:sp>
        <p:nvSpPr>
          <p:cNvPr id="56" name="Text 54"/>
          <p:cNvSpPr/>
          <p:nvPr/>
        </p:nvSpPr>
        <p:spPr>
          <a:xfrm>
            <a:off x="365760" y="4956048"/>
            <a:ext cx="8412480" cy="18288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Kaynak: Hinton, Osindero &amp; Teh (2006) Neural Computation 18:1527-1554 — 'A Fast Learning Algorithm for Deep Belief Nets'</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1B2F4A"/>
          </a:solidFill>
          <a:ln w="12700">
            <a:solidFill>
              <a:srgbClr val="1B2F4A"/>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14 — AE VARYANTLARİ</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Otokodlayıcı Varyantları — 4 Temel Tür</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115568"/>
            <a:ext cx="4114800" cy="1828800"/>
          </a:xfrm>
          <a:prstGeom prst="rect">
            <a:avLst/>
          </a:prstGeom>
          <a:solidFill>
            <a:srgbClr val="FFFFFF"/>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7" name="Shape 5"/>
          <p:cNvSpPr/>
          <p:nvPr/>
        </p:nvSpPr>
        <p:spPr>
          <a:xfrm>
            <a:off x="365760" y="1115568"/>
            <a:ext cx="4114800" cy="420624"/>
          </a:xfrm>
          <a:prstGeom prst="rect">
            <a:avLst/>
          </a:prstGeom>
          <a:solidFill>
            <a:srgbClr val="0891B2"/>
          </a:solidFill>
          <a:ln w="12700">
            <a:solidFill>
              <a:srgbClr val="0891B2"/>
            </a:solidFill>
            <a:prstDash val="solid"/>
          </a:ln>
        </p:spPr>
        <p:txBody>
          <a:bodyPr/>
          <a:lstStyle/>
          <a:p>
            <a:endParaRPr lang="tr-TR"/>
          </a:p>
        </p:txBody>
      </p:sp>
      <p:sp>
        <p:nvSpPr>
          <p:cNvPr id="8" name="Text 6"/>
          <p:cNvSpPr/>
          <p:nvPr/>
        </p:nvSpPr>
        <p:spPr>
          <a:xfrm>
            <a:off x="457200" y="1115568"/>
            <a:ext cx="393192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Standart AE</a:t>
            </a:r>
            <a:endParaRPr lang="en-US" sz="1200" dirty="0"/>
          </a:p>
        </p:txBody>
      </p:sp>
      <p:sp>
        <p:nvSpPr>
          <p:cNvPr id="9" name="Text 7"/>
          <p:cNvSpPr/>
          <p:nvPr/>
        </p:nvSpPr>
        <p:spPr>
          <a:xfrm>
            <a:off x="475488" y="1591056"/>
            <a:ext cx="3895344" cy="6583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Giriş veriyi sıkıştırılmış kodlamaya (şişe boynu katmanı) dönüştürür, ardından yeniden oluşturur. PCA'dan üstün: doğrusal olmayan dönüşüm öğrenir. Kayıp: MSE = (1/n)Σ‖x−ŷ‖²</a:t>
            </a:r>
            <a:endParaRPr lang="en-US" sz="900" dirty="0"/>
          </a:p>
        </p:txBody>
      </p:sp>
      <p:sp>
        <p:nvSpPr>
          <p:cNvPr id="10" name="Shape 8"/>
          <p:cNvSpPr/>
          <p:nvPr/>
        </p:nvSpPr>
        <p:spPr>
          <a:xfrm>
            <a:off x="475488" y="2286000"/>
            <a:ext cx="3895344" cy="256032"/>
          </a:xfrm>
          <a:prstGeom prst="rect">
            <a:avLst/>
          </a:prstGeom>
          <a:solidFill>
            <a:srgbClr val="0891B2">
              <a:alpha val="15000"/>
            </a:srgbClr>
          </a:solidFill>
          <a:ln w="12700">
            <a:solidFill>
              <a:srgbClr val="0891B2">
                <a:alpha val="40000"/>
              </a:srgbClr>
            </a:solidFill>
            <a:prstDash val="solid"/>
          </a:ln>
        </p:spPr>
        <p:txBody>
          <a:bodyPr/>
          <a:lstStyle/>
          <a:p>
            <a:endParaRPr lang="tr-TR"/>
          </a:p>
        </p:txBody>
      </p:sp>
      <p:sp>
        <p:nvSpPr>
          <p:cNvPr id="11" name="Text 9"/>
          <p:cNvSpPr/>
          <p:nvPr/>
        </p:nvSpPr>
        <p:spPr>
          <a:xfrm>
            <a:off x="502920" y="2286000"/>
            <a:ext cx="3840480" cy="256032"/>
          </a:xfrm>
          <a:prstGeom prst="rect">
            <a:avLst/>
          </a:prstGeom>
          <a:noFill/>
          <a:ln/>
        </p:spPr>
        <p:txBody>
          <a:bodyPr wrap="square" lIns="25400" tIns="25400" rIns="25400" bIns="2540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c = h(x)  →  ŷ = g(c) ≈ x</a:t>
            </a:r>
            <a:endParaRPr lang="en-US" sz="900" dirty="0"/>
          </a:p>
        </p:txBody>
      </p:sp>
      <p:sp>
        <p:nvSpPr>
          <p:cNvPr id="12" name="Text 10"/>
          <p:cNvSpPr/>
          <p:nvPr/>
        </p:nvSpPr>
        <p:spPr>
          <a:xfrm>
            <a:off x="475488" y="2578608"/>
            <a:ext cx="3895344" cy="274320"/>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Boyut indirgeme, görselleştirme   ·   📖 Hinton &amp; Salakhutdinov, 2006 (Science)</a:t>
            </a:r>
            <a:endParaRPr lang="en-US" sz="800" dirty="0"/>
          </a:p>
        </p:txBody>
      </p:sp>
      <p:sp>
        <p:nvSpPr>
          <p:cNvPr id="13" name="Shape 11"/>
          <p:cNvSpPr/>
          <p:nvPr/>
        </p:nvSpPr>
        <p:spPr>
          <a:xfrm>
            <a:off x="4773168" y="1115568"/>
            <a:ext cx="4114800" cy="1828800"/>
          </a:xfrm>
          <a:prstGeom prst="rect">
            <a:avLst/>
          </a:prstGeom>
          <a:solidFill>
            <a:srgbClr val="FFFFFF"/>
          </a:solidFill>
          <a:ln w="12700">
            <a:solidFill>
              <a:srgbClr val="7C3AED"/>
            </a:solidFill>
            <a:prstDash val="solid"/>
          </a:ln>
          <a:effectLst>
            <a:outerShdw blurRad="127000" dist="50800" dir="8100000" algn="bl" rotWithShape="0">
              <a:srgbClr val="000000">
                <a:alpha val="12000"/>
              </a:srgbClr>
            </a:outerShdw>
          </a:effectLst>
        </p:spPr>
        <p:txBody>
          <a:bodyPr/>
          <a:lstStyle/>
          <a:p>
            <a:endParaRPr lang="tr-TR"/>
          </a:p>
        </p:txBody>
      </p:sp>
      <p:sp>
        <p:nvSpPr>
          <p:cNvPr id="14" name="Shape 12"/>
          <p:cNvSpPr/>
          <p:nvPr/>
        </p:nvSpPr>
        <p:spPr>
          <a:xfrm>
            <a:off x="4773168" y="1115568"/>
            <a:ext cx="4114800" cy="420624"/>
          </a:xfrm>
          <a:prstGeom prst="rect">
            <a:avLst/>
          </a:prstGeom>
          <a:solidFill>
            <a:srgbClr val="7C3AED"/>
          </a:solidFill>
          <a:ln w="12700">
            <a:solidFill>
              <a:srgbClr val="7C3AED"/>
            </a:solidFill>
            <a:prstDash val="solid"/>
          </a:ln>
        </p:spPr>
        <p:txBody>
          <a:bodyPr/>
          <a:lstStyle/>
          <a:p>
            <a:endParaRPr lang="tr-TR"/>
          </a:p>
        </p:txBody>
      </p:sp>
      <p:sp>
        <p:nvSpPr>
          <p:cNvPr id="15" name="Text 13"/>
          <p:cNvSpPr/>
          <p:nvPr/>
        </p:nvSpPr>
        <p:spPr>
          <a:xfrm>
            <a:off x="4864608" y="1115568"/>
            <a:ext cx="393192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Seyrek AE</a:t>
            </a:r>
            <a:endParaRPr lang="en-US" sz="1200" dirty="0"/>
          </a:p>
        </p:txBody>
      </p:sp>
      <p:sp>
        <p:nvSpPr>
          <p:cNvPr id="16" name="Text 14"/>
          <p:cNvSpPr/>
          <p:nvPr/>
        </p:nvSpPr>
        <p:spPr>
          <a:xfrm>
            <a:off x="4882896" y="1591056"/>
            <a:ext cx="3895344" cy="6583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Gizli nöronların büyük çoğunluğunun sıfır aktivasyon göstermesi için L1 düzenlileştirmesi uygulanır. Az sayıda aktif nöron → ayrık ve yorumlanabilir özellikler.</a:t>
            </a:r>
            <a:endParaRPr lang="en-US" sz="900" dirty="0"/>
          </a:p>
        </p:txBody>
      </p:sp>
      <p:sp>
        <p:nvSpPr>
          <p:cNvPr id="17" name="Shape 15"/>
          <p:cNvSpPr/>
          <p:nvPr/>
        </p:nvSpPr>
        <p:spPr>
          <a:xfrm>
            <a:off x="4882896" y="2286000"/>
            <a:ext cx="3895344" cy="256032"/>
          </a:xfrm>
          <a:prstGeom prst="rect">
            <a:avLst/>
          </a:prstGeom>
          <a:solidFill>
            <a:srgbClr val="7C3AED">
              <a:alpha val="15000"/>
            </a:srgbClr>
          </a:solidFill>
          <a:ln w="12700">
            <a:solidFill>
              <a:srgbClr val="7C3AED">
                <a:alpha val="40000"/>
              </a:srgbClr>
            </a:solidFill>
            <a:prstDash val="solid"/>
          </a:ln>
        </p:spPr>
        <p:txBody>
          <a:bodyPr/>
          <a:lstStyle/>
          <a:p>
            <a:endParaRPr lang="tr-TR"/>
          </a:p>
        </p:txBody>
      </p:sp>
      <p:sp>
        <p:nvSpPr>
          <p:cNvPr id="18" name="Text 16"/>
          <p:cNvSpPr/>
          <p:nvPr/>
        </p:nvSpPr>
        <p:spPr>
          <a:xfrm>
            <a:off x="4910328" y="2286000"/>
            <a:ext cx="3840480" cy="256032"/>
          </a:xfrm>
          <a:prstGeom prst="rect">
            <a:avLst/>
          </a:prstGeom>
          <a:noFill/>
          <a:ln/>
        </p:spPr>
        <p:txBody>
          <a:bodyPr wrap="square" lIns="25400" tIns="25400" rIns="25400" bIns="2540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min L(x,x̂) + λ Σⱼ|hⱼ|  (L1 cezası)</a:t>
            </a:r>
            <a:endParaRPr lang="en-US" sz="900" dirty="0"/>
          </a:p>
        </p:txBody>
      </p:sp>
      <p:sp>
        <p:nvSpPr>
          <p:cNvPr id="19" name="Text 17"/>
          <p:cNvSpPr/>
          <p:nvPr/>
        </p:nvSpPr>
        <p:spPr>
          <a:xfrm>
            <a:off x="4882896" y="2578608"/>
            <a:ext cx="3895344" cy="274320"/>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Özellik seçimi, nesne tanıma   ·   📖 Goodfellow et al. (2016) Deep Learning</a:t>
            </a:r>
            <a:endParaRPr lang="en-US" sz="800" dirty="0"/>
          </a:p>
        </p:txBody>
      </p:sp>
      <p:sp>
        <p:nvSpPr>
          <p:cNvPr id="20" name="Shape 18"/>
          <p:cNvSpPr/>
          <p:nvPr/>
        </p:nvSpPr>
        <p:spPr>
          <a:xfrm>
            <a:off x="365760" y="3081528"/>
            <a:ext cx="4114800" cy="1828800"/>
          </a:xfrm>
          <a:prstGeom prst="rect">
            <a:avLst/>
          </a:prstGeom>
          <a:solidFill>
            <a:srgbClr val="FFFFFF"/>
          </a:solidFill>
          <a:ln w="12700">
            <a:solidFill>
              <a:srgbClr val="059669"/>
            </a:solidFill>
            <a:prstDash val="solid"/>
          </a:ln>
          <a:effectLst>
            <a:outerShdw blurRad="127000" dist="50800" dir="8100000" algn="bl" rotWithShape="0">
              <a:srgbClr val="000000">
                <a:alpha val="12000"/>
              </a:srgbClr>
            </a:outerShdw>
          </a:effectLst>
        </p:spPr>
        <p:txBody>
          <a:bodyPr/>
          <a:lstStyle/>
          <a:p>
            <a:endParaRPr lang="tr-TR"/>
          </a:p>
        </p:txBody>
      </p:sp>
      <p:sp>
        <p:nvSpPr>
          <p:cNvPr id="21" name="Shape 19"/>
          <p:cNvSpPr/>
          <p:nvPr/>
        </p:nvSpPr>
        <p:spPr>
          <a:xfrm>
            <a:off x="365760" y="3081528"/>
            <a:ext cx="4114800" cy="420624"/>
          </a:xfrm>
          <a:prstGeom prst="rect">
            <a:avLst/>
          </a:prstGeom>
          <a:solidFill>
            <a:srgbClr val="059669"/>
          </a:solidFill>
          <a:ln w="12700">
            <a:solidFill>
              <a:srgbClr val="059669"/>
            </a:solidFill>
            <a:prstDash val="solid"/>
          </a:ln>
        </p:spPr>
        <p:txBody>
          <a:bodyPr/>
          <a:lstStyle/>
          <a:p>
            <a:endParaRPr lang="tr-TR"/>
          </a:p>
        </p:txBody>
      </p:sp>
      <p:sp>
        <p:nvSpPr>
          <p:cNvPr id="22" name="Text 20"/>
          <p:cNvSpPr/>
          <p:nvPr/>
        </p:nvSpPr>
        <p:spPr>
          <a:xfrm>
            <a:off x="457200" y="3081528"/>
            <a:ext cx="393192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Gürültü Giderici AE</a:t>
            </a:r>
            <a:endParaRPr lang="en-US" sz="1200" dirty="0"/>
          </a:p>
        </p:txBody>
      </p:sp>
      <p:sp>
        <p:nvSpPr>
          <p:cNvPr id="23" name="Text 21"/>
          <p:cNvSpPr/>
          <p:nvPr/>
        </p:nvSpPr>
        <p:spPr>
          <a:xfrm>
            <a:off x="475488" y="3557016"/>
            <a:ext cx="3895344" cy="6583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Girişe kasıtlı gürültü eklenerek (maskeleme, Gaussian gürültü vb.) orijinal temiz veri yeniden oluşturulur. Model gürültüye karşı sağlam özellikler öğrenir.</a:t>
            </a:r>
            <a:endParaRPr lang="en-US" sz="900" dirty="0"/>
          </a:p>
        </p:txBody>
      </p:sp>
      <p:sp>
        <p:nvSpPr>
          <p:cNvPr id="24" name="Shape 22"/>
          <p:cNvSpPr/>
          <p:nvPr/>
        </p:nvSpPr>
        <p:spPr>
          <a:xfrm>
            <a:off x="475488" y="4251960"/>
            <a:ext cx="3895344" cy="256032"/>
          </a:xfrm>
          <a:prstGeom prst="rect">
            <a:avLst/>
          </a:prstGeom>
          <a:solidFill>
            <a:srgbClr val="059669">
              <a:alpha val="15000"/>
            </a:srgbClr>
          </a:solidFill>
          <a:ln w="12700">
            <a:solidFill>
              <a:srgbClr val="059669">
                <a:alpha val="40000"/>
              </a:srgbClr>
            </a:solidFill>
            <a:prstDash val="solid"/>
          </a:ln>
        </p:spPr>
        <p:txBody>
          <a:bodyPr/>
          <a:lstStyle/>
          <a:p>
            <a:endParaRPr lang="tr-TR"/>
          </a:p>
        </p:txBody>
      </p:sp>
      <p:sp>
        <p:nvSpPr>
          <p:cNvPr id="25" name="Text 23"/>
          <p:cNvSpPr/>
          <p:nvPr/>
        </p:nvSpPr>
        <p:spPr>
          <a:xfrm>
            <a:off x="502920" y="4251960"/>
            <a:ext cx="3840480" cy="256032"/>
          </a:xfrm>
          <a:prstGeom prst="rect">
            <a:avLst/>
          </a:prstGeom>
          <a:noFill/>
          <a:ln/>
        </p:spPr>
        <p:txBody>
          <a:bodyPr wrap="square" lIns="25400" tIns="25400" rIns="25400" bIns="2540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x̃ ~ q(x̃|x)  →  min L(x, g(h(x̃)))</a:t>
            </a:r>
            <a:endParaRPr lang="en-US" sz="900" dirty="0"/>
          </a:p>
        </p:txBody>
      </p:sp>
      <p:sp>
        <p:nvSpPr>
          <p:cNvPr id="26" name="Text 24"/>
          <p:cNvSpPr/>
          <p:nvPr/>
        </p:nvSpPr>
        <p:spPr>
          <a:xfrm>
            <a:off x="475488" y="4544568"/>
            <a:ext cx="3895344" cy="274320"/>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Görüntü restoration, dolgu   ·   📖 Vincent et al. (2010) JMLR</a:t>
            </a:r>
            <a:endParaRPr lang="en-US" sz="800" dirty="0"/>
          </a:p>
        </p:txBody>
      </p:sp>
      <p:sp>
        <p:nvSpPr>
          <p:cNvPr id="27" name="Shape 25"/>
          <p:cNvSpPr/>
          <p:nvPr/>
        </p:nvSpPr>
        <p:spPr>
          <a:xfrm>
            <a:off x="4773168" y="3081528"/>
            <a:ext cx="4114800" cy="1828800"/>
          </a:xfrm>
          <a:prstGeom prst="rect">
            <a:avLst/>
          </a:prstGeom>
          <a:solidFill>
            <a:srgbClr val="FFFFFF"/>
          </a:solidFill>
          <a:ln w="12700">
            <a:solidFill>
              <a:srgbClr val="D97706"/>
            </a:solidFill>
            <a:prstDash val="solid"/>
          </a:ln>
          <a:effectLst>
            <a:outerShdw blurRad="127000" dist="50800" dir="8100000" algn="bl" rotWithShape="0">
              <a:srgbClr val="000000">
                <a:alpha val="12000"/>
              </a:srgbClr>
            </a:outerShdw>
          </a:effectLst>
        </p:spPr>
        <p:txBody>
          <a:bodyPr/>
          <a:lstStyle/>
          <a:p>
            <a:endParaRPr lang="tr-TR"/>
          </a:p>
        </p:txBody>
      </p:sp>
      <p:sp>
        <p:nvSpPr>
          <p:cNvPr id="28" name="Shape 26"/>
          <p:cNvSpPr/>
          <p:nvPr/>
        </p:nvSpPr>
        <p:spPr>
          <a:xfrm>
            <a:off x="4773168" y="3081528"/>
            <a:ext cx="4114800" cy="420624"/>
          </a:xfrm>
          <a:prstGeom prst="rect">
            <a:avLst/>
          </a:prstGeom>
          <a:solidFill>
            <a:srgbClr val="D97706"/>
          </a:solidFill>
          <a:ln w="12700">
            <a:solidFill>
              <a:srgbClr val="D97706"/>
            </a:solidFill>
            <a:prstDash val="solid"/>
          </a:ln>
        </p:spPr>
        <p:txBody>
          <a:bodyPr/>
          <a:lstStyle/>
          <a:p>
            <a:endParaRPr lang="tr-TR"/>
          </a:p>
        </p:txBody>
      </p:sp>
      <p:sp>
        <p:nvSpPr>
          <p:cNvPr id="29" name="Text 27"/>
          <p:cNvSpPr/>
          <p:nvPr/>
        </p:nvSpPr>
        <p:spPr>
          <a:xfrm>
            <a:off x="4864608" y="3081528"/>
            <a:ext cx="3931920" cy="42062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Değişimsel AE (VAE)</a:t>
            </a:r>
            <a:endParaRPr lang="en-US" sz="1200" dirty="0"/>
          </a:p>
        </p:txBody>
      </p:sp>
      <p:sp>
        <p:nvSpPr>
          <p:cNvPr id="30" name="Text 28"/>
          <p:cNvSpPr/>
          <p:nvPr/>
        </p:nvSpPr>
        <p:spPr>
          <a:xfrm>
            <a:off x="4882896" y="3557016"/>
            <a:ext cx="3895344" cy="6583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Gizli katman olasılıksal: z ~ N(μ,σ²). Kodlayıcı girişi μ ve σ'ya dönüştürür. Yeniden örnekleme hilesi türevlenebilir yapar. KL diverjansı düzenlileştirme sağlar.</a:t>
            </a:r>
            <a:endParaRPr lang="en-US" sz="900" dirty="0"/>
          </a:p>
        </p:txBody>
      </p:sp>
      <p:sp>
        <p:nvSpPr>
          <p:cNvPr id="31" name="Shape 29"/>
          <p:cNvSpPr/>
          <p:nvPr/>
        </p:nvSpPr>
        <p:spPr>
          <a:xfrm>
            <a:off x="4882896" y="4251960"/>
            <a:ext cx="3895344" cy="256032"/>
          </a:xfrm>
          <a:prstGeom prst="rect">
            <a:avLst/>
          </a:prstGeom>
          <a:solidFill>
            <a:srgbClr val="D97706">
              <a:alpha val="15000"/>
            </a:srgbClr>
          </a:solidFill>
          <a:ln w="12700">
            <a:solidFill>
              <a:srgbClr val="D97706">
                <a:alpha val="40000"/>
              </a:srgbClr>
            </a:solidFill>
            <a:prstDash val="solid"/>
          </a:ln>
        </p:spPr>
        <p:txBody>
          <a:bodyPr/>
          <a:lstStyle/>
          <a:p>
            <a:endParaRPr lang="tr-TR"/>
          </a:p>
        </p:txBody>
      </p:sp>
      <p:sp>
        <p:nvSpPr>
          <p:cNvPr id="32" name="Text 30"/>
          <p:cNvSpPr/>
          <p:nvPr/>
        </p:nvSpPr>
        <p:spPr>
          <a:xfrm>
            <a:off x="4910328" y="4251960"/>
            <a:ext cx="3840480" cy="256032"/>
          </a:xfrm>
          <a:prstGeom prst="rect">
            <a:avLst/>
          </a:prstGeom>
          <a:noFill/>
          <a:ln/>
        </p:spPr>
        <p:txBody>
          <a:bodyPr wrap="square" lIns="25400" tIns="25400" rIns="25400" bIns="2540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z ~ N(μ, σ²)  →  ELBO = E[log p(x|z)] − KL(q‖p)</a:t>
            </a:r>
            <a:endParaRPr lang="en-US" sz="900" dirty="0"/>
          </a:p>
        </p:txBody>
      </p:sp>
      <p:sp>
        <p:nvSpPr>
          <p:cNvPr id="33" name="Text 31"/>
          <p:cNvSpPr/>
          <p:nvPr/>
        </p:nvSpPr>
        <p:spPr>
          <a:xfrm>
            <a:off x="4882896" y="4544568"/>
            <a:ext cx="3895344" cy="274320"/>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Görüntü/metin üretimi, anomali   ·   📖 Kingma &amp; Welling (2014); Doersch (2016)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15 — LSTM UYGULAMASI</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LSTM ile Metin Sınıflandırma — Açılmış Zaman Serisi</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Text 4"/>
          <p:cNvSpPr/>
          <p:nvPr/>
        </p:nvSpPr>
        <p:spPr>
          <a:xfrm>
            <a:off x="365760" y="1115568"/>
            <a:ext cx="8412480" cy="329184"/>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Her kelime V₁, V₂,...,Vₙ bir kelime gömme vektörüdür (word2vec, GloVe veya FastText ile üretilir). LSTM her adımda gizli durumu h⁽ᵗ⁾ ve hücre durumunu cₜ günceller.</a:t>
            </a:r>
            <a:endParaRPr lang="en-US" sz="1000" dirty="0"/>
          </a:p>
        </p:txBody>
      </p:sp>
      <p:sp>
        <p:nvSpPr>
          <p:cNvPr id="7" name="Shape 5"/>
          <p:cNvSpPr/>
          <p:nvPr/>
        </p:nvSpPr>
        <p:spPr>
          <a:xfrm>
            <a:off x="566928" y="3401568"/>
            <a:ext cx="804672" cy="384048"/>
          </a:xfrm>
          <a:prstGeom prst="rect">
            <a:avLst/>
          </a:prstGeom>
          <a:solidFill>
            <a:srgbClr val="7C3AED"/>
          </a:solidFill>
          <a:ln w="12700">
            <a:solidFill>
              <a:srgbClr val="7C3AED"/>
            </a:solidFill>
            <a:prstDash val="solid"/>
          </a:ln>
        </p:spPr>
        <p:txBody>
          <a:bodyPr/>
          <a:lstStyle/>
          <a:p>
            <a:endParaRPr lang="tr-TR"/>
          </a:p>
        </p:txBody>
      </p:sp>
      <p:sp>
        <p:nvSpPr>
          <p:cNvPr id="8" name="Text 6"/>
          <p:cNvSpPr/>
          <p:nvPr/>
        </p:nvSpPr>
        <p:spPr>
          <a:xfrm>
            <a:off x="566928" y="3401568"/>
            <a:ext cx="80467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V₁</a:t>
            </a:r>
            <a:endParaRPr lang="en-US" sz="1100" dirty="0"/>
          </a:p>
        </p:txBody>
      </p:sp>
      <p:sp>
        <p:nvSpPr>
          <p:cNvPr id="9" name="Shape 7"/>
          <p:cNvSpPr/>
          <p:nvPr/>
        </p:nvSpPr>
        <p:spPr>
          <a:xfrm>
            <a:off x="950976" y="2761488"/>
            <a:ext cx="36576" cy="640080"/>
          </a:xfrm>
          <a:prstGeom prst="rect">
            <a:avLst/>
          </a:prstGeom>
          <a:solidFill>
            <a:srgbClr val="94A3B8"/>
          </a:solidFill>
          <a:ln w="12700">
            <a:solidFill>
              <a:srgbClr val="94A3B8"/>
            </a:solidFill>
            <a:prstDash val="solid"/>
          </a:ln>
        </p:spPr>
        <p:txBody>
          <a:bodyPr/>
          <a:lstStyle/>
          <a:p>
            <a:endParaRPr lang="tr-TR"/>
          </a:p>
        </p:txBody>
      </p:sp>
      <p:sp>
        <p:nvSpPr>
          <p:cNvPr id="10" name="Shape 8"/>
          <p:cNvSpPr/>
          <p:nvPr/>
        </p:nvSpPr>
        <p:spPr>
          <a:xfrm>
            <a:off x="457200" y="1664208"/>
            <a:ext cx="1024128" cy="1005840"/>
          </a:xfrm>
          <a:prstGeom prst="rect">
            <a:avLst/>
          </a:prstGeom>
          <a:solidFill>
            <a:srgbClr val="0891B2"/>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tr-TR"/>
          </a:p>
        </p:txBody>
      </p:sp>
      <p:sp>
        <p:nvSpPr>
          <p:cNvPr id="11" name="Text 9"/>
          <p:cNvSpPr/>
          <p:nvPr/>
        </p:nvSpPr>
        <p:spPr>
          <a:xfrm>
            <a:off x="457200" y="1664208"/>
            <a:ext cx="1024128"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LSTM</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Shape 10"/>
          <p:cNvSpPr/>
          <p:nvPr/>
        </p:nvSpPr>
        <p:spPr>
          <a:xfrm>
            <a:off x="1499616" y="2148840"/>
            <a:ext cx="612648" cy="36576"/>
          </a:xfrm>
          <a:prstGeom prst="rect">
            <a:avLst/>
          </a:prstGeom>
          <a:solidFill>
            <a:srgbClr val="84CC16"/>
          </a:solidFill>
          <a:ln w="12700">
            <a:solidFill>
              <a:srgbClr val="84CC16"/>
            </a:solidFill>
            <a:prstDash val="solid"/>
          </a:ln>
        </p:spPr>
        <p:txBody>
          <a:bodyPr/>
          <a:lstStyle/>
          <a:p>
            <a:endParaRPr lang="tr-TR"/>
          </a:p>
        </p:txBody>
      </p:sp>
      <p:sp>
        <p:nvSpPr>
          <p:cNvPr id="13" name="Shape 11"/>
          <p:cNvSpPr/>
          <p:nvPr/>
        </p:nvSpPr>
        <p:spPr>
          <a:xfrm>
            <a:off x="2231136" y="3401568"/>
            <a:ext cx="804672" cy="384048"/>
          </a:xfrm>
          <a:prstGeom prst="rect">
            <a:avLst/>
          </a:prstGeom>
          <a:solidFill>
            <a:srgbClr val="7C3AED"/>
          </a:solidFill>
          <a:ln w="12700">
            <a:solidFill>
              <a:srgbClr val="7C3AED"/>
            </a:solidFill>
            <a:prstDash val="solid"/>
          </a:ln>
        </p:spPr>
        <p:txBody>
          <a:bodyPr/>
          <a:lstStyle/>
          <a:p>
            <a:endParaRPr lang="tr-TR"/>
          </a:p>
        </p:txBody>
      </p:sp>
      <p:sp>
        <p:nvSpPr>
          <p:cNvPr id="14" name="Text 12"/>
          <p:cNvSpPr/>
          <p:nvPr/>
        </p:nvSpPr>
        <p:spPr>
          <a:xfrm>
            <a:off x="2231136" y="3401568"/>
            <a:ext cx="80467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V₂</a:t>
            </a:r>
            <a:endParaRPr lang="en-US" sz="1100" dirty="0"/>
          </a:p>
        </p:txBody>
      </p:sp>
      <p:sp>
        <p:nvSpPr>
          <p:cNvPr id="15" name="Shape 13"/>
          <p:cNvSpPr/>
          <p:nvPr/>
        </p:nvSpPr>
        <p:spPr>
          <a:xfrm>
            <a:off x="2615184" y="2761488"/>
            <a:ext cx="36576" cy="640080"/>
          </a:xfrm>
          <a:prstGeom prst="rect">
            <a:avLst/>
          </a:prstGeom>
          <a:solidFill>
            <a:srgbClr val="94A3B8"/>
          </a:solidFill>
          <a:ln w="12700">
            <a:solidFill>
              <a:srgbClr val="94A3B8"/>
            </a:solidFill>
            <a:prstDash val="solid"/>
          </a:ln>
        </p:spPr>
        <p:txBody>
          <a:bodyPr/>
          <a:lstStyle/>
          <a:p>
            <a:endParaRPr lang="tr-TR"/>
          </a:p>
        </p:txBody>
      </p:sp>
      <p:sp>
        <p:nvSpPr>
          <p:cNvPr id="16" name="Shape 14"/>
          <p:cNvSpPr/>
          <p:nvPr/>
        </p:nvSpPr>
        <p:spPr>
          <a:xfrm>
            <a:off x="2121408" y="1664208"/>
            <a:ext cx="1024128" cy="1005840"/>
          </a:xfrm>
          <a:prstGeom prst="rect">
            <a:avLst/>
          </a:prstGeom>
          <a:solidFill>
            <a:srgbClr val="0891B2"/>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tr-TR"/>
          </a:p>
        </p:txBody>
      </p:sp>
      <p:sp>
        <p:nvSpPr>
          <p:cNvPr id="17" name="Text 15"/>
          <p:cNvSpPr/>
          <p:nvPr/>
        </p:nvSpPr>
        <p:spPr>
          <a:xfrm>
            <a:off x="2121408" y="1664208"/>
            <a:ext cx="1024128"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LSTM</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Shape 16"/>
          <p:cNvSpPr/>
          <p:nvPr/>
        </p:nvSpPr>
        <p:spPr>
          <a:xfrm>
            <a:off x="3163824" y="2148840"/>
            <a:ext cx="612648" cy="36576"/>
          </a:xfrm>
          <a:prstGeom prst="rect">
            <a:avLst/>
          </a:prstGeom>
          <a:solidFill>
            <a:srgbClr val="84CC16"/>
          </a:solidFill>
          <a:ln w="12700">
            <a:solidFill>
              <a:srgbClr val="84CC16"/>
            </a:solidFill>
            <a:prstDash val="solid"/>
          </a:ln>
        </p:spPr>
        <p:txBody>
          <a:bodyPr/>
          <a:lstStyle/>
          <a:p>
            <a:endParaRPr lang="tr-TR"/>
          </a:p>
        </p:txBody>
      </p:sp>
      <p:sp>
        <p:nvSpPr>
          <p:cNvPr id="19" name="Shape 17"/>
          <p:cNvSpPr/>
          <p:nvPr/>
        </p:nvSpPr>
        <p:spPr>
          <a:xfrm>
            <a:off x="3895344" y="3401568"/>
            <a:ext cx="804672" cy="384048"/>
          </a:xfrm>
          <a:prstGeom prst="rect">
            <a:avLst/>
          </a:prstGeom>
          <a:solidFill>
            <a:srgbClr val="7C3AED"/>
          </a:solidFill>
          <a:ln w="12700">
            <a:solidFill>
              <a:srgbClr val="7C3AED"/>
            </a:solidFill>
            <a:prstDash val="solid"/>
          </a:ln>
        </p:spPr>
        <p:txBody>
          <a:bodyPr/>
          <a:lstStyle/>
          <a:p>
            <a:endParaRPr lang="tr-TR"/>
          </a:p>
        </p:txBody>
      </p:sp>
      <p:sp>
        <p:nvSpPr>
          <p:cNvPr id="20" name="Text 18"/>
          <p:cNvSpPr/>
          <p:nvPr/>
        </p:nvSpPr>
        <p:spPr>
          <a:xfrm>
            <a:off x="3895344" y="3401568"/>
            <a:ext cx="80467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V₃</a:t>
            </a:r>
            <a:endParaRPr lang="en-US" sz="1100" dirty="0"/>
          </a:p>
        </p:txBody>
      </p:sp>
      <p:sp>
        <p:nvSpPr>
          <p:cNvPr id="21" name="Shape 19"/>
          <p:cNvSpPr/>
          <p:nvPr/>
        </p:nvSpPr>
        <p:spPr>
          <a:xfrm>
            <a:off x="4279392" y="2761488"/>
            <a:ext cx="36576" cy="640080"/>
          </a:xfrm>
          <a:prstGeom prst="rect">
            <a:avLst/>
          </a:prstGeom>
          <a:solidFill>
            <a:srgbClr val="94A3B8"/>
          </a:solidFill>
          <a:ln w="12700">
            <a:solidFill>
              <a:srgbClr val="94A3B8"/>
            </a:solidFill>
            <a:prstDash val="solid"/>
          </a:ln>
        </p:spPr>
        <p:txBody>
          <a:bodyPr/>
          <a:lstStyle/>
          <a:p>
            <a:endParaRPr lang="tr-TR"/>
          </a:p>
        </p:txBody>
      </p:sp>
      <p:sp>
        <p:nvSpPr>
          <p:cNvPr id="22" name="Shape 20"/>
          <p:cNvSpPr/>
          <p:nvPr/>
        </p:nvSpPr>
        <p:spPr>
          <a:xfrm>
            <a:off x="3785616" y="1664208"/>
            <a:ext cx="1024128" cy="1005840"/>
          </a:xfrm>
          <a:prstGeom prst="rect">
            <a:avLst/>
          </a:prstGeom>
          <a:solidFill>
            <a:srgbClr val="0891B2"/>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tr-TR"/>
          </a:p>
        </p:txBody>
      </p:sp>
      <p:sp>
        <p:nvSpPr>
          <p:cNvPr id="23" name="Text 21"/>
          <p:cNvSpPr/>
          <p:nvPr/>
        </p:nvSpPr>
        <p:spPr>
          <a:xfrm>
            <a:off x="3785616" y="1664208"/>
            <a:ext cx="1024128"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LSTM</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Shape 22"/>
          <p:cNvSpPr/>
          <p:nvPr/>
        </p:nvSpPr>
        <p:spPr>
          <a:xfrm>
            <a:off x="4828032" y="2148840"/>
            <a:ext cx="612648" cy="36576"/>
          </a:xfrm>
          <a:prstGeom prst="rect">
            <a:avLst/>
          </a:prstGeom>
          <a:solidFill>
            <a:srgbClr val="84CC16"/>
          </a:solidFill>
          <a:ln w="12700">
            <a:solidFill>
              <a:srgbClr val="84CC16"/>
            </a:solidFill>
            <a:prstDash val="solid"/>
          </a:ln>
        </p:spPr>
        <p:txBody>
          <a:bodyPr/>
          <a:lstStyle/>
          <a:p>
            <a:endParaRPr lang="tr-TR"/>
          </a:p>
        </p:txBody>
      </p:sp>
      <p:sp>
        <p:nvSpPr>
          <p:cNvPr id="25" name="Shape 23"/>
          <p:cNvSpPr/>
          <p:nvPr/>
        </p:nvSpPr>
        <p:spPr>
          <a:xfrm>
            <a:off x="5559552" y="3401568"/>
            <a:ext cx="804672" cy="384048"/>
          </a:xfrm>
          <a:prstGeom prst="rect">
            <a:avLst/>
          </a:prstGeom>
          <a:solidFill>
            <a:srgbClr val="7C3AED"/>
          </a:solidFill>
          <a:ln w="12700">
            <a:solidFill>
              <a:srgbClr val="7C3AED"/>
            </a:solidFill>
            <a:prstDash val="solid"/>
          </a:ln>
        </p:spPr>
        <p:txBody>
          <a:bodyPr/>
          <a:lstStyle/>
          <a:p>
            <a:endParaRPr lang="tr-TR"/>
          </a:p>
        </p:txBody>
      </p:sp>
      <p:sp>
        <p:nvSpPr>
          <p:cNvPr id="26" name="Text 24"/>
          <p:cNvSpPr/>
          <p:nvPr/>
        </p:nvSpPr>
        <p:spPr>
          <a:xfrm>
            <a:off x="5559552" y="3401568"/>
            <a:ext cx="80467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5943600" y="2761488"/>
            <a:ext cx="36576" cy="640080"/>
          </a:xfrm>
          <a:prstGeom prst="rect">
            <a:avLst/>
          </a:prstGeom>
          <a:solidFill>
            <a:srgbClr val="94A3B8"/>
          </a:solidFill>
          <a:ln w="12700">
            <a:solidFill>
              <a:srgbClr val="94A3B8"/>
            </a:solidFill>
            <a:prstDash val="solid"/>
          </a:ln>
        </p:spPr>
        <p:txBody>
          <a:bodyPr/>
          <a:lstStyle/>
          <a:p>
            <a:endParaRPr lang="tr-TR"/>
          </a:p>
        </p:txBody>
      </p:sp>
      <p:sp>
        <p:nvSpPr>
          <p:cNvPr id="28" name="Shape 26"/>
          <p:cNvSpPr/>
          <p:nvPr/>
        </p:nvSpPr>
        <p:spPr>
          <a:xfrm>
            <a:off x="5449824" y="1664208"/>
            <a:ext cx="1024128" cy="1005840"/>
          </a:xfrm>
          <a:prstGeom prst="rect">
            <a:avLst/>
          </a:prstGeom>
          <a:solidFill>
            <a:srgbClr val="0891B2"/>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tr-TR"/>
          </a:p>
        </p:txBody>
      </p:sp>
      <p:sp>
        <p:nvSpPr>
          <p:cNvPr id="29" name="Text 27"/>
          <p:cNvSpPr/>
          <p:nvPr/>
        </p:nvSpPr>
        <p:spPr>
          <a:xfrm>
            <a:off x="5449824" y="1664208"/>
            <a:ext cx="1024128"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LSTM</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Shape 28"/>
          <p:cNvSpPr/>
          <p:nvPr/>
        </p:nvSpPr>
        <p:spPr>
          <a:xfrm>
            <a:off x="6492240" y="2148840"/>
            <a:ext cx="612648" cy="36576"/>
          </a:xfrm>
          <a:prstGeom prst="rect">
            <a:avLst/>
          </a:prstGeom>
          <a:solidFill>
            <a:srgbClr val="84CC16"/>
          </a:solidFill>
          <a:ln w="12700">
            <a:solidFill>
              <a:srgbClr val="84CC16"/>
            </a:solidFill>
            <a:prstDash val="solid"/>
          </a:ln>
        </p:spPr>
        <p:txBody>
          <a:bodyPr/>
          <a:lstStyle/>
          <a:p>
            <a:endParaRPr lang="tr-TR"/>
          </a:p>
        </p:txBody>
      </p:sp>
      <p:sp>
        <p:nvSpPr>
          <p:cNvPr id="31" name="Shape 29"/>
          <p:cNvSpPr/>
          <p:nvPr/>
        </p:nvSpPr>
        <p:spPr>
          <a:xfrm>
            <a:off x="7223760" y="3401568"/>
            <a:ext cx="804672" cy="384048"/>
          </a:xfrm>
          <a:prstGeom prst="rect">
            <a:avLst/>
          </a:prstGeom>
          <a:solidFill>
            <a:srgbClr val="7C3AED"/>
          </a:solidFill>
          <a:ln w="12700">
            <a:solidFill>
              <a:srgbClr val="7C3AED"/>
            </a:solidFill>
            <a:prstDash val="solid"/>
          </a:ln>
        </p:spPr>
        <p:txBody>
          <a:bodyPr/>
          <a:lstStyle/>
          <a:p>
            <a:endParaRPr lang="tr-TR"/>
          </a:p>
        </p:txBody>
      </p:sp>
      <p:sp>
        <p:nvSpPr>
          <p:cNvPr id="32" name="Text 30"/>
          <p:cNvSpPr/>
          <p:nvPr/>
        </p:nvSpPr>
        <p:spPr>
          <a:xfrm>
            <a:off x="7223760" y="3401568"/>
            <a:ext cx="80467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V_N</a:t>
            </a:r>
            <a:endParaRPr lang="en-US" sz="1100" dirty="0"/>
          </a:p>
        </p:txBody>
      </p:sp>
      <p:sp>
        <p:nvSpPr>
          <p:cNvPr id="33" name="Shape 31"/>
          <p:cNvSpPr/>
          <p:nvPr/>
        </p:nvSpPr>
        <p:spPr>
          <a:xfrm>
            <a:off x="7607808" y="2761488"/>
            <a:ext cx="36576" cy="640080"/>
          </a:xfrm>
          <a:prstGeom prst="rect">
            <a:avLst/>
          </a:prstGeom>
          <a:solidFill>
            <a:srgbClr val="94A3B8"/>
          </a:solidFill>
          <a:ln w="12700">
            <a:solidFill>
              <a:srgbClr val="94A3B8"/>
            </a:solidFill>
            <a:prstDash val="solid"/>
          </a:ln>
        </p:spPr>
        <p:txBody>
          <a:bodyPr/>
          <a:lstStyle/>
          <a:p>
            <a:endParaRPr lang="tr-TR"/>
          </a:p>
        </p:txBody>
      </p:sp>
      <p:sp>
        <p:nvSpPr>
          <p:cNvPr id="34" name="Shape 32"/>
          <p:cNvSpPr/>
          <p:nvPr/>
        </p:nvSpPr>
        <p:spPr>
          <a:xfrm>
            <a:off x="7114032" y="1664208"/>
            <a:ext cx="1024128" cy="1005840"/>
          </a:xfrm>
          <a:prstGeom prst="rect">
            <a:avLst/>
          </a:prstGeom>
          <a:solidFill>
            <a:srgbClr val="059669"/>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tr-TR"/>
          </a:p>
        </p:txBody>
      </p:sp>
      <p:sp>
        <p:nvSpPr>
          <p:cNvPr id="35" name="Text 33"/>
          <p:cNvSpPr/>
          <p:nvPr/>
        </p:nvSpPr>
        <p:spPr>
          <a:xfrm>
            <a:off x="7114032" y="1664208"/>
            <a:ext cx="1024128"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LSTM</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N</a:t>
            </a:r>
            <a:endParaRPr lang="en-US" sz="1100" dirty="0"/>
          </a:p>
        </p:txBody>
      </p:sp>
      <p:sp>
        <p:nvSpPr>
          <p:cNvPr id="36" name="Shape 34"/>
          <p:cNvSpPr/>
          <p:nvPr/>
        </p:nvSpPr>
        <p:spPr>
          <a:xfrm>
            <a:off x="7607808" y="1115568"/>
            <a:ext cx="36576" cy="548640"/>
          </a:xfrm>
          <a:prstGeom prst="rect">
            <a:avLst/>
          </a:prstGeom>
          <a:solidFill>
            <a:srgbClr val="84CC16"/>
          </a:solidFill>
          <a:ln w="12700">
            <a:solidFill>
              <a:srgbClr val="84CC16"/>
            </a:solidFill>
            <a:prstDash val="solid"/>
          </a:ln>
        </p:spPr>
        <p:txBody>
          <a:bodyPr/>
          <a:lstStyle/>
          <a:p>
            <a:endParaRPr lang="tr-TR"/>
          </a:p>
        </p:txBody>
      </p:sp>
      <p:sp>
        <p:nvSpPr>
          <p:cNvPr id="37" name="Shape 35"/>
          <p:cNvSpPr/>
          <p:nvPr/>
        </p:nvSpPr>
        <p:spPr>
          <a:xfrm>
            <a:off x="7114032" y="713232"/>
            <a:ext cx="1024128" cy="402336"/>
          </a:xfrm>
          <a:prstGeom prst="rect">
            <a:avLst/>
          </a:prstGeom>
          <a:solidFill>
            <a:srgbClr val="059669"/>
          </a:solidFill>
          <a:ln w="12700">
            <a:solidFill>
              <a:srgbClr val="059669"/>
            </a:solidFill>
            <a:prstDash val="solid"/>
          </a:ln>
        </p:spPr>
        <p:txBody>
          <a:bodyPr/>
          <a:lstStyle/>
          <a:p>
            <a:endParaRPr lang="tr-TR"/>
          </a:p>
        </p:txBody>
      </p:sp>
      <p:sp>
        <p:nvSpPr>
          <p:cNvPr id="38" name="Text 36"/>
          <p:cNvSpPr/>
          <p:nvPr/>
        </p:nvSpPr>
        <p:spPr>
          <a:xfrm>
            <a:off x="7114032" y="713232"/>
            <a:ext cx="1024128" cy="4023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Softmax → Sınıf</a:t>
            </a:r>
            <a:endParaRPr lang="en-US" sz="800" dirty="0"/>
          </a:p>
        </p:txBody>
      </p:sp>
      <p:sp>
        <p:nvSpPr>
          <p:cNvPr id="39" name="Text 37"/>
          <p:cNvSpPr/>
          <p:nvPr/>
        </p:nvSpPr>
        <p:spPr>
          <a:xfrm>
            <a:off x="365760" y="3840480"/>
            <a:ext cx="8412480" cy="237744"/>
          </a:xfrm>
          <a:prstGeom prst="rect">
            <a:avLst/>
          </a:prstGeom>
          <a:noFill/>
          <a:ln/>
        </p:spPr>
        <p:txBody>
          <a:bodyPr wrap="square" lIns="0" tIns="0" rIns="0" bIns="0"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 Yatay ok: h⁽ᵗ⁻¹⁾ gizli durum aktarımı (uzun bağımlılık) →  ↕  Dikey ok: kelime girişi / sınıf çıkışı</a:t>
            </a:r>
            <a:endParaRPr lang="en-US" sz="900" dirty="0"/>
          </a:p>
        </p:txBody>
      </p:sp>
      <p:sp>
        <p:nvSpPr>
          <p:cNvPr id="40" name="Shape 38"/>
          <p:cNvSpPr/>
          <p:nvPr/>
        </p:nvSpPr>
        <p:spPr>
          <a:xfrm>
            <a:off x="365760" y="4160520"/>
            <a:ext cx="8412480" cy="713232"/>
          </a:xfrm>
          <a:prstGeom prst="rect">
            <a:avLst/>
          </a:prstGeom>
          <a:solidFill>
            <a:srgbClr val="243B55"/>
          </a:solidFill>
          <a:ln w="12700">
            <a:solidFill>
              <a:srgbClr val="0891B2"/>
            </a:solidFill>
            <a:prstDash val="solid"/>
          </a:ln>
        </p:spPr>
        <p:txBody>
          <a:bodyPr/>
          <a:lstStyle/>
          <a:p>
            <a:endParaRPr lang="tr-TR"/>
          </a:p>
        </p:txBody>
      </p:sp>
      <p:sp>
        <p:nvSpPr>
          <p:cNvPr id="41" name="Text 39"/>
          <p:cNvSpPr/>
          <p:nvPr/>
        </p:nvSpPr>
        <p:spPr>
          <a:xfrm>
            <a:off x="502920" y="4224528"/>
            <a:ext cx="2560320" cy="237744"/>
          </a:xfrm>
          <a:prstGeom prst="rect">
            <a:avLst/>
          </a:prstGeom>
          <a:noFill/>
          <a:ln/>
        </p:spPr>
        <p:txBody>
          <a:bodyPr wrap="square" lIns="0" tIns="0" rIns="0" bIns="0" rtlCol="0" anchor="ctr"/>
          <a:lstStyle/>
          <a:p>
            <a:pPr marL="0" indent="0">
              <a:buNone/>
            </a:pPr>
            <a:r>
              <a:rPr lang="en-US" sz="1050" b="1" dirty="0">
                <a:solidFill>
                  <a:srgbClr val="06B6D4"/>
                </a:solidFill>
                <a:latin typeface="Calibri" pitchFamily="34" charset="0"/>
                <a:ea typeface="Calibri" pitchFamily="34" charset="-122"/>
                <a:cs typeface="Calibri" pitchFamily="34" charset="-120"/>
              </a:rPr>
              <a:t>Kelime Gömme (Word Embedding):</a:t>
            </a:r>
            <a:endParaRPr lang="en-US" sz="1050" dirty="0"/>
          </a:p>
        </p:txBody>
      </p:sp>
      <p:sp>
        <p:nvSpPr>
          <p:cNvPr id="42" name="Text 40"/>
          <p:cNvSpPr/>
          <p:nvPr/>
        </p:nvSpPr>
        <p:spPr>
          <a:xfrm>
            <a:off x="502920" y="4480560"/>
            <a:ext cx="8138160" cy="329184"/>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Kelimeler ham metinden gerçek sayılı yoğun vektörlere dönüştürülür. word2vec (Mikolov et al., 2013): Skip-gram veya CBOW. GloVe (Pennington et al., 2014): global ortak-oluşum istatistikleri. FastText: alt-kelime bilgisi. Bu vektörler LSTM'ye zaman adımı bazında beslenir.</a:t>
            </a:r>
            <a:endParaRPr lang="en-US" sz="900" dirty="0"/>
          </a:p>
        </p:txBody>
      </p:sp>
      <p:sp>
        <p:nvSpPr>
          <p:cNvPr id="43" name="Text 41"/>
          <p:cNvSpPr/>
          <p:nvPr/>
        </p:nvSpPr>
        <p:spPr>
          <a:xfrm>
            <a:off x="365760" y="4937760"/>
            <a:ext cx="8412480" cy="18288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Kaynak: Palangi et al. (2016) IEEE TASLP; Graves (2013) Generating Sequences with RNNs; Zhou (2019) Sentiment Classification with DNNs</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1B2F4A"/>
          </a:solidFill>
          <a:ln w="12700">
            <a:solidFill>
              <a:srgbClr val="1B2F4A"/>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16 — LSTM VARYANTLARİ</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Peephole LSTM &amp; Kapılı Yinelemeli Birim (GRU) — Karşılaştırma</a:t>
            </a:r>
            <a:endParaRPr lang="en-US" sz="2600" dirty="0"/>
          </a:p>
        </p:txBody>
      </p:sp>
      <p:sp>
        <p:nvSpPr>
          <p:cNvPr id="5" name="Shape 3"/>
          <p:cNvSpPr/>
          <p:nvPr/>
        </p:nvSpPr>
        <p:spPr>
          <a:xfrm>
            <a:off x="365760" y="1024128"/>
            <a:ext cx="137160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115568"/>
            <a:ext cx="4096512" cy="3767328"/>
          </a:xfrm>
          <a:prstGeom prst="rect">
            <a:avLst/>
          </a:prstGeom>
          <a:solidFill>
            <a:srgbClr val="EFF6FF"/>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7" name="Shape 5"/>
          <p:cNvSpPr/>
          <p:nvPr/>
        </p:nvSpPr>
        <p:spPr>
          <a:xfrm>
            <a:off x="365760" y="1115568"/>
            <a:ext cx="4096512" cy="420624"/>
          </a:xfrm>
          <a:prstGeom prst="rect">
            <a:avLst/>
          </a:prstGeom>
          <a:solidFill>
            <a:srgbClr val="0891B2"/>
          </a:solidFill>
          <a:ln w="12700">
            <a:solidFill>
              <a:srgbClr val="0891B2"/>
            </a:solidFill>
            <a:prstDash val="solid"/>
          </a:ln>
        </p:spPr>
        <p:txBody>
          <a:bodyPr/>
          <a:lstStyle/>
          <a:p>
            <a:endParaRPr lang="tr-TR"/>
          </a:p>
        </p:txBody>
      </p:sp>
      <p:sp>
        <p:nvSpPr>
          <p:cNvPr id="8" name="Text 6"/>
          <p:cNvSpPr/>
          <p:nvPr/>
        </p:nvSpPr>
        <p:spPr>
          <a:xfrm>
            <a:off x="475488" y="1115568"/>
            <a:ext cx="3877056" cy="42062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Peephole LSTM (Gers &amp; Schmidhuber, 2000)</a:t>
            </a:r>
            <a:endParaRPr lang="en-US" sz="1100" dirty="0"/>
          </a:p>
        </p:txBody>
      </p:sp>
      <p:sp>
        <p:nvSpPr>
          <p:cNvPr id="9" name="Text 7"/>
          <p:cNvSpPr/>
          <p:nvPr/>
        </p:nvSpPr>
        <p:spPr>
          <a:xfrm>
            <a:off x="502920" y="1609344"/>
            <a:ext cx="3840480" cy="25603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Temel Fark: Kapılar h⁽ᵗ⁻¹⁾ yerine hücre durumu cₜ₋₁ kullanır</a:t>
            </a:r>
            <a:endParaRPr lang="en-US" sz="1050" dirty="0"/>
          </a:p>
        </p:txBody>
      </p:sp>
      <p:sp>
        <p:nvSpPr>
          <p:cNvPr id="10" name="Shape 8"/>
          <p:cNvSpPr/>
          <p:nvPr/>
        </p:nvSpPr>
        <p:spPr>
          <a:xfrm>
            <a:off x="502920" y="1920240"/>
            <a:ext cx="3794760" cy="347472"/>
          </a:xfrm>
          <a:prstGeom prst="rect">
            <a:avLst/>
          </a:prstGeom>
          <a:solidFill>
            <a:srgbClr val="FFFFFF"/>
          </a:solidFill>
          <a:ln w="12700">
            <a:solidFill>
              <a:srgbClr val="E2E8F0"/>
            </a:solidFill>
            <a:prstDash val="solid"/>
          </a:ln>
        </p:spPr>
        <p:txBody>
          <a:bodyPr/>
          <a:lstStyle/>
          <a:p>
            <a:endParaRPr lang="tr-TR"/>
          </a:p>
        </p:txBody>
      </p:sp>
      <p:sp>
        <p:nvSpPr>
          <p:cNvPr id="11" name="Text 9"/>
          <p:cNvSpPr/>
          <p:nvPr/>
        </p:nvSpPr>
        <p:spPr>
          <a:xfrm>
            <a:off x="594360" y="1920240"/>
            <a:ext cx="3657600" cy="34747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iₜ = σ(W⁽ⁱˣ⁾x⁽ᵗ⁾ + U⁽ⁱᶜ⁾cₜ₋₁ + bⁱ)</a:t>
            </a:r>
            <a:endParaRPr lang="en-US" sz="1050" dirty="0"/>
          </a:p>
        </p:txBody>
      </p:sp>
      <p:sp>
        <p:nvSpPr>
          <p:cNvPr id="12" name="Shape 10"/>
          <p:cNvSpPr/>
          <p:nvPr/>
        </p:nvSpPr>
        <p:spPr>
          <a:xfrm>
            <a:off x="502920" y="2359152"/>
            <a:ext cx="3794760" cy="347472"/>
          </a:xfrm>
          <a:prstGeom prst="rect">
            <a:avLst/>
          </a:prstGeom>
          <a:solidFill>
            <a:srgbClr val="FFFFFF"/>
          </a:solidFill>
          <a:ln w="12700">
            <a:solidFill>
              <a:srgbClr val="E2E8F0"/>
            </a:solidFill>
            <a:prstDash val="solid"/>
          </a:ln>
        </p:spPr>
        <p:txBody>
          <a:bodyPr/>
          <a:lstStyle/>
          <a:p>
            <a:endParaRPr lang="tr-TR"/>
          </a:p>
        </p:txBody>
      </p:sp>
      <p:sp>
        <p:nvSpPr>
          <p:cNvPr id="13" name="Text 11"/>
          <p:cNvSpPr/>
          <p:nvPr/>
        </p:nvSpPr>
        <p:spPr>
          <a:xfrm>
            <a:off x="594360" y="2359152"/>
            <a:ext cx="3657600" cy="34747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fₜ = σ(W⁽ᶠˣ⁾x⁽ᵗ⁾ + U⁽ᶠᶜ⁾cₜ₋₁ + bᶠ)</a:t>
            </a:r>
            <a:endParaRPr lang="en-US" sz="1050" dirty="0"/>
          </a:p>
        </p:txBody>
      </p:sp>
      <p:sp>
        <p:nvSpPr>
          <p:cNvPr id="14" name="Shape 12"/>
          <p:cNvSpPr/>
          <p:nvPr/>
        </p:nvSpPr>
        <p:spPr>
          <a:xfrm>
            <a:off x="502920" y="2798064"/>
            <a:ext cx="3794760" cy="347472"/>
          </a:xfrm>
          <a:prstGeom prst="rect">
            <a:avLst/>
          </a:prstGeom>
          <a:solidFill>
            <a:srgbClr val="FFFFFF"/>
          </a:solidFill>
          <a:ln w="12700">
            <a:solidFill>
              <a:srgbClr val="E2E8F0"/>
            </a:solidFill>
            <a:prstDash val="solid"/>
          </a:ln>
        </p:spPr>
        <p:txBody>
          <a:bodyPr/>
          <a:lstStyle/>
          <a:p>
            <a:endParaRPr lang="tr-TR"/>
          </a:p>
        </p:txBody>
      </p:sp>
      <p:sp>
        <p:nvSpPr>
          <p:cNvPr id="15" name="Text 13"/>
          <p:cNvSpPr/>
          <p:nvPr/>
        </p:nvSpPr>
        <p:spPr>
          <a:xfrm>
            <a:off x="594360" y="2798064"/>
            <a:ext cx="3657600" cy="34747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oₜ = σ(W⁽ᵒˣ⁾x⁽ᵗ⁾ + U⁽ᵒᶜ⁾cₜ₋₁ + bᵒ)</a:t>
            </a:r>
            <a:endParaRPr lang="en-US" sz="1050" dirty="0"/>
          </a:p>
        </p:txBody>
      </p:sp>
      <p:sp>
        <p:nvSpPr>
          <p:cNvPr id="16" name="Shape 14"/>
          <p:cNvSpPr/>
          <p:nvPr/>
        </p:nvSpPr>
        <p:spPr>
          <a:xfrm>
            <a:off x="502920" y="3236976"/>
            <a:ext cx="3794760" cy="347472"/>
          </a:xfrm>
          <a:prstGeom prst="rect">
            <a:avLst/>
          </a:prstGeom>
          <a:solidFill>
            <a:srgbClr val="FFFFFF"/>
          </a:solidFill>
          <a:ln w="12700">
            <a:solidFill>
              <a:srgbClr val="E2E8F0"/>
            </a:solidFill>
            <a:prstDash val="solid"/>
          </a:ln>
        </p:spPr>
        <p:txBody>
          <a:bodyPr/>
          <a:lstStyle/>
          <a:p>
            <a:endParaRPr lang="tr-TR"/>
          </a:p>
        </p:txBody>
      </p:sp>
      <p:sp>
        <p:nvSpPr>
          <p:cNvPr id="17" name="Text 15"/>
          <p:cNvSpPr/>
          <p:nvPr/>
        </p:nvSpPr>
        <p:spPr>
          <a:xfrm>
            <a:off x="594360" y="3236976"/>
            <a:ext cx="3657600" cy="34747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cₜ = fₜ ∘ cₜ₋₁ + iₜ ∘ lₜ</a:t>
            </a:r>
            <a:endParaRPr lang="en-US" sz="1050" dirty="0"/>
          </a:p>
        </p:txBody>
      </p:sp>
      <p:sp>
        <p:nvSpPr>
          <p:cNvPr id="18" name="Shape 16"/>
          <p:cNvSpPr/>
          <p:nvPr/>
        </p:nvSpPr>
        <p:spPr>
          <a:xfrm>
            <a:off x="502920" y="3675888"/>
            <a:ext cx="3794760" cy="347472"/>
          </a:xfrm>
          <a:prstGeom prst="rect">
            <a:avLst/>
          </a:prstGeom>
          <a:solidFill>
            <a:srgbClr val="E0F2FE"/>
          </a:solidFill>
          <a:ln w="12700">
            <a:solidFill>
              <a:srgbClr val="E2E8F0"/>
            </a:solidFill>
            <a:prstDash val="solid"/>
          </a:ln>
        </p:spPr>
        <p:txBody>
          <a:bodyPr/>
          <a:lstStyle/>
          <a:p>
            <a:endParaRPr lang="tr-TR"/>
          </a:p>
        </p:txBody>
      </p:sp>
      <p:sp>
        <p:nvSpPr>
          <p:cNvPr id="19" name="Text 17"/>
          <p:cNvSpPr/>
          <p:nvPr/>
        </p:nvSpPr>
        <p:spPr>
          <a:xfrm>
            <a:off x="594360" y="3675888"/>
            <a:ext cx="3657600" cy="347472"/>
          </a:xfrm>
          <a:prstGeom prst="rect">
            <a:avLst/>
          </a:prstGeom>
          <a:noFill/>
          <a:ln/>
        </p:spPr>
        <p:txBody>
          <a:bodyPr wrap="square" lIns="0" tIns="0" rIns="0" bIns="0" rtlCol="0" anchor="ctr"/>
          <a:lstStyle/>
          <a:p>
            <a:pPr marL="0" indent="0">
              <a:buNone/>
            </a:pPr>
            <a:r>
              <a:rPr lang="en-US" sz="1050" b="1" dirty="0">
                <a:solidFill>
                  <a:srgbClr val="0891B2"/>
                </a:solidFill>
                <a:latin typeface="Calibri" pitchFamily="34" charset="0"/>
                <a:ea typeface="Calibri" pitchFamily="34" charset="-122"/>
                <a:cs typeface="Calibri" pitchFamily="34" charset="-120"/>
              </a:rPr>
              <a:t>hₜ = oₜ ∘ cₜ   (← hₜ₋₁ yerine cₜ!)</a:t>
            </a:r>
            <a:endParaRPr lang="en-US" sz="1050" dirty="0"/>
          </a:p>
        </p:txBody>
      </p:sp>
      <p:sp>
        <p:nvSpPr>
          <p:cNvPr id="20" name="Shape 18"/>
          <p:cNvSpPr/>
          <p:nvPr/>
        </p:nvSpPr>
        <p:spPr>
          <a:xfrm>
            <a:off x="502920" y="4151376"/>
            <a:ext cx="3794760" cy="603504"/>
          </a:xfrm>
          <a:prstGeom prst="rect">
            <a:avLst/>
          </a:prstGeom>
          <a:solidFill>
            <a:srgbClr val="EFF6FF"/>
          </a:solidFill>
          <a:ln w="12700">
            <a:solidFill>
              <a:srgbClr val="0891B2"/>
            </a:solidFill>
            <a:prstDash val="solid"/>
          </a:ln>
        </p:spPr>
        <p:txBody>
          <a:bodyPr/>
          <a:lstStyle/>
          <a:p>
            <a:endParaRPr lang="tr-TR"/>
          </a:p>
        </p:txBody>
      </p:sp>
      <p:sp>
        <p:nvSpPr>
          <p:cNvPr id="21" name="Text 19"/>
          <p:cNvSpPr/>
          <p:nvPr/>
        </p:nvSpPr>
        <p:spPr>
          <a:xfrm>
            <a:off x="594360" y="4169664"/>
            <a:ext cx="3657600" cy="548640"/>
          </a:xfrm>
          <a:prstGeom prst="rect">
            <a:avLst/>
          </a:prstGeom>
          <a:noFill/>
          <a:ln/>
        </p:spPr>
        <p:txBody>
          <a:bodyPr wrap="square" lIns="0" tIns="0" rIns="0" bIns="0" rtlCol="0" anchor="ctr"/>
          <a:lstStyle/>
          <a:p>
            <a:pPr marL="0" indent="0">
              <a:buNone/>
            </a:pPr>
            <a:r>
              <a:rPr lang="en-US" sz="850" i="1" dirty="0">
                <a:solidFill>
                  <a:srgbClr val="1E293B"/>
                </a:solidFill>
                <a:latin typeface="Calibri" pitchFamily="34" charset="0"/>
                <a:ea typeface="Calibri" pitchFamily="34" charset="-122"/>
                <a:cs typeface="Calibri" pitchFamily="34" charset="-120"/>
              </a:rPr>
              <a:t>💡 Avantaj: Çıkış kapısı kapalı olsa bile (oₜ₋₁=0 → hₜ₋₁=0), kapılar cₜ₋₁ üzerinden tarihsel bilgiye ulaşabilir → bilgi kaybı engellenir. Zamanlama hassasiyeti gerektiren görevlerde tercih edilir.</a:t>
            </a:r>
            <a:endParaRPr lang="en-US" sz="850" dirty="0"/>
          </a:p>
        </p:txBody>
      </p:sp>
      <p:sp>
        <p:nvSpPr>
          <p:cNvPr id="22" name="Shape 20"/>
          <p:cNvSpPr/>
          <p:nvPr/>
        </p:nvSpPr>
        <p:spPr>
          <a:xfrm>
            <a:off x="4681728" y="1115568"/>
            <a:ext cx="4096512" cy="3767328"/>
          </a:xfrm>
          <a:prstGeom prst="rect">
            <a:avLst/>
          </a:prstGeom>
          <a:solidFill>
            <a:srgbClr val="F0FDF4"/>
          </a:solidFill>
          <a:ln w="12700">
            <a:solidFill>
              <a:srgbClr val="059669"/>
            </a:solidFill>
            <a:prstDash val="solid"/>
          </a:ln>
          <a:effectLst>
            <a:outerShdw blurRad="127000" dist="50800" dir="8100000" algn="bl" rotWithShape="0">
              <a:srgbClr val="000000">
                <a:alpha val="12000"/>
              </a:srgbClr>
            </a:outerShdw>
          </a:effectLst>
        </p:spPr>
        <p:txBody>
          <a:bodyPr/>
          <a:lstStyle/>
          <a:p>
            <a:endParaRPr lang="tr-TR"/>
          </a:p>
        </p:txBody>
      </p:sp>
      <p:sp>
        <p:nvSpPr>
          <p:cNvPr id="23" name="Shape 21"/>
          <p:cNvSpPr/>
          <p:nvPr/>
        </p:nvSpPr>
        <p:spPr>
          <a:xfrm>
            <a:off x="4681728" y="1115568"/>
            <a:ext cx="4096512" cy="420624"/>
          </a:xfrm>
          <a:prstGeom prst="rect">
            <a:avLst/>
          </a:prstGeom>
          <a:solidFill>
            <a:srgbClr val="059669"/>
          </a:solidFill>
          <a:ln w="12700">
            <a:solidFill>
              <a:srgbClr val="059669"/>
            </a:solidFill>
            <a:prstDash val="solid"/>
          </a:ln>
        </p:spPr>
        <p:txBody>
          <a:bodyPr/>
          <a:lstStyle/>
          <a:p>
            <a:endParaRPr lang="tr-TR"/>
          </a:p>
        </p:txBody>
      </p:sp>
      <p:sp>
        <p:nvSpPr>
          <p:cNvPr id="24" name="Text 22"/>
          <p:cNvSpPr/>
          <p:nvPr/>
        </p:nvSpPr>
        <p:spPr>
          <a:xfrm>
            <a:off x="4791456" y="1115568"/>
            <a:ext cx="3877056" cy="4206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GRU — Kapılı Yinelemeli Birim (Cho et al., 2014)</a:t>
            </a:r>
            <a:endParaRPr lang="en-US" sz="1050" dirty="0"/>
          </a:p>
        </p:txBody>
      </p:sp>
      <p:sp>
        <p:nvSpPr>
          <p:cNvPr id="25" name="Text 23"/>
          <p:cNvSpPr/>
          <p:nvPr/>
        </p:nvSpPr>
        <p:spPr>
          <a:xfrm>
            <a:off x="4818888" y="1609344"/>
            <a:ext cx="3840480" cy="25603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LSTM'nin sadeleştirilmiş versiyonu — Hücre durumu yok, 2 kapı</a:t>
            </a:r>
            <a:endParaRPr lang="en-US" sz="1000" dirty="0"/>
          </a:p>
        </p:txBody>
      </p:sp>
      <p:sp>
        <p:nvSpPr>
          <p:cNvPr id="26" name="Shape 24"/>
          <p:cNvSpPr/>
          <p:nvPr/>
        </p:nvSpPr>
        <p:spPr>
          <a:xfrm>
            <a:off x="4818888" y="1920240"/>
            <a:ext cx="3794760" cy="347472"/>
          </a:xfrm>
          <a:prstGeom prst="rect">
            <a:avLst/>
          </a:prstGeom>
          <a:solidFill>
            <a:srgbClr val="FFFFFF"/>
          </a:solidFill>
          <a:ln w="12700">
            <a:solidFill>
              <a:srgbClr val="E2E8F0"/>
            </a:solidFill>
            <a:prstDash val="solid"/>
          </a:ln>
        </p:spPr>
        <p:txBody>
          <a:bodyPr/>
          <a:lstStyle/>
          <a:p>
            <a:endParaRPr lang="tr-TR"/>
          </a:p>
        </p:txBody>
      </p:sp>
      <p:sp>
        <p:nvSpPr>
          <p:cNvPr id="27" name="Text 25"/>
          <p:cNvSpPr/>
          <p:nvPr/>
        </p:nvSpPr>
        <p:spPr>
          <a:xfrm>
            <a:off x="4910328" y="1920240"/>
            <a:ext cx="365760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zₜ = σ(Wz·[hₜ₋₁, xₜ])   — Güncelleme Kapısı</a:t>
            </a:r>
            <a:endParaRPr lang="en-US" sz="1000" dirty="0"/>
          </a:p>
        </p:txBody>
      </p:sp>
      <p:sp>
        <p:nvSpPr>
          <p:cNvPr id="28" name="Shape 26"/>
          <p:cNvSpPr/>
          <p:nvPr/>
        </p:nvSpPr>
        <p:spPr>
          <a:xfrm>
            <a:off x="4818888" y="2359152"/>
            <a:ext cx="3794760" cy="347472"/>
          </a:xfrm>
          <a:prstGeom prst="rect">
            <a:avLst/>
          </a:prstGeom>
          <a:solidFill>
            <a:srgbClr val="FFFFFF"/>
          </a:solidFill>
          <a:ln w="12700">
            <a:solidFill>
              <a:srgbClr val="E2E8F0"/>
            </a:solidFill>
            <a:prstDash val="solid"/>
          </a:ln>
        </p:spPr>
        <p:txBody>
          <a:bodyPr/>
          <a:lstStyle/>
          <a:p>
            <a:endParaRPr lang="tr-TR"/>
          </a:p>
        </p:txBody>
      </p:sp>
      <p:sp>
        <p:nvSpPr>
          <p:cNvPr id="29" name="Text 27"/>
          <p:cNvSpPr/>
          <p:nvPr/>
        </p:nvSpPr>
        <p:spPr>
          <a:xfrm>
            <a:off x="4910328" y="2359152"/>
            <a:ext cx="365760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rₜ = σ(Wr·[hₜ₋₁, xₜ])   — Sıfırlama Kapısı</a:t>
            </a:r>
            <a:endParaRPr lang="en-US" sz="1000" dirty="0"/>
          </a:p>
        </p:txBody>
      </p:sp>
      <p:sp>
        <p:nvSpPr>
          <p:cNvPr id="30" name="Shape 28"/>
          <p:cNvSpPr/>
          <p:nvPr/>
        </p:nvSpPr>
        <p:spPr>
          <a:xfrm>
            <a:off x="4818888" y="2798064"/>
            <a:ext cx="3794760" cy="347472"/>
          </a:xfrm>
          <a:prstGeom prst="rect">
            <a:avLst/>
          </a:prstGeom>
          <a:solidFill>
            <a:srgbClr val="FFFFFF"/>
          </a:solidFill>
          <a:ln w="12700">
            <a:solidFill>
              <a:srgbClr val="E2E8F0"/>
            </a:solidFill>
            <a:prstDash val="solid"/>
          </a:ln>
        </p:spPr>
        <p:txBody>
          <a:bodyPr/>
          <a:lstStyle/>
          <a:p>
            <a:endParaRPr lang="tr-TR"/>
          </a:p>
        </p:txBody>
      </p:sp>
      <p:sp>
        <p:nvSpPr>
          <p:cNvPr id="31" name="Text 29"/>
          <p:cNvSpPr/>
          <p:nvPr/>
        </p:nvSpPr>
        <p:spPr>
          <a:xfrm>
            <a:off x="4910328" y="2798064"/>
            <a:ext cx="365760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h̃ₜ = tanh(W·[rₜ ∘ hₜ₋₁, xₜ])   — Aday gizli durum</a:t>
            </a:r>
            <a:endParaRPr lang="en-US" sz="1000" dirty="0"/>
          </a:p>
        </p:txBody>
      </p:sp>
      <p:sp>
        <p:nvSpPr>
          <p:cNvPr id="32" name="Shape 30"/>
          <p:cNvSpPr/>
          <p:nvPr/>
        </p:nvSpPr>
        <p:spPr>
          <a:xfrm>
            <a:off x="4818888" y="3236976"/>
            <a:ext cx="3794760" cy="347472"/>
          </a:xfrm>
          <a:prstGeom prst="rect">
            <a:avLst/>
          </a:prstGeom>
          <a:solidFill>
            <a:srgbClr val="FFFFFF"/>
          </a:solidFill>
          <a:ln w="12700">
            <a:solidFill>
              <a:srgbClr val="E2E8F0"/>
            </a:solidFill>
            <a:prstDash val="solid"/>
          </a:ln>
        </p:spPr>
        <p:txBody>
          <a:bodyPr/>
          <a:lstStyle/>
          <a:p>
            <a:endParaRPr lang="tr-TR"/>
          </a:p>
        </p:txBody>
      </p:sp>
      <p:sp>
        <p:nvSpPr>
          <p:cNvPr id="33" name="Text 31"/>
          <p:cNvSpPr/>
          <p:nvPr/>
        </p:nvSpPr>
        <p:spPr>
          <a:xfrm>
            <a:off x="4910328" y="3236976"/>
            <a:ext cx="3657600" cy="34747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hₜ = (1−zₜ) ∘ hₜ₋₁ + zₜ ∘ h̃ₜ   — Çıkış</a:t>
            </a:r>
            <a:endParaRPr lang="en-US" sz="1000" dirty="0"/>
          </a:p>
        </p:txBody>
      </p:sp>
      <p:sp>
        <p:nvSpPr>
          <p:cNvPr id="34" name="Text 32"/>
          <p:cNvSpPr/>
          <p:nvPr/>
        </p:nvSpPr>
        <p:spPr>
          <a:xfrm>
            <a:off x="4818888" y="3712464"/>
            <a:ext cx="3840480" cy="237744"/>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GRU vs LSTM Karşılaştırma</a:t>
            </a:r>
            <a:endParaRPr lang="en-US" sz="1000" dirty="0"/>
          </a:p>
        </p:txBody>
      </p:sp>
      <p:sp>
        <p:nvSpPr>
          <p:cNvPr id="35" name="Shape 33"/>
          <p:cNvSpPr/>
          <p:nvPr/>
        </p:nvSpPr>
        <p:spPr>
          <a:xfrm>
            <a:off x="4818888" y="3986784"/>
            <a:ext cx="3794760" cy="201168"/>
          </a:xfrm>
          <a:prstGeom prst="rect">
            <a:avLst/>
          </a:prstGeom>
          <a:solidFill>
            <a:srgbClr val="059669"/>
          </a:solidFill>
          <a:ln w="12700">
            <a:solidFill>
              <a:srgbClr val="E2E8F0"/>
            </a:solidFill>
            <a:prstDash val="solid"/>
          </a:ln>
        </p:spPr>
        <p:txBody>
          <a:bodyPr/>
          <a:lstStyle/>
          <a:p>
            <a:endParaRPr lang="tr-TR"/>
          </a:p>
        </p:txBody>
      </p:sp>
      <p:sp>
        <p:nvSpPr>
          <p:cNvPr id="36" name="Text 34"/>
          <p:cNvSpPr/>
          <p:nvPr/>
        </p:nvSpPr>
        <p:spPr>
          <a:xfrm>
            <a:off x="4837176" y="3986784"/>
            <a:ext cx="124358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Özellik</a:t>
            </a:r>
            <a:endParaRPr lang="en-US" sz="900" dirty="0"/>
          </a:p>
        </p:txBody>
      </p:sp>
      <p:sp>
        <p:nvSpPr>
          <p:cNvPr id="37" name="Text 35"/>
          <p:cNvSpPr/>
          <p:nvPr/>
        </p:nvSpPr>
        <p:spPr>
          <a:xfrm>
            <a:off x="6099048" y="3986784"/>
            <a:ext cx="124358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GRU</a:t>
            </a:r>
            <a:endParaRPr lang="en-US" sz="900" dirty="0"/>
          </a:p>
        </p:txBody>
      </p:sp>
      <p:sp>
        <p:nvSpPr>
          <p:cNvPr id="38" name="Text 36"/>
          <p:cNvSpPr/>
          <p:nvPr/>
        </p:nvSpPr>
        <p:spPr>
          <a:xfrm>
            <a:off x="7360920" y="3986784"/>
            <a:ext cx="124358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LSTM</a:t>
            </a:r>
            <a:endParaRPr lang="en-US" sz="900" dirty="0"/>
          </a:p>
        </p:txBody>
      </p:sp>
      <p:sp>
        <p:nvSpPr>
          <p:cNvPr id="39" name="Shape 37"/>
          <p:cNvSpPr/>
          <p:nvPr/>
        </p:nvSpPr>
        <p:spPr>
          <a:xfrm>
            <a:off x="4818888" y="4187952"/>
            <a:ext cx="3794760" cy="201168"/>
          </a:xfrm>
          <a:prstGeom prst="rect">
            <a:avLst/>
          </a:prstGeom>
          <a:solidFill>
            <a:srgbClr val="FFFFFF"/>
          </a:solidFill>
          <a:ln w="12700">
            <a:solidFill>
              <a:srgbClr val="E2E8F0"/>
            </a:solidFill>
            <a:prstDash val="solid"/>
          </a:ln>
        </p:spPr>
        <p:txBody>
          <a:bodyPr/>
          <a:lstStyle/>
          <a:p>
            <a:endParaRPr lang="tr-TR"/>
          </a:p>
        </p:txBody>
      </p:sp>
      <p:sp>
        <p:nvSpPr>
          <p:cNvPr id="40" name="Text 38"/>
          <p:cNvSpPr/>
          <p:nvPr/>
        </p:nvSpPr>
        <p:spPr>
          <a:xfrm>
            <a:off x="4837176" y="4187952"/>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Kapı sayısı</a:t>
            </a:r>
            <a:endParaRPr lang="en-US" sz="850" dirty="0"/>
          </a:p>
        </p:txBody>
      </p:sp>
      <p:sp>
        <p:nvSpPr>
          <p:cNvPr id="41" name="Text 39"/>
          <p:cNvSpPr/>
          <p:nvPr/>
        </p:nvSpPr>
        <p:spPr>
          <a:xfrm>
            <a:off x="6099048" y="4187952"/>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2</a:t>
            </a:r>
            <a:endParaRPr lang="en-US" sz="850" dirty="0"/>
          </a:p>
        </p:txBody>
      </p:sp>
      <p:sp>
        <p:nvSpPr>
          <p:cNvPr id="42" name="Text 40"/>
          <p:cNvSpPr/>
          <p:nvPr/>
        </p:nvSpPr>
        <p:spPr>
          <a:xfrm>
            <a:off x="7360920" y="4187952"/>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3</a:t>
            </a:r>
            <a:endParaRPr lang="en-US" sz="850" dirty="0"/>
          </a:p>
        </p:txBody>
      </p:sp>
      <p:sp>
        <p:nvSpPr>
          <p:cNvPr id="43" name="Shape 41"/>
          <p:cNvSpPr/>
          <p:nvPr/>
        </p:nvSpPr>
        <p:spPr>
          <a:xfrm>
            <a:off x="4818888" y="4389120"/>
            <a:ext cx="3794760" cy="201168"/>
          </a:xfrm>
          <a:prstGeom prst="rect">
            <a:avLst/>
          </a:prstGeom>
          <a:solidFill>
            <a:srgbClr val="F0FDF4"/>
          </a:solidFill>
          <a:ln w="12700">
            <a:solidFill>
              <a:srgbClr val="E2E8F0"/>
            </a:solidFill>
            <a:prstDash val="solid"/>
          </a:ln>
        </p:spPr>
        <p:txBody>
          <a:bodyPr/>
          <a:lstStyle/>
          <a:p>
            <a:endParaRPr lang="tr-TR"/>
          </a:p>
        </p:txBody>
      </p:sp>
      <p:sp>
        <p:nvSpPr>
          <p:cNvPr id="44" name="Text 42"/>
          <p:cNvSpPr/>
          <p:nvPr/>
        </p:nvSpPr>
        <p:spPr>
          <a:xfrm>
            <a:off x="4837176" y="4389120"/>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Hücre durumu</a:t>
            </a:r>
            <a:endParaRPr lang="en-US" sz="850" dirty="0"/>
          </a:p>
        </p:txBody>
      </p:sp>
      <p:sp>
        <p:nvSpPr>
          <p:cNvPr id="45" name="Text 43"/>
          <p:cNvSpPr/>
          <p:nvPr/>
        </p:nvSpPr>
        <p:spPr>
          <a:xfrm>
            <a:off x="6099048" y="4389120"/>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Yok (hₜ birleşik)</a:t>
            </a:r>
            <a:endParaRPr lang="en-US" sz="850" dirty="0"/>
          </a:p>
        </p:txBody>
      </p:sp>
      <p:sp>
        <p:nvSpPr>
          <p:cNvPr id="46" name="Text 44"/>
          <p:cNvSpPr/>
          <p:nvPr/>
        </p:nvSpPr>
        <p:spPr>
          <a:xfrm>
            <a:off x="7360920" y="4389120"/>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Var (cₜ ayrı)</a:t>
            </a:r>
            <a:endParaRPr lang="en-US" sz="850" dirty="0"/>
          </a:p>
        </p:txBody>
      </p:sp>
      <p:sp>
        <p:nvSpPr>
          <p:cNvPr id="47" name="Shape 45"/>
          <p:cNvSpPr/>
          <p:nvPr/>
        </p:nvSpPr>
        <p:spPr>
          <a:xfrm>
            <a:off x="4818888" y="4590288"/>
            <a:ext cx="3794760" cy="201168"/>
          </a:xfrm>
          <a:prstGeom prst="rect">
            <a:avLst/>
          </a:prstGeom>
          <a:solidFill>
            <a:srgbClr val="FFFFFF"/>
          </a:solidFill>
          <a:ln w="12700">
            <a:solidFill>
              <a:srgbClr val="E2E8F0"/>
            </a:solidFill>
            <a:prstDash val="solid"/>
          </a:ln>
        </p:spPr>
        <p:txBody>
          <a:bodyPr/>
          <a:lstStyle/>
          <a:p>
            <a:endParaRPr lang="tr-TR"/>
          </a:p>
        </p:txBody>
      </p:sp>
      <p:sp>
        <p:nvSpPr>
          <p:cNvPr id="48" name="Text 46"/>
          <p:cNvSpPr/>
          <p:nvPr/>
        </p:nvSpPr>
        <p:spPr>
          <a:xfrm>
            <a:off x="4837176" y="4590288"/>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Parametre sayısı</a:t>
            </a:r>
            <a:endParaRPr lang="en-US" sz="850" dirty="0"/>
          </a:p>
        </p:txBody>
      </p:sp>
      <p:sp>
        <p:nvSpPr>
          <p:cNvPr id="49" name="Text 47"/>
          <p:cNvSpPr/>
          <p:nvPr/>
        </p:nvSpPr>
        <p:spPr>
          <a:xfrm>
            <a:off x="6099048" y="4590288"/>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Az → Hızlı</a:t>
            </a:r>
            <a:endParaRPr lang="en-US" sz="850" dirty="0"/>
          </a:p>
        </p:txBody>
      </p:sp>
      <p:sp>
        <p:nvSpPr>
          <p:cNvPr id="50" name="Text 48"/>
          <p:cNvSpPr/>
          <p:nvPr/>
        </p:nvSpPr>
        <p:spPr>
          <a:xfrm>
            <a:off x="7360920" y="4590288"/>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Fazla → Yavaş</a:t>
            </a:r>
            <a:endParaRPr lang="en-US" sz="850" dirty="0"/>
          </a:p>
        </p:txBody>
      </p:sp>
      <p:sp>
        <p:nvSpPr>
          <p:cNvPr id="51" name="Shape 49"/>
          <p:cNvSpPr/>
          <p:nvPr/>
        </p:nvSpPr>
        <p:spPr>
          <a:xfrm>
            <a:off x="4818888" y="4791456"/>
            <a:ext cx="3794760" cy="201168"/>
          </a:xfrm>
          <a:prstGeom prst="rect">
            <a:avLst/>
          </a:prstGeom>
          <a:solidFill>
            <a:srgbClr val="F0FDF4"/>
          </a:solidFill>
          <a:ln w="12700">
            <a:solidFill>
              <a:srgbClr val="E2E8F0"/>
            </a:solidFill>
            <a:prstDash val="solid"/>
          </a:ln>
        </p:spPr>
        <p:txBody>
          <a:bodyPr/>
          <a:lstStyle/>
          <a:p>
            <a:endParaRPr lang="tr-TR"/>
          </a:p>
        </p:txBody>
      </p:sp>
      <p:sp>
        <p:nvSpPr>
          <p:cNvPr id="52" name="Text 50"/>
          <p:cNvSpPr/>
          <p:nvPr/>
        </p:nvSpPr>
        <p:spPr>
          <a:xfrm>
            <a:off x="4837176" y="4791456"/>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Kısa bağımlılık</a:t>
            </a:r>
            <a:endParaRPr lang="en-US" sz="850" dirty="0"/>
          </a:p>
        </p:txBody>
      </p:sp>
      <p:sp>
        <p:nvSpPr>
          <p:cNvPr id="53" name="Text 51"/>
          <p:cNvSpPr/>
          <p:nvPr/>
        </p:nvSpPr>
        <p:spPr>
          <a:xfrm>
            <a:off x="6099048" y="4791456"/>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İyi</a:t>
            </a:r>
            <a:endParaRPr lang="en-US" sz="850" dirty="0"/>
          </a:p>
        </p:txBody>
      </p:sp>
      <p:sp>
        <p:nvSpPr>
          <p:cNvPr id="54" name="Text 52"/>
          <p:cNvSpPr/>
          <p:nvPr/>
        </p:nvSpPr>
        <p:spPr>
          <a:xfrm>
            <a:off x="7360920" y="4791456"/>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İyi</a:t>
            </a:r>
            <a:endParaRPr lang="en-US" sz="850" dirty="0"/>
          </a:p>
        </p:txBody>
      </p:sp>
      <p:sp>
        <p:nvSpPr>
          <p:cNvPr id="55" name="Shape 53"/>
          <p:cNvSpPr/>
          <p:nvPr/>
        </p:nvSpPr>
        <p:spPr>
          <a:xfrm>
            <a:off x="4818888" y="4992624"/>
            <a:ext cx="3794760" cy="201168"/>
          </a:xfrm>
          <a:prstGeom prst="rect">
            <a:avLst/>
          </a:prstGeom>
          <a:solidFill>
            <a:srgbClr val="FFFFFF"/>
          </a:solidFill>
          <a:ln w="12700">
            <a:solidFill>
              <a:srgbClr val="E2E8F0"/>
            </a:solidFill>
            <a:prstDash val="solid"/>
          </a:ln>
        </p:spPr>
        <p:txBody>
          <a:bodyPr/>
          <a:lstStyle/>
          <a:p>
            <a:endParaRPr lang="tr-TR"/>
          </a:p>
        </p:txBody>
      </p:sp>
      <p:sp>
        <p:nvSpPr>
          <p:cNvPr id="56" name="Text 54"/>
          <p:cNvSpPr/>
          <p:nvPr/>
        </p:nvSpPr>
        <p:spPr>
          <a:xfrm>
            <a:off x="4837176" y="4992624"/>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Uzun bağımlılık</a:t>
            </a:r>
            <a:endParaRPr lang="en-US" sz="850" dirty="0"/>
          </a:p>
        </p:txBody>
      </p:sp>
      <p:sp>
        <p:nvSpPr>
          <p:cNvPr id="57" name="Text 55"/>
          <p:cNvSpPr/>
          <p:nvPr/>
        </p:nvSpPr>
        <p:spPr>
          <a:xfrm>
            <a:off x="6099048" y="4992624"/>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Çoğunlukla yeterli</a:t>
            </a:r>
            <a:endParaRPr lang="en-US" sz="850" dirty="0"/>
          </a:p>
        </p:txBody>
      </p:sp>
      <p:sp>
        <p:nvSpPr>
          <p:cNvPr id="58" name="Text 56"/>
          <p:cNvSpPr/>
          <p:nvPr/>
        </p:nvSpPr>
        <p:spPr>
          <a:xfrm>
            <a:off x="7360920" y="4992624"/>
            <a:ext cx="1243584" cy="201168"/>
          </a:xfrm>
          <a:prstGeom prst="rect">
            <a:avLst/>
          </a:prstGeom>
          <a:noFill/>
          <a:ln/>
        </p:spPr>
        <p:txBody>
          <a:bodyPr wrap="square" lIns="0" tIns="0" rIns="0" bIns="0" rtlCol="0" anchor="ctr"/>
          <a:lstStyle/>
          <a:p>
            <a:pPr marL="0" indent="0" algn="ctr">
              <a:buNone/>
            </a:pPr>
            <a:r>
              <a:rPr lang="en-US" sz="850" dirty="0">
                <a:solidFill>
                  <a:srgbClr val="334155"/>
                </a:solidFill>
                <a:latin typeface="Calibri" pitchFamily="34" charset="0"/>
                <a:ea typeface="Calibri" pitchFamily="34" charset="-122"/>
                <a:cs typeface="Calibri" pitchFamily="34" charset="-120"/>
              </a:rPr>
              <a:t>Biraz daha iyi</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17 — GAN</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Üretici Çekişmeli Ağlar (GAN) &amp; Gelişmiş Modeller</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Text 4"/>
          <p:cNvSpPr/>
          <p:nvPr/>
        </p:nvSpPr>
        <p:spPr>
          <a:xfrm>
            <a:off x="365760" y="1115568"/>
            <a:ext cx="2286000" cy="274320"/>
          </a:xfrm>
          <a:prstGeom prst="rect">
            <a:avLst/>
          </a:prstGeom>
          <a:noFill/>
          <a:ln/>
        </p:spPr>
        <p:txBody>
          <a:bodyPr wrap="square" lIns="0" tIns="0" rIns="0" bIns="0" rtlCol="0" anchor="ctr"/>
          <a:lstStyle/>
          <a:p>
            <a:pPr marL="0" indent="0">
              <a:buNone/>
            </a:pPr>
            <a:r>
              <a:rPr lang="en-US" sz="1200" b="1" dirty="0">
                <a:solidFill>
                  <a:srgbClr val="06B6D4"/>
                </a:solidFill>
                <a:latin typeface="Calibri" pitchFamily="34" charset="0"/>
                <a:ea typeface="Calibri" pitchFamily="34" charset="-122"/>
                <a:cs typeface="Calibri" pitchFamily="34" charset="-120"/>
              </a:rPr>
              <a:t>GAN — Goodfellow et al. (2014):</a:t>
            </a:r>
            <a:endParaRPr lang="en-US" sz="1200" dirty="0"/>
          </a:p>
        </p:txBody>
      </p:sp>
      <p:sp>
        <p:nvSpPr>
          <p:cNvPr id="7" name="Text 5"/>
          <p:cNvSpPr/>
          <p:nvPr/>
        </p:nvSpPr>
        <p:spPr>
          <a:xfrm>
            <a:off x="365760" y="1417320"/>
            <a:ext cx="5029200" cy="237744"/>
          </a:xfrm>
          <a:prstGeom prst="rect">
            <a:avLst/>
          </a:prstGeom>
          <a:noFill/>
          <a:ln/>
        </p:spPr>
        <p:txBody>
          <a:bodyPr wrap="square" lIns="0" tIns="0" rIns="0" bIns="0" rtlCol="0" anchor="ctr"/>
          <a:lstStyle/>
          <a:p>
            <a:pPr marL="0" indent="0">
              <a:buNone/>
            </a:pPr>
            <a:r>
              <a:rPr lang="en-US" sz="1000" i="1" dirty="0">
                <a:solidFill>
                  <a:srgbClr val="84CC16"/>
                </a:solidFill>
                <a:latin typeface="Calibri" pitchFamily="34" charset="0"/>
                <a:ea typeface="Calibri" pitchFamily="34" charset="-122"/>
                <a:cs typeface="Calibri" pitchFamily="34" charset="-120"/>
              </a:rPr>
              <a:t>"Makine öğrenmesinin son 20 yılının en harika fikri" — Yann LeCun</a:t>
            </a:r>
            <a:endParaRPr lang="en-US" sz="1000" dirty="0"/>
          </a:p>
        </p:txBody>
      </p:sp>
      <p:sp>
        <p:nvSpPr>
          <p:cNvPr id="8" name="Shape 6"/>
          <p:cNvSpPr/>
          <p:nvPr/>
        </p:nvSpPr>
        <p:spPr>
          <a:xfrm>
            <a:off x="365760" y="1755648"/>
            <a:ext cx="1188720" cy="1078992"/>
          </a:xfrm>
          <a:prstGeom prst="rect">
            <a:avLst/>
          </a:prstGeom>
          <a:solidFill>
            <a:srgbClr val="243B55"/>
          </a:solidFill>
          <a:ln w="12700">
            <a:solidFill>
              <a:srgbClr val="94A3B8"/>
            </a:solidFill>
            <a:prstDash val="solid"/>
          </a:ln>
          <a:effectLst>
            <a:outerShdw blurRad="63500" dist="25400" dir="8100000" algn="bl" rotWithShape="0">
              <a:srgbClr val="000000">
                <a:alpha val="8000"/>
              </a:srgbClr>
            </a:outerShdw>
          </a:effectLst>
        </p:spPr>
        <p:txBody>
          <a:bodyPr/>
          <a:lstStyle/>
          <a:p>
            <a:endParaRPr lang="tr-TR"/>
          </a:p>
        </p:txBody>
      </p:sp>
      <p:sp>
        <p:nvSpPr>
          <p:cNvPr id="9" name="Text 7"/>
          <p:cNvSpPr/>
          <p:nvPr/>
        </p:nvSpPr>
        <p:spPr>
          <a:xfrm>
            <a:off x="365760" y="1755648"/>
            <a:ext cx="1188720" cy="1078992"/>
          </a:xfrm>
          <a:prstGeom prst="rect">
            <a:avLst/>
          </a:prstGeom>
          <a:no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Rastgele</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Gürültü</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z~N(0,1)</a:t>
            </a:r>
            <a:endParaRPr lang="en-US" sz="950" dirty="0"/>
          </a:p>
        </p:txBody>
      </p:sp>
      <p:sp>
        <p:nvSpPr>
          <p:cNvPr id="10" name="Shape 8"/>
          <p:cNvSpPr/>
          <p:nvPr/>
        </p:nvSpPr>
        <p:spPr>
          <a:xfrm>
            <a:off x="1938528" y="1755648"/>
            <a:ext cx="1371600" cy="1078992"/>
          </a:xfrm>
          <a:prstGeom prst="rect">
            <a:avLst/>
          </a:prstGeom>
          <a:solidFill>
            <a:srgbClr val="7C3AED"/>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tr-TR"/>
          </a:p>
        </p:txBody>
      </p:sp>
      <p:sp>
        <p:nvSpPr>
          <p:cNvPr id="11" name="Text 9"/>
          <p:cNvSpPr/>
          <p:nvPr/>
        </p:nvSpPr>
        <p:spPr>
          <a:xfrm>
            <a:off x="1938528" y="1755648"/>
            <a:ext cx="1371600" cy="1078992"/>
          </a:xfrm>
          <a:prstGeom prst="rect">
            <a:avLst/>
          </a:prstGeom>
          <a:no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Üretici</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G(z)</a:t>
            </a:r>
            <a:endParaRPr lang="en-US" sz="950" dirty="0"/>
          </a:p>
        </p:txBody>
      </p:sp>
      <p:sp>
        <p:nvSpPr>
          <p:cNvPr id="12" name="Shape 10"/>
          <p:cNvSpPr/>
          <p:nvPr/>
        </p:nvSpPr>
        <p:spPr>
          <a:xfrm>
            <a:off x="3694176" y="1755648"/>
            <a:ext cx="1097280" cy="1078992"/>
          </a:xfrm>
          <a:prstGeom prst="rect">
            <a:avLst/>
          </a:prstGeom>
          <a:solidFill>
            <a:srgbClr val="243B55"/>
          </a:solidFill>
          <a:ln w="12700">
            <a:solidFill>
              <a:srgbClr val="7C3AED"/>
            </a:solidFill>
            <a:prstDash val="solid"/>
          </a:ln>
          <a:effectLst>
            <a:outerShdw blurRad="63500" dist="25400" dir="8100000" algn="bl" rotWithShape="0">
              <a:srgbClr val="000000">
                <a:alpha val="8000"/>
              </a:srgbClr>
            </a:outerShdw>
          </a:effectLst>
        </p:spPr>
        <p:txBody>
          <a:bodyPr/>
          <a:lstStyle/>
          <a:p>
            <a:endParaRPr lang="tr-TR"/>
          </a:p>
        </p:txBody>
      </p:sp>
      <p:sp>
        <p:nvSpPr>
          <p:cNvPr id="13" name="Text 11"/>
          <p:cNvSpPr/>
          <p:nvPr/>
        </p:nvSpPr>
        <p:spPr>
          <a:xfrm>
            <a:off x="3694176" y="1755648"/>
            <a:ext cx="1097280" cy="1078992"/>
          </a:xfrm>
          <a:prstGeom prst="rect">
            <a:avLst/>
          </a:prstGeom>
          <a:no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Sahte</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Veri</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G(z)</a:t>
            </a:r>
            <a:endParaRPr lang="en-US" sz="950" dirty="0"/>
          </a:p>
        </p:txBody>
      </p:sp>
      <p:sp>
        <p:nvSpPr>
          <p:cNvPr id="14" name="Shape 12"/>
          <p:cNvSpPr/>
          <p:nvPr/>
        </p:nvSpPr>
        <p:spPr>
          <a:xfrm>
            <a:off x="5230368" y="1755648"/>
            <a:ext cx="1371600" cy="1719072"/>
          </a:xfrm>
          <a:prstGeom prst="rect">
            <a:avLst/>
          </a:prstGeom>
          <a:solidFill>
            <a:srgbClr val="EF4444"/>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tr-TR"/>
          </a:p>
        </p:txBody>
      </p:sp>
      <p:sp>
        <p:nvSpPr>
          <p:cNvPr id="15" name="Text 13"/>
          <p:cNvSpPr/>
          <p:nvPr/>
        </p:nvSpPr>
        <p:spPr>
          <a:xfrm>
            <a:off x="5230368" y="1755648"/>
            <a:ext cx="1371600" cy="1719072"/>
          </a:xfrm>
          <a:prstGeom prst="rect">
            <a:avLst/>
          </a:prstGeom>
          <a:no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Ayrıştırıcı</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D(x)</a:t>
            </a:r>
            <a:endParaRPr lang="en-US" sz="950" dirty="0"/>
          </a:p>
        </p:txBody>
      </p:sp>
      <p:sp>
        <p:nvSpPr>
          <p:cNvPr id="16" name="Shape 14"/>
          <p:cNvSpPr/>
          <p:nvPr/>
        </p:nvSpPr>
        <p:spPr>
          <a:xfrm>
            <a:off x="365760" y="2999232"/>
            <a:ext cx="1188720" cy="896112"/>
          </a:xfrm>
          <a:prstGeom prst="rect">
            <a:avLst/>
          </a:prstGeom>
          <a:solidFill>
            <a:srgbClr val="243B55"/>
          </a:solidFill>
          <a:ln w="12700">
            <a:solidFill>
              <a:srgbClr val="0891B2"/>
            </a:solidFill>
            <a:prstDash val="solid"/>
          </a:ln>
          <a:effectLst>
            <a:outerShdw blurRad="63500" dist="25400" dir="8100000" algn="bl" rotWithShape="0">
              <a:srgbClr val="000000">
                <a:alpha val="8000"/>
              </a:srgbClr>
            </a:outerShdw>
          </a:effectLst>
        </p:spPr>
        <p:txBody>
          <a:bodyPr/>
          <a:lstStyle/>
          <a:p>
            <a:endParaRPr lang="tr-TR"/>
          </a:p>
        </p:txBody>
      </p:sp>
      <p:sp>
        <p:nvSpPr>
          <p:cNvPr id="17" name="Text 15"/>
          <p:cNvSpPr/>
          <p:nvPr/>
        </p:nvSpPr>
        <p:spPr>
          <a:xfrm>
            <a:off x="365760" y="2999232"/>
            <a:ext cx="1188720" cy="896112"/>
          </a:xfrm>
          <a:prstGeom prst="rect">
            <a:avLst/>
          </a:prstGeom>
          <a:no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Gerçek</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Veri</a:t>
            </a:r>
            <a:endParaRPr lang="en-US" sz="950" dirty="0"/>
          </a:p>
        </p:txBody>
      </p:sp>
      <p:sp>
        <p:nvSpPr>
          <p:cNvPr id="18" name="Shape 16"/>
          <p:cNvSpPr/>
          <p:nvPr/>
        </p:nvSpPr>
        <p:spPr>
          <a:xfrm>
            <a:off x="6986016" y="2121408"/>
            <a:ext cx="1371600" cy="1005840"/>
          </a:xfrm>
          <a:prstGeom prst="rect">
            <a:avLst/>
          </a:prstGeom>
          <a:solidFill>
            <a:srgbClr val="059669"/>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tr-TR"/>
          </a:p>
        </p:txBody>
      </p:sp>
      <p:sp>
        <p:nvSpPr>
          <p:cNvPr id="19" name="Text 17"/>
          <p:cNvSpPr/>
          <p:nvPr/>
        </p:nvSpPr>
        <p:spPr>
          <a:xfrm>
            <a:off x="6986016" y="2121408"/>
            <a:ext cx="1371600" cy="1005840"/>
          </a:xfrm>
          <a:prstGeom prst="rect">
            <a:avLst/>
          </a:prstGeom>
          <a:no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Gerçek mi?</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1=Gerçek</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0=Sahte</a:t>
            </a:r>
            <a:endParaRPr lang="en-US" sz="950" dirty="0"/>
          </a:p>
        </p:txBody>
      </p:sp>
      <p:sp>
        <p:nvSpPr>
          <p:cNvPr id="20" name="Shape 18"/>
          <p:cNvSpPr/>
          <p:nvPr/>
        </p:nvSpPr>
        <p:spPr>
          <a:xfrm>
            <a:off x="1572768" y="2286000"/>
            <a:ext cx="347472" cy="36576"/>
          </a:xfrm>
          <a:prstGeom prst="rect">
            <a:avLst/>
          </a:prstGeom>
          <a:solidFill>
            <a:srgbClr val="94A3B8"/>
          </a:solidFill>
          <a:ln w="12700">
            <a:solidFill>
              <a:srgbClr val="94A3B8"/>
            </a:solidFill>
            <a:prstDash val="solid"/>
          </a:ln>
        </p:spPr>
        <p:txBody>
          <a:bodyPr/>
          <a:lstStyle/>
          <a:p>
            <a:endParaRPr lang="tr-TR"/>
          </a:p>
        </p:txBody>
      </p:sp>
      <p:sp>
        <p:nvSpPr>
          <p:cNvPr id="21" name="Shape 19"/>
          <p:cNvSpPr/>
          <p:nvPr/>
        </p:nvSpPr>
        <p:spPr>
          <a:xfrm>
            <a:off x="3236976" y="2286000"/>
            <a:ext cx="438912" cy="36576"/>
          </a:xfrm>
          <a:prstGeom prst="rect">
            <a:avLst/>
          </a:prstGeom>
          <a:solidFill>
            <a:srgbClr val="94A3B8"/>
          </a:solidFill>
          <a:ln w="12700">
            <a:solidFill>
              <a:srgbClr val="94A3B8"/>
            </a:solidFill>
            <a:prstDash val="solid"/>
          </a:ln>
        </p:spPr>
        <p:txBody>
          <a:bodyPr/>
          <a:lstStyle/>
          <a:p>
            <a:endParaRPr lang="tr-TR"/>
          </a:p>
        </p:txBody>
      </p:sp>
      <p:sp>
        <p:nvSpPr>
          <p:cNvPr id="22" name="Shape 20"/>
          <p:cNvSpPr/>
          <p:nvPr/>
        </p:nvSpPr>
        <p:spPr>
          <a:xfrm>
            <a:off x="4809744" y="2286000"/>
            <a:ext cx="402336" cy="36576"/>
          </a:xfrm>
          <a:prstGeom prst="rect">
            <a:avLst/>
          </a:prstGeom>
          <a:solidFill>
            <a:srgbClr val="94A3B8"/>
          </a:solidFill>
          <a:ln w="12700">
            <a:solidFill>
              <a:srgbClr val="94A3B8"/>
            </a:solidFill>
            <a:prstDash val="solid"/>
          </a:ln>
        </p:spPr>
        <p:txBody>
          <a:bodyPr/>
          <a:lstStyle/>
          <a:p>
            <a:endParaRPr lang="tr-TR"/>
          </a:p>
        </p:txBody>
      </p:sp>
      <p:sp>
        <p:nvSpPr>
          <p:cNvPr id="23" name="Shape 21"/>
          <p:cNvSpPr/>
          <p:nvPr/>
        </p:nvSpPr>
        <p:spPr>
          <a:xfrm>
            <a:off x="6620256" y="2606040"/>
            <a:ext cx="347472" cy="36576"/>
          </a:xfrm>
          <a:prstGeom prst="rect">
            <a:avLst/>
          </a:prstGeom>
          <a:solidFill>
            <a:srgbClr val="94A3B8"/>
          </a:solidFill>
          <a:ln w="12700">
            <a:solidFill>
              <a:srgbClr val="94A3B8"/>
            </a:solidFill>
            <a:prstDash val="solid"/>
          </a:ln>
        </p:spPr>
        <p:txBody>
          <a:bodyPr/>
          <a:lstStyle/>
          <a:p>
            <a:endParaRPr lang="tr-TR"/>
          </a:p>
        </p:txBody>
      </p:sp>
      <p:sp>
        <p:nvSpPr>
          <p:cNvPr id="24" name="Shape 22"/>
          <p:cNvSpPr/>
          <p:nvPr/>
        </p:nvSpPr>
        <p:spPr>
          <a:xfrm>
            <a:off x="1572768" y="3438144"/>
            <a:ext cx="3639312" cy="36576"/>
          </a:xfrm>
          <a:prstGeom prst="rect">
            <a:avLst/>
          </a:prstGeom>
          <a:solidFill>
            <a:srgbClr val="0891B2"/>
          </a:solidFill>
          <a:ln w="12700">
            <a:solidFill>
              <a:srgbClr val="0891B2"/>
            </a:solidFill>
            <a:prstDash val="solid"/>
          </a:ln>
        </p:spPr>
        <p:txBody>
          <a:bodyPr/>
          <a:lstStyle/>
          <a:p>
            <a:endParaRPr lang="tr-TR"/>
          </a:p>
        </p:txBody>
      </p:sp>
      <p:sp>
        <p:nvSpPr>
          <p:cNvPr id="25" name="Text 23"/>
          <p:cNvSpPr/>
          <p:nvPr/>
        </p:nvSpPr>
        <p:spPr>
          <a:xfrm>
            <a:off x="365760" y="4160520"/>
            <a:ext cx="8046720" cy="274320"/>
          </a:xfrm>
          <a:prstGeom prst="rect">
            <a:avLst/>
          </a:prstGeom>
          <a:noFill/>
          <a:ln/>
        </p:spPr>
        <p:txBody>
          <a:bodyPr wrap="square" lIns="0" tIns="0" rIns="0" bIns="0" rtlCol="0" anchor="ctr"/>
          <a:lstStyle/>
          <a:p>
            <a:pPr marL="0" indent="0">
              <a:buNone/>
            </a:pPr>
            <a:r>
              <a:rPr lang="en-US" sz="950" i="1" dirty="0">
                <a:solidFill>
                  <a:srgbClr val="94A3B8"/>
                </a:solidFill>
                <a:latin typeface="Calibri" pitchFamily="34" charset="0"/>
                <a:ea typeface="Calibri" pitchFamily="34" charset="-122"/>
                <a:cs typeface="Calibri" pitchFamily="34" charset="-120"/>
              </a:rPr>
              <a:t>Minimax oyun: G, D'yi kandırmaya çalışır. D, gerçeği sahteden ayırmayı öğrenir. Denge: G, p_data'yı öğrenir → D 0.5 tahmin yapar.</a:t>
            </a:r>
            <a:endParaRPr lang="en-US" sz="950" dirty="0"/>
          </a:p>
        </p:txBody>
      </p:sp>
      <p:sp>
        <p:nvSpPr>
          <p:cNvPr id="26" name="Shape 24"/>
          <p:cNvSpPr/>
          <p:nvPr/>
        </p:nvSpPr>
        <p:spPr>
          <a:xfrm>
            <a:off x="365760" y="4498848"/>
            <a:ext cx="2651760" cy="621792"/>
          </a:xfrm>
          <a:prstGeom prst="rect">
            <a:avLst/>
          </a:prstGeom>
          <a:solidFill>
            <a:srgbClr val="243B55"/>
          </a:solidFill>
          <a:ln w="12700">
            <a:solidFill>
              <a:srgbClr val="243B55"/>
            </a:solidFill>
            <a:prstDash val="solid"/>
          </a:ln>
          <a:effectLst>
            <a:outerShdw blurRad="63500" dist="25400" dir="8100000" algn="bl" rotWithShape="0">
              <a:srgbClr val="000000">
                <a:alpha val="8000"/>
              </a:srgbClr>
            </a:outerShdw>
          </a:effectLst>
        </p:spPr>
        <p:txBody>
          <a:bodyPr/>
          <a:lstStyle/>
          <a:p>
            <a:endParaRPr lang="tr-TR"/>
          </a:p>
        </p:txBody>
      </p:sp>
      <p:sp>
        <p:nvSpPr>
          <p:cNvPr id="27" name="Shape 25"/>
          <p:cNvSpPr/>
          <p:nvPr/>
        </p:nvSpPr>
        <p:spPr>
          <a:xfrm>
            <a:off x="365760" y="4498848"/>
            <a:ext cx="64008" cy="621792"/>
          </a:xfrm>
          <a:prstGeom prst="rect">
            <a:avLst/>
          </a:prstGeom>
          <a:solidFill>
            <a:srgbClr val="0891B2"/>
          </a:solidFill>
          <a:ln w="12700">
            <a:solidFill>
              <a:srgbClr val="0891B2"/>
            </a:solidFill>
            <a:prstDash val="solid"/>
          </a:ln>
        </p:spPr>
        <p:txBody>
          <a:bodyPr/>
          <a:lstStyle/>
          <a:p>
            <a:endParaRPr lang="tr-TR"/>
          </a:p>
        </p:txBody>
      </p:sp>
      <p:sp>
        <p:nvSpPr>
          <p:cNvPr id="28" name="Text 26"/>
          <p:cNvSpPr/>
          <p:nvPr/>
        </p:nvSpPr>
        <p:spPr>
          <a:xfrm>
            <a:off x="493776" y="4581144"/>
            <a:ext cx="2450592" cy="27432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Derin Pekiştirmeli Öğrenme</a:t>
            </a:r>
            <a:endParaRPr lang="en-US" sz="1100" dirty="0"/>
          </a:p>
        </p:txBody>
      </p:sp>
      <p:sp>
        <p:nvSpPr>
          <p:cNvPr id="29" name="Text 27"/>
          <p:cNvSpPr/>
          <p:nvPr/>
        </p:nvSpPr>
        <p:spPr>
          <a:xfrm>
            <a:off x="493776" y="4901184"/>
            <a:ext cx="2450592" cy="109728"/>
          </a:xfrm>
          <a:prstGeom prst="rect">
            <a:avLst/>
          </a:prstGeom>
          <a:noFill/>
          <a:ln/>
        </p:spPr>
        <p:txBody>
          <a:bodyPr wrap="square" lIns="0" tIns="0" rIns="0" bIns="0" rtlCol="0" anchor="ctr"/>
          <a:lstStyle/>
          <a:p>
            <a:pPr marL="0" indent="0">
              <a:buNone/>
            </a:pPr>
            <a:r>
              <a:rPr lang="en-US" sz="950" dirty="0">
                <a:solidFill>
                  <a:srgbClr val="F1F5F9"/>
                </a:solidFill>
                <a:latin typeface="Calibri" pitchFamily="34" charset="0"/>
                <a:ea typeface="Calibri" pitchFamily="34" charset="-122"/>
                <a:cs typeface="Calibri" pitchFamily="34" charset="-120"/>
              </a:rPr>
              <a:t>DÖ + RL. DQN ile Atari'de insan üstü. PPO, A3C algoritmaları. Robotik, oyunlar, sağlık. (Mnih et al., 2015 Nature)</a:t>
            </a:r>
            <a:endParaRPr lang="en-US" sz="950" dirty="0"/>
          </a:p>
        </p:txBody>
      </p:sp>
      <p:sp>
        <p:nvSpPr>
          <p:cNvPr id="30" name="Shape 28"/>
          <p:cNvSpPr/>
          <p:nvPr/>
        </p:nvSpPr>
        <p:spPr>
          <a:xfrm>
            <a:off x="3200400" y="4498848"/>
            <a:ext cx="2651760" cy="621792"/>
          </a:xfrm>
          <a:prstGeom prst="rect">
            <a:avLst/>
          </a:prstGeom>
          <a:solidFill>
            <a:srgbClr val="243B55"/>
          </a:solidFill>
          <a:ln w="12700">
            <a:solidFill>
              <a:srgbClr val="243B55"/>
            </a:solidFill>
            <a:prstDash val="solid"/>
          </a:ln>
          <a:effectLst>
            <a:outerShdw blurRad="63500" dist="25400" dir="8100000" algn="bl" rotWithShape="0">
              <a:srgbClr val="000000">
                <a:alpha val="8000"/>
              </a:srgbClr>
            </a:outerShdw>
          </a:effectLst>
        </p:spPr>
        <p:txBody>
          <a:bodyPr/>
          <a:lstStyle/>
          <a:p>
            <a:endParaRPr lang="tr-TR"/>
          </a:p>
        </p:txBody>
      </p:sp>
      <p:sp>
        <p:nvSpPr>
          <p:cNvPr id="31" name="Shape 29"/>
          <p:cNvSpPr/>
          <p:nvPr/>
        </p:nvSpPr>
        <p:spPr>
          <a:xfrm>
            <a:off x="3200400" y="4498848"/>
            <a:ext cx="64008" cy="621792"/>
          </a:xfrm>
          <a:prstGeom prst="rect">
            <a:avLst/>
          </a:prstGeom>
          <a:solidFill>
            <a:srgbClr val="7C3AED"/>
          </a:solidFill>
          <a:ln w="12700">
            <a:solidFill>
              <a:srgbClr val="7C3AED"/>
            </a:solidFill>
            <a:prstDash val="solid"/>
          </a:ln>
        </p:spPr>
        <p:txBody>
          <a:bodyPr/>
          <a:lstStyle/>
          <a:p>
            <a:endParaRPr lang="tr-TR"/>
          </a:p>
        </p:txBody>
      </p:sp>
      <p:sp>
        <p:nvSpPr>
          <p:cNvPr id="32" name="Text 30"/>
          <p:cNvSpPr/>
          <p:nvPr/>
        </p:nvSpPr>
        <p:spPr>
          <a:xfrm>
            <a:off x="3328416" y="4581144"/>
            <a:ext cx="2450592" cy="27432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Graf CNN (GCN)</a:t>
            </a:r>
            <a:endParaRPr lang="en-US" sz="1100" dirty="0"/>
          </a:p>
        </p:txBody>
      </p:sp>
      <p:sp>
        <p:nvSpPr>
          <p:cNvPr id="33" name="Text 31"/>
          <p:cNvSpPr/>
          <p:nvPr/>
        </p:nvSpPr>
        <p:spPr>
          <a:xfrm>
            <a:off x="3328416" y="4901184"/>
            <a:ext cx="2450592" cy="109728"/>
          </a:xfrm>
          <a:prstGeom prst="rect">
            <a:avLst/>
          </a:prstGeom>
          <a:noFill/>
          <a:ln/>
        </p:spPr>
        <p:txBody>
          <a:bodyPr wrap="square" lIns="0" tIns="0" rIns="0" bIns="0" rtlCol="0" anchor="ctr"/>
          <a:lstStyle/>
          <a:p>
            <a:pPr marL="0" indent="0">
              <a:buNone/>
            </a:pPr>
            <a:r>
              <a:rPr lang="en-US" sz="950" dirty="0">
                <a:solidFill>
                  <a:srgbClr val="F1F5F9"/>
                </a:solidFill>
                <a:latin typeface="Calibri" pitchFamily="34" charset="0"/>
                <a:ea typeface="Calibri" pitchFamily="34" charset="-122"/>
                <a:cs typeface="Calibri" pitchFamily="34" charset="-120"/>
              </a:rPr>
              <a:t>Graf yapılı veriler üzerinde CNN. Komşuluk aggregation. Kimya, NLP, sosyal ağ. (Wu et al., 2019 IEEE TNNLS)</a:t>
            </a:r>
            <a:endParaRPr lang="en-US" sz="950" dirty="0"/>
          </a:p>
        </p:txBody>
      </p:sp>
      <p:sp>
        <p:nvSpPr>
          <p:cNvPr id="34" name="Shape 32"/>
          <p:cNvSpPr/>
          <p:nvPr/>
        </p:nvSpPr>
        <p:spPr>
          <a:xfrm>
            <a:off x="6035040" y="4498848"/>
            <a:ext cx="2651760" cy="621792"/>
          </a:xfrm>
          <a:prstGeom prst="rect">
            <a:avLst/>
          </a:prstGeom>
          <a:solidFill>
            <a:srgbClr val="243B55"/>
          </a:solidFill>
          <a:ln w="12700">
            <a:solidFill>
              <a:srgbClr val="243B55"/>
            </a:solidFill>
            <a:prstDash val="solid"/>
          </a:ln>
          <a:effectLst>
            <a:outerShdw blurRad="63500" dist="25400" dir="8100000" algn="bl" rotWithShape="0">
              <a:srgbClr val="000000">
                <a:alpha val="8000"/>
              </a:srgbClr>
            </a:outerShdw>
          </a:effectLst>
        </p:spPr>
        <p:txBody>
          <a:bodyPr/>
          <a:lstStyle/>
          <a:p>
            <a:endParaRPr lang="tr-TR"/>
          </a:p>
        </p:txBody>
      </p:sp>
      <p:sp>
        <p:nvSpPr>
          <p:cNvPr id="35" name="Shape 33"/>
          <p:cNvSpPr/>
          <p:nvPr/>
        </p:nvSpPr>
        <p:spPr>
          <a:xfrm>
            <a:off x="6035040" y="4498848"/>
            <a:ext cx="64008" cy="621792"/>
          </a:xfrm>
          <a:prstGeom prst="rect">
            <a:avLst/>
          </a:prstGeom>
          <a:solidFill>
            <a:srgbClr val="D97706"/>
          </a:solidFill>
          <a:ln w="12700">
            <a:solidFill>
              <a:srgbClr val="D97706"/>
            </a:solidFill>
            <a:prstDash val="solid"/>
          </a:ln>
        </p:spPr>
        <p:txBody>
          <a:bodyPr/>
          <a:lstStyle/>
          <a:p>
            <a:endParaRPr lang="tr-TR"/>
          </a:p>
        </p:txBody>
      </p:sp>
      <p:sp>
        <p:nvSpPr>
          <p:cNvPr id="36" name="Text 34"/>
          <p:cNvSpPr/>
          <p:nvPr/>
        </p:nvSpPr>
        <p:spPr>
          <a:xfrm>
            <a:off x="6163056" y="4581144"/>
            <a:ext cx="2450592" cy="274320"/>
          </a:xfrm>
          <a:prstGeom prst="rect">
            <a:avLst/>
          </a:prstGeom>
          <a:noFill/>
          <a:ln/>
        </p:spPr>
        <p:txBody>
          <a:bodyPr wrap="square" lIns="0" tIns="0" rIns="0" bIns="0" rtlCol="0" anchor="ctr"/>
          <a:lstStyle/>
          <a:p>
            <a:pPr marL="0" indent="0">
              <a:buNone/>
            </a:pPr>
            <a:r>
              <a:rPr lang="en-US" sz="1100" b="1" dirty="0">
                <a:solidFill>
                  <a:srgbClr val="06B6D4"/>
                </a:solidFill>
                <a:latin typeface="Calibri" pitchFamily="34" charset="0"/>
                <a:ea typeface="Calibri" pitchFamily="34" charset="-122"/>
                <a:cs typeface="Calibri" pitchFamily="34" charset="-120"/>
              </a:rPr>
              <a:t>Değişimsel AE (VAE)</a:t>
            </a:r>
            <a:endParaRPr lang="en-US" sz="1100" dirty="0"/>
          </a:p>
        </p:txBody>
      </p:sp>
      <p:sp>
        <p:nvSpPr>
          <p:cNvPr id="37" name="Text 35"/>
          <p:cNvSpPr/>
          <p:nvPr/>
        </p:nvSpPr>
        <p:spPr>
          <a:xfrm>
            <a:off x="6163056" y="4901184"/>
            <a:ext cx="2450592" cy="109728"/>
          </a:xfrm>
          <a:prstGeom prst="rect">
            <a:avLst/>
          </a:prstGeom>
          <a:noFill/>
          <a:ln/>
        </p:spPr>
        <p:txBody>
          <a:bodyPr wrap="square" lIns="0" tIns="0" rIns="0" bIns="0" rtlCol="0" anchor="ctr"/>
          <a:lstStyle/>
          <a:p>
            <a:pPr marL="0" indent="0">
              <a:buNone/>
            </a:pPr>
            <a:r>
              <a:rPr lang="en-US" sz="950" dirty="0">
                <a:solidFill>
                  <a:srgbClr val="F1F5F9"/>
                </a:solidFill>
                <a:latin typeface="Calibri" pitchFamily="34" charset="0"/>
                <a:ea typeface="Calibri" pitchFamily="34" charset="-122"/>
                <a:cs typeface="Calibri" pitchFamily="34" charset="-120"/>
              </a:rPr>
              <a:t>Olasılıksal AE. KL diverjansı ile düzenlileştirme. Görüntü/metin üretimi. (Kingma &amp; Welling, 2014 ICLR)</a:t>
            </a:r>
            <a:endParaRPr lang="en-US" sz="950" dirty="0"/>
          </a:p>
        </p:txBody>
      </p:sp>
      <p:sp>
        <p:nvSpPr>
          <p:cNvPr id="38" name="Text 36"/>
          <p:cNvSpPr/>
          <p:nvPr/>
        </p:nvSpPr>
        <p:spPr>
          <a:xfrm>
            <a:off x="365760" y="5166360"/>
            <a:ext cx="8412480" cy="164592"/>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Kaynak: Goodfellow et al. (2014) NIPS; Mnih et al. (2015) Nature 518; Wu et al. (2019); Doersch (2016) VAE Tutorial</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1B2F4A"/>
          </a:solidFill>
          <a:ln w="12700">
            <a:solidFill>
              <a:srgbClr val="1B2F4A"/>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18 — YAZILIM</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Derin Öğrenme Yazılım Ekosistemi</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115568"/>
            <a:ext cx="2624328" cy="1700784"/>
          </a:xfrm>
          <a:prstGeom prst="rect">
            <a:avLst/>
          </a:prstGeom>
          <a:solidFill>
            <a:srgbClr val="FFFFFF"/>
          </a:solidFill>
          <a:ln w="12700">
            <a:solidFill>
              <a:srgbClr val="EF4444"/>
            </a:solidFill>
            <a:prstDash val="solid"/>
          </a:ln>
          <a:effectLst>
            <a:outerShdw blurRad="127000" dist="50800" dir="8100000" algn="bl" rotWithShape="0">
              <a:srgbClr val="000000">
                <a:alpha val="12000"/>
              </a:srgbClr>
            </a:outerShdw>
          </a:effectLst>
        </p:spPr>
        <p:txBody>
          <a:bodyPr/>
          <a:lstStyle/>
          <a:p>
            <a:endParaRPr lang="tr-TR"/>
          </a:p>
        </p:txBody>
      </p:sp>
      <p:sp>
        <p:nvSpPr>
          <p:cNvPr id="7" name="Shape 5"/>
          <p:cNvSpPr/>
          <p:nvPr/>
        </p:nvSpPr>
        <p:spPr>
          <a:xfrm>
            <a:off x="365760" y="1115568"/>
            <a:ext cx="2624328" cy="402336"/>
          </a:xfrm>
          <a:prstGeom prst="rect">
            <a:avLst/>
          </a:prstGeom>
          <a:solidFill>
            <a:srgbClr val="EF4444"/>
          </a:solidFill>
          <a:ln w="12700">
            <a:solidFill>
              <a:srgbClr val="EF4444"/>
            </a:solidFill>
            <a:prstDash val="solid"/>
          </a:ln>
        </p:spPr>
        <p:txBody>
          <a:bodyPr/>
          <a:lstStyle/>
          <a:p>
            <a:endParaRPr lang="tr-TR"/>
          </a:p>
        </p:txBody>
      </p:sp>
      <p:sp>
        <p:nvSpPr>
          <p:cNvPr id="8" name="Text 6"/>
          <p:cNvSpPr/>
          <p:nvPr/>
        </p:nvSpPr>
        <p:spPr>
          <a:xfrm>
            <a:off x="457200" y="1115568"/>
            <a:ext cx="182880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TensorFlow</a:t>
            </a:r>
            <a:endParaRPr lang="en-US" sz="1300" dirty="0"/>
          </a:p>
        </p:txBody>
      </p:sp>
      <p:sp>
        <p:nvSpPr>
          <p:cNvPr id="9" name="Shape 7"/>
          <p:cNvSpPr/>
          <p:nvPr/>
        </p:nvSpPr>
        <p:spPr>
          <a:xfrm>
            <a:off x="2359152" y="1197864"/>
            <a:ext cx="548640" cy="237744"/>
          </a:xfrm>
          <a:prstGeom prst="rect">
            <a:avLst/>
          </a:prstGeom>
          <a:solidFill>
            <a:srgbClr val="FFFFFF">
              <a:alpha val="70000"/>
            </a:srgbClr>
          </a:solidFill>
          <a:ln w="12700">
            <a:solidFill>
              <a:srgbClr val="FFFFFF"/>
            </a:solidFill>
            <a:prstDash val="solid"/>
          </a:ln>
        </p:spPr>
        <p:txBody>
          <a:bodyPr/>
          <a:lstStyle/>
          <a:p>
            <a:endParaRPr lang="tr-TR"/>
          </a:p>
        </p:txBody>
      </p:sp>
      <p:sp>
        <p:nvSpPr>
          <p:cNvPr id="10" name="Text 8"/>
          <p:cNvSpPr/>
          <p:nvPr/>
        </p:nvSpPr>
        <p:spPr>
          <a:xfrm>
            <a:off x="2359152" y="1197864"/>
            <a:ext cx="548640" cy="237744"/>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R &amp; Python</a:t>
            </a:r>
            <a:endParaRPr lang="en-US" sz="750" dirty="0"/>
          </a:p>
        </p:txBody>
      </p:sp>
      <p:sp>
        <p:nvSpPr>
          <p:cNvPr id="11" name="Text 9"/>
          <p:cNvSpPr/>
          <p:nvPr/>
        </p:nvSpPr>
        <p:spPr>
          <a:xfrm>
            <a:off x="457200" y="1572768"/>
            <a:ext cx="2441448" cy="201168"/>
          </a:xfrm>
          <a:prstGeom prst="rect">
            <a:avLst/>
          </a:prstGeom>
          <a:noFill/>
          <a:ln/>
        </p:spPr>
        <p:txBody>
          <a:bodyPr wrap="square" lIns="0" tIns="0" rIns="0" bIns="0" rtlCol="0" anchor="ctr"/>
          <a:lstStyle/>
          <a:p>
            <a:pPr marL="0" indent="0">
              <a:buNone/>
            </a:pPr>
            <a:r>
              <a:rPr lang="en-US" sz="850" b="1" dirty="0">
                <a:solidFill>
                  <a:srgbClr val="EF4444"/>
                </a:solidFill>
                <a:latin typeface="Calibri" pitchFamily="34" charset="0"/>
                <a:ea typeface="Calibri" pitchFamily="34" charset="-122"/>
                <a:cs typeface="Calibri" pitchFamily="34" charset="-120"/>
              </a:rPr>
              <a:t>Modeller: CNN, DBN, LSTM, MLP</a:t>
            </a:r>
            <a:endParaRPr lang="en-US" sz="850" dirty="0"/>
          </a:p>
        </p:txBody>
      </p:sp>
      <p:sp>
        <p:nvSpPr>
          <p:cNvPr id="12" name="Text 10"/>
          <p:cNvSpPr/>
          <p:nvPr/>
        </p:nvSpPr>
        <p:spPr>
          <a:xfrm>
            <a:off x="457200" y="1792224"/>
            <a:ext cx="2441448" cy="89611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Google (2015). Hesap grafı yaklaşımı. Keras yüksek seviyeli API'si entegre. Üretim ortamları için tercih. TFLite mobil deploy.</a:t>
            </a:r>
            <a:endParaRPr lang="en-US" sz="900" dirty="0"/>
          </a:p>
        </p:txBody>
      </p:sp>
      <p:sp>
        <p:nvSpPr>
          <p:cNvPr id="13" name="Shape 11"/>
          <p:cNvSpPr/>
          <p:nvPr/>
        </p:nvSpPr>
        <p:spPr>
          <a:xfrm>
            <a:off x="3172968" y="1115568"/>
            <a:ext cx="2624328" cy="1700784"/>
          </a:xfrm>
          <a:prstGeom prst="rect">
            <a:avLst/>
          </a:prstGeom>
          <a:solidFill>
            <a:srgbClr val="FFFFFF"/>
          </a:solidFill>
          <a:ln w="12700">
            <a:solidFill>
              <a:srgbClr val="D97706"/>
            </a:solidFill>
            <a:prstDash val="solid"/>
          </a:ln>
          <a:effectLst>
            <a:outerShdw blurRad="127000" dist="50800" dir="8100000" algn="bl" rotWithShape="0">
              <a:srgbClr val="000000">
                <a:alpha val="12000"/>
              </a:srgbClr>
            </a:outerShdw>
          </a:effectLst>
        </p:spPr>
        <p:txBody>
          <a:bodyPr/>
          <a:lstStyle/>
          <a:p>
            <a:endParaRPr lang="tr-TR"/>
          </a:p>
        </p:txBody>
      </p:sp>
      <p:sp>
        <p:nvSpPr>
          <p:cNvPr id="14" name="Shape 12"/>
          <p:cNvSpPr/>
          <p:nvPr/>
        </p:nvSpPr>
        <p:spPr>
          <a:xfrm>
            <a:off x="3172968" y="1115568"/>
            <a:ext cx="2624328" cy="402336"/>
          </a:xfrm>
          <a:prstGeom prst="rect">
            <a:avLst/>
          </a:prstGeom>
          <a:solidFill>
            <a:srgbClr val="D97706"/>
          </a:solidFill>
          <a:ln w="12700">
            <a:solidFill>
              <a:srgbClr val="D97706"/>
            </a:solidFill>
            <a:prstDash val="solid"/>
          </a:ln>
        </p:spPr>
        <p:txBody>
          <a:bodyPr/>
          <a:lstStyle/>
          <a:p>
            <a:endParaRPr lang="tr-TR"/>
          </a:p>
        </p:txBody>
      </p:sp>
      <p:sp>
        <p:nvSpPr>
          <p:cNvPr id="15" name="Text 13"/>
          <p:cNvSpPr/>
          <p:nvPr/>
        </p:nvSpPr>
        <p:spPr>
          <a:xfrm>
            <a:off x="3264408" y="1115568"/>
            <a:ext cx="182880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Keras</a:t>
            </a:r>
            <a:endParaRPr lang="en-US" sz="1300" dirty="0"/>
          </a:p>
        </p:txBody>
      </p:sp>
      <p:sp>
        <p:nvSpPr>
          <p:cNvPr id="16" name="Shape 14"/>
          <p:cNvSpPr/>
          <p:nvPr/>
        </p:nvSpPr>
        <p:spPr>
          <a:xfrm>
            <a:off x="5166360" y="1197864"/>
            <a:ext cx="548640" cy="237744"/>
          </a:xfrm>
          <a:prstGeom prst="rect">
            <a:avLst/>
          </a:prstGeom>
          <a:solidFill>
            <a:srgbClr val="FFFFFF">
              <a:alpha val="70000"/>
            </a:srgbClr>
          </a:solidFill>
          <a:ln w="12700">
            <a:solidFill>
              <a:srgbClr val="FFFFFF"/>
            </a:solidFill>
            <a:prstDash val="solid"/>
          </a:ln>
        </p:spPr>
        <p:txBody>
          <a:bodyPr/>
          <a:lstStyle/>
          <a:p>
            <a:endParaRPr lang="tr-TR"/>
          </a:p>
        </p:txBody>
      </p:sp>
      <p:sp>
        <p:nvSpPr>
          <p:cNvPr id="17" name="Text 15"/>
          <p:cNvSpPr/>
          <p:nvPr/>
        </p:nvSpPr>
        <p:spPr>
          <a:xfrm>
            <a:off x="5166360" y="1197864"/>
            <a:ext cx="548640" cy="237744"/>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R &amp; Python</a:t>
            </a:r>
            <a:endParaRPr lang="en-US" sz="750" dirty="0"/>
          </a:p>
        </p:txBody>
      </p:sp>
      <p:sp>
        <p:nvSpPr>
          <p:cNvPr id="18" name="Text 16"/>
          <p:cNvSpPr/>
          <p:nvPr/>
        </p:nvSpPr>
        <p:spPr>
          <a:xfrm>
            <a:off x="3264408" y="1572768"/>
            <a:ext cx="2441448" cy="201168"/>
          </a:xfrm>
          <a:prstGeom prst="rect">
            <a:avLst/>
          </a:prstGeom>
          <a:noFill/>
          <a:ln/>
        </p:spPr>
        <p:txBody>
          <a:bodyPr wrap="square" lIns="0" tIns="0" rIns="0" bIns="0" rtlCol="0" anchor="ctr"/>
          <a:lstStyle/>
          <a:p>
            <a:pPr marL="0" indent="0">
              <a:buNone/>
            </a:pPr>
            <a:r>
              <a:rPr lang="en-US" sz="850" b="1" dirty="0">
                <a:solidFill>
                  <a:srgbClr val="D97706"/>
                </a:solidFill>
                <a:latin typeface="Calibri" pitchFamily="34" charset="0"/>
                <a:ea typeface="Calibri" pitchFamily="34" charset="-122"/>
                <a:cs typeface="Calibri" pitchFamily="34" charset="-120"/>
              </a:rPr>
              <a:t>Modeller: Tüm modeller</a:t>
            </a:r>
            <a:endParaRPr lang="en-US" sz="850" dirty="0"/>
          </a:p>
        </p:txBody>
      </p:sp>
      <p:sp>
        <p:nvSpPr>
          <p:cNvPr id="19" name="Text 17"/>
          <p:cNvSpPr/>
          <p:nvPr/>
        </p:nvSpPr>
        <p:spPr>
          <a:xfrm>
            <a:off x="3264408" y="1792224"/>
            <a:ext cx="2441448" cy="89611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TensorFlow üzerinde sezgisel API. model.fit() ile hızlı prototipleme. Keras 3.0 ile backend-agnostik (TF, JAX, PyTorch).</a:t>
            </a:r>
            <a:endParaRPr lang="en-US" sz="900" dirty="0"/>
          </a:p>
        </p:txBody>
      </p:sp>
      <p:sp>
        <p:nvSpPr>
          <p:cNvPr id="20" name="Shape 18"/>
          <p:cNvSpPr/>
          <p:nvPr/>
        </p:nvSpPr>
        <p:spPr>
          <a:xfrm>
            <a:off x="5980176" y="1115568"/>
            <a:ext cx="2624328" cy="1700784"/>
          </a:xfrm>
          <a:prstGeom prst="rect">
            <a:avLst/>
          </a:prstGeom>
          <a:solidFill>
            <a:srgbClr val="FFFFFF"/>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21" name="Shape 19"/>
          <p:cNvSpPr/>
          <p:nvPr/>
        </p:nvSpPr>
        <p:spPr>
          <a:xfrm>
            <a:off x="5980176" y="1115568"/>
            <a:ext cx="2624328" cy="402336"/>
          </a:xfrm>
          <a:prstGeom prst="rect">
            <a:avLst/>
          </a:prstGeom>
          <a:solidFill>
            <a:srgbClr val="0891B2"/>
          </a:solidFill>
          <a:ln w="12700">
            <a:solidFill>
              <a:srgbClr val="0891B2"/>
            </a:solidFill>
            <a:prstDash val="solid"/>
          </a:ln>
        </p:spPr>
        <p:txBody>
          <a:bodyPr/>
          <a:lstStyle/>
          <a:p>
            <a:endParaRPr lang="tr-TR"/>
          </a:p>
        </p:txBody>
      </p:sp>
      <p:sp>
        <p:nvSpPr>
          <p:cNvPr id="22" name="Text 20"/>
          <p:cNvSpPr/>
          <p:nvPr/>
        </p:nvSpPr>
        <p:spPr>
          <a:xfrm>
            <a:off x="6071616" y="1115568"/>
            <a:ext cx="182880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PyTorch</a:t>
            </a:r>
            <a:endParaRPr lang="en-US" sz="1300" dirty="0"/>
          </a:p>
        </p:txBody>
      </p:sp>
      <p:sp>
        <p:nvSpPr>
          <p:cNvPr id="23" name="Shape 21"/>
          <p:cNvSpPr/>
          <p:nvPr/>
        </p:nvSpPr>
        <p:spPr>
          <a:xfrm>
            <a:off x="7973568" y="1197864"/>
            <a:ext cx="548640" cy="237744"/>
          </a:xfrm>
          <a:prstGeom prst="rect">
            <a:avLst/>
          </a:prstGeom>
          <a:solidFill>
            <a:srgbClr val="FFFFFF">
              <a:alpha val="70000"/>
            </a:srgbClr>
          </a:solidFill>
          <a:ln w="12700">
            <a:solidFill>
              <a:srgbClr val="FFFFFF"/>
            </a:solidFill>
            <a:prstDash val="solid"/>
          </a:ln>
        </p:spPr>
        <p:txBody>
          <a:bodyPr/>
          <a:lstStyle/>
          <a:p>
            <a:endParaRPr lang="tr-TR"/>
          </a:p>
        </p:txBody>
      </p:sp>
      <p:sp>
        <p:nvSpPr>
          <p:cNvPr id="24" name="Text 22"/>
          <p:cNvSpPr/>
          <p:nvPr/>
        </p:nvSpPr>
        <p:spPr>
          <a:xfrm>
            <a:off x="7973568" y="1197864"/>
            <a:ext cx="548640" cy="237744"/>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Python</a:t>
            </a:r>
            <a:endParaRPr lang="en-US" sz="750" dirty="0"/>
          </a:p>
        </p:txBody>
      </p:sp>
      <p:sp>
        <p:nvSpPr>
          <p:cNvPr id="25" name="Text 23"/>
          <p:cNvSpPr/>
          <p:nvPr/>
        </p:nvSpPr>
        <p:spPr>
          <a:xfrm>
            <a:off x="6071616" y="1572768"/>
            <a:ext cx="2441448" cy="201168"/>
          </a:xfrm>
          <a:prstGeom prst="rect">
            <a:avLst/>
          </a:prstGeom>
          <a:noFill/>
          <a:ln/>
        </p:spPr>
        <p:txBody>
          <a:bodyPr wrap="square" lIns="0" tIns="0" rIns="0" bIns="0" rtlCol="0" anchor="ctr"/>
          <a:lstStyle/>
          <a:p>
            <a:pPr marL="0" indent="0">
              <a:buNone/>
            </a:pPr>
            <a:r>
              <a:rPr lang="en-US" sz="850" b="1" dirty="0">
                <a:solidFill>
                  <a:srgbClr val="0891B2"/>
                </a:solidFill>
                <a:latin typeface="Calibri" pitchFamily="34" charset="0"/>
                <a:ea typeface="Calibri" pitchFamily="34" charset="-122"/>
                <a:cs typeface="Calibri" pitchFamily="34" charset="-120"/>
              </a:rPr>
              <a:t>Modeller: Tüm modeller</a:t>
            </a:r>
            <a:endParaRPr lang="en-US" sz="850" dirty="0"/>
          </a:p>
        </p:txBody>
      </p:sp>
      <p:sp>
        <p:nvSpPr>
          <p:cNvPr id="26" name="Text 24"/>
          <p:cNvSpPr/>
          <p:nvPr/>
        </p:nvSpPr>
        <p:spPr>
          <a:xfrm>
            <a:off x="6071616" y="1792224"/>
            <a:ext cx="2441448" cy="89611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Facebook AI (2016). Dinamik hesap grafı → debug kolaylığı. Araştırmada standart. TorchScript üretim için.</a:t>
            </a:r>
            <a:endParaRPr lang="en-US" sz="900" dirty="0"/>
          </a:p>
        </p:txBody>
      </p:sp>
      <p:sp>
        <p:nvSpPr>
          <p:cNvPr id="27" name="Shape 25"/>
          <p:cNvSpPr/>
          <p:nvPr/>
        </p:nvSpPr>
        <p:spPr>
          <a:xfrm>
            <a:off x="365760" y="2962656"/>
            <a:ext cx="2624328" cy="1700784"/>
          </a:xfrm>
          <a:prstGeom prst="rect">
            <a:avLst/>
          </a:prstGeom>
          <a:solidFill>
            <a:srgbClr val="FFFFFF"/>
          </a:solidFill>
          <a:ln w="12700">
            <a:solidFill>
              <a:srgbClr val="7C3AED"/>
            </a:solidFill>
            <a:prstDash val="solid"/>
          </a:ln>
          <a:effectLst>
            <a:outerShdw blurRad="127000" dist="50800" dir="8100000" algn="bl" rotWithShape="0">
              <a:srgbClr val="000000">
                <a:alpha val="12000"/>
              </a:srgbClr>
            </a:outerShdw>
          </a:effectLst>
        </p:spPr>
        <p:txBody>
          <a:bodyPr/>
          <a:lstStyle/>
          <a:p>
            <a:endParaRPr lang="tr-TR"/>
          </a:p>
        </p:txBody>
      </p:sp>
      <p:sp>
        <p:nvSpPr>
          <p:cNvPr id="28" name="Shape 26"/>
          <p:cNvSpPr/>
          <p:nvPr/>
        </p:nvSpPr>
        <p:spPr>
          <a:xfrm>
            <a:off x="365760" y="2962656"/>
            <a:ext cx="2624328" cy="402336"/>
          </a:xfrm>
          <a:prstGeom prst="rect">
            <a:avLst/>
          </a:prstGeom>
          <a:solidFill>
            <a:srgbClr val="7C3AED"/>
          </a:solidFill>
          <a:ln w="12700">
            <a:solidFill>
              <a:srgbClr val="7C3AED"/>
            </a:solidFill>
            <a:prstDash val="solid"/>
          </a:ln>
        </p:spPr>
        <p:txBody>
          <a:bodyPr/>
          <a:lstStyle/>
          <a:p>
            <a:endParaRPr lang="tr-TR"/>
          </a:p>
        </p:txBody>
      </p:sp>
      <p:sp>
        <p:nvSpPr>
          <p:cNvPr id="29" name="Text 27"/>
          <p:cNvSpPr/>
          <p:nvPr/>
        </p:nvSpPr>
        <p:spPr>
          <a:xfrm>
            <a:off x="457200" y="2962656"/>
            <a:ext cx="182880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MXNet</a:t>
            </a:r>
            <a:endParaRPr lang="en-US" sz="1300" dirty="0"/>
          </a:p>
        </p:txBody>
      </p:sp>
      <p:sp>
        <p:nvSpPr>
          <p:cNvPr id="30" name="Shape 28"/>
          <p:cNvSpPr/>
          <p:nvPr/>
        </p:nvSpPr>
        <p:spPr>
          <a:xfrm>
            <a:off x="2359152" y="3044952"/>
            <a:ext cx="548640" cy="237744"/>
          </a:xfrm>
          <a:prstGeom prst="rect">
            <a:avLst/>
          </a:prstGeom>
          <a:solidFill>
            <a:srgbClr val="FFFFFF">
              <a:alpha val="70000"/>
            </a:srgbClr>
          </a:solidFill>
          <a:ln w="12700">
            <a:solidFill>
              <a:srgbClr val="FFFFFF"/>
            </a:solidFill>
            <a:prstDash val="solid"/>
          </a:ln>
        </p:spPr>
        <p:txBody>
          <a:bodyPr/>
          <a:lstStyle/>
          <a:p>
            <a:endParaRPr lang="tr-TR"/>
          </a:p>
        </p:txBody>
      </p:sp>
      <p:sp>
        <p:nvSpPr>
          <p:cNvPr id="31" name="Text 29"/>
          <p:cNvSpPr/>
          <p:nvPr/>
        </p:nvSpPr>
        <p:spPr>
          <a:xfrm>
            <a:off x="2359152" y="3044952"/>
            <a:ext cx="548640" cy="237744"/>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R &amp; Python</a:t>
            </a:r>
            <a:endParaRPr lang="en-US" sz="750" dirty="0"/>
          </a:p>
        </p:txBody>
      </p:sp>
      <p:sp>
        <p:nvSpPr>
          <p:cNvPr id="32" name="Text 30"/>
          <p:cNvSpPr/>
          <p:nvPr/>
        </p:nvSpPr>
        <p:spPr>
          <a:xfrm>
            <a:off x="457200" y="3419856"/>
            <a:ext cx="2441448" cy="201168"/>
          </a:xfrm>
          <a:prstGeom prst="rect">
            <a:avLst/>
          </a:prstGeom>
          <a:noFill/>
          <a:ln/>
        </p:spPr>
        <p:txBody>
          <a:bodyPr wrap="square" lIns="0" tIns="0" rIns="0" bIns="0" rtlCol="0" anchor="ctr"/>
          <a:lstStyle/>
          <a:p>
            <a:pPr marL="0" indent="0">
              <a:buNone/>
            </a:pPr>
            <a:r>
              <a:rPr lang="en-US" sz="850" b="1" dirty="0">
                <a:solidFill>
                  <a:srgbClr val="7C3AED"/>
                </a:solidFill>
                <a:latin typeface="Calibri" pitchFamily="34" charset="0"/>
                <a:ea typeface="Calibri" pitchFamily="34" charset="-122"/>
                <a:cs typeface="Calibri" pitchFamily="34" charset="-120"/>
              </a:rPr>
              <a:t>Modeller: CNN, MLP</a:t>
            </a:r>
            <a:endParaRPr lang="en-US" sz="850" dirty="0"/>
          </a:p>
        </p:txBody>
      </p:sp>
      <p:sp>
        <p:nvSpPr>
          <p:cNvPr id="33" name="Text 31"/>
          <p:cNvSpPr/>
          <p:nvPr/>
        </p:nvSpPr>
        <p:spPr>
          <a:xfrm>
            <a:off x="457200" y="3639312"/>
            <a:ext cx="2441448" cy="89611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Apache projesi. AWS'nin resmi DÖ çerçevesi. Çoklu GPU ve dağıtık eğitim. fastai ile kullanım kolay.</a:t>
            </a:r>
            <a:endParaRPr lang="en-US" sz="900" dirty="0"/>
          </a:p>
        </p:txBody>
      </p:sp>
      <p:sp>
        <p:nvSpPr>
          <p:cNvPr id="34" name="Shape 32"/>
          <p:cNvSpPr/>
          <p:nvPr/>
        </p:nvSpPr>
        <p:spPr>
          <a:xfrm>
            <a:off x="3172968" y="2962656"/>
            <a:ext cx="2624328" cy="1700784"/>
          </a:xfrm>
          <a:prstGeom prst="rect">
            <a:avLst/>
          </a:prstGeom>
          <a:solidFill>
            <a:srgbClr val="FFFFFF"/>
          </a:solidFill>
          <a:ln w="12700">
            <a:solidFill>
              <a:srgbClr val="059669"/>
            </a:solidFill>
            <a:prstDash val="solid"/>
          </a:ln>
          <a:effectLst>
            <a:outerShdw blurRad="127000" dist="50800" dir="8100000" algn="bl" rotWithShape="0">
              <a:srgbClr val="000000">
                <a:alpha val="12000"/>
              </a:srgbClr>
            </a:outerShdw>
          </a:effectLst>
        </p:spPr>
        <p:txBody>
          <a:bodyPr/>
          <a:lstStyle/>
          <a:p>
            <a:endParaRPr lang="tr-TR"/>
          </a:p>
        </p:txBody>
      </p:sp>
      <p:sp>
        <p:nvSpPr>
          <p:cNvPr id="35" name="Shape 33"/>
          <p:cNvSpPr/>
          <p:nvPr/>
        </p:nvSpPr>
        <p:spPr>
          <a:xfrm>
            <a:off x="3172968" y="2962656"/>
            <a:ext cx="2624328" cy="402336"/>
          </a:xfrm>
          <a:prstGeom prst="rect">
            <a:avLst/>
          </a:prstGeom>
          <a:solidFill>
            <a:srgbClr val="059669"/>
          </a:solidFill>
          <a:ln w="12700">
            <a:solidFill>
              <a:srgbClr val="059669"/>
            </a:solidFill>
            <a:prstDash val="solid"/>
          </a:ln>
        </p:spPr>
        <p:txBody>
          <a:bodyPr/>
          <a:lstStyle/>
          <a:p>
            <a:endParaRPr lang="tr-TR"/>
          </a:p>
        </p:txBody>
      </p:sp>
      <p:sp>
        <p:nvSpPr>
          <p:cNvPr id="36" name="Text 34"/>
          <p:cNvSpPr/>
          <p:nvPr/>
        </p:nvSpPr>
        <p:spPr>
          <a:xfrm>
            <a:off x="3264408" y="2962656"/>
            <a:ext cx="182880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H2O.ai</a:t>
            </a:r>
            <a:endParaRPr lang="en-US" sz="1300" dirty="0"/>
          </a:p>
        </p:txBody>
      </p:sp>
      <p:sp>
        <p:nvSpPr>
          <p:cNvPr id="37" name="Shape 35"/>
          <p:cNvSpPr/>
          <p:nvPr/>
        </p:nvSpPr>
        <p:spPr>
          <a:xfrm>
            <a:off x="5166360" y="3044952"/>
            <a:ext cx="548640" cy="237744"/>
          </a:xfrm>
          <a:prstGeom prst="rect">
            <a:avLst/>
          </a:prstGeom>
          <a:solidFill>
            <a:srgbClr val="FFFFFF">
              <a:alpha val="70000"/>
            </a:srgbClr>
          </a:solidFill>
          <a:ln w="12700">
            <a:solidFill>
              <a:srgbClr val="FFFFFF"/>
            </a:solidFill>
            <a:prstDash val="solid"/>
          </a:ln>
        </p:spPr>
        <p:txBody>
          <a:bodyPr/>
          <a:lstStyle/>
          <a:p>
            <a:endParaRPr lang="tr-TR"/>
          </a:p>
        </p:txBody>
      </p:sp>
      <p:sp>
        <p:nvSpPr>
          <p:cNvPr id="38" name="Text 36"/>
          <p:cNvSpPr/>
          <p:nvPr/>
        </p:nvSpPr>
        <p:spPr>
          <a:xfrm>
            <a:off x="5166360" y="3044952"/>
            <a:ext cx="548640" cy="237744"/>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R &amp; Python</a:t>
            </a:r>
            <a:endParaRPr lang="en-US" sz="750" dirty="0"/>
          </a:p>
        </p:txBody>
      </p:sp>
      <p:sp>
        <p:nvSpPr>
          <p:cNvPr id="39" name="Text 37"/>
          <p:cNvSpPr/>
          <p:nvPr/>
        </p:nvSpPr>
        <p:spPr>
          <a:xfrm>
            <a:off x="3264408" y="3419856"/>
            <a:ext cx="2441448" cy="201168"/>
          </a:xfrm>
          <a:prstGeom prst="rect">
            <a:avLst/>
          </a:prstGeom>
          <a:noFill/>
          <a:ln/>
        </p:spPr>
        <p:txBody>
          <a:bodyPr wrap="square" lIns="0" tIns="0" rIns="0" bIns="0" rtlCol="0" anchor="ctr"/>
          <a:lstStyle/>
          <a:p>
            <a:pPr marL="0" indent="0">
              <a:buNone/>
            </a:pPr>
            <a:r>
              <a:rPr lang="en-US" sz="850" b="1" dirty="0">
                <a:solidFill>
                  <a:srgbClr val="059669"/>
                </a:solidFill>
                <a:latin typeface="Calibri" pitchFamily="34" charset="0"/>
                <a:ea typeface="Calibri" pitchFamily="34" charset="-122"/>
                <a:cs typeface="Calibri" pitchFamily="34" charset="-120"/>
              </a:rPr>
              <a:t>Modeller: AE, CNN, DBN</a:t>
            </a:r>
            <a:endParaRPr lang="en-US" sz="850" dirty="0"/>
          </a:p>
        </p:txBody>
      </p:sp>
      <p:sp>
        <p:nvSpPr>
          <p:cNvPr id="40" name="Text 38"/>
          <p:cNvSpPr/>
          <p:nvPr/>
        </p:nvSpPr>
        <p:spPr>
          <a:xfrm>
            <a:off x="3264408" y="3639312"/>
            <a:ext cx="2441448" cy="89611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AutoML platformu. Kurumsal kullanım. Büyük tablolu veri. Spark entegrasyonu. Endüstri standardı.</a:t>
            </a:r>
            <a:endParaRPr lang="en-US" sz="900" dirty="0"/>
          </a:p>
        </p:txBody>
      </p:sp>
      <p:sp>
        <p:nvSpPr>
          <p:cNvPr id="41" name="Shape 39"/>
          <p:cNvSpPr/>
          <p:nvPr/>
        </p:nvSpPr>
        <p:spPr>
          <a:xfrm>
            <a:off x="5980176" y="2962656"/>
            <a:ext cx="2624328" cy="1700784"/>
          </a:xfrm>
          <a:prstGeom prst="rect">
            <a:avLst/>
          </a:prstGeom>
          <a:solidFill>
            <a:srgbClr val="FFFFFF"/>
          </a:solidFill>
          <a:ln w="12700">
            <a:solidFill>
              <a:srgbClr val="475569"/>
            </a:solidFill>
            <a:prstDash val="solid"/>
          </a:ln>
          <a:effectLst>
            <a:outerShdw blurRad="127000" dist="50800" dir="8100000" algn="bl" rotWithShape="0">
              <a:srgbClr val="000000">
                <a:alpha val="12000"/>
              </a:srgbClr>
            </a:outerShdw>
          </a:effectLst>
        </p:spPr>
        <p:txBody>
          <a:bodyPr/>
          <a:lstStyle/>
          <a:p>
            <a:endParaRPr lang="tr-TR"/>
          </a:p>
        </p:txBody>
      </p:sp>
      <p:sp>
        <p:nvSpPr>
          <p:cNvPr id="42" name="Shape 40"/>
          <p:cNvSpPr/>
          <p:nvPr/>
        </p:nvSpPr>
        <p:spPr>
          <a:xfrm>
            <a:off x="5980176" y="2962656"/>
            <a:ext cx="2624328" cy="402336"/>
          </a:xfrm>
          <a:prstGeom prst="rect">
            <a:avLst/>
          </a:prstGeom>
          <a:solidFill>
            <a:srgbClr val="475569"/>
          </a:solidFill>
          <a:ln w="12700">
            <a:solidFill>
              <a:srgbClr val="475569"/>
            </a:solidFill>
            <a:prstDash val="solid"/>
          </a:ln>
        </p:spPr>
        <p:txBody>
          <a:bodyPr/>
          <a:lstStyle/>
          <a:p>
            <a:endParaRPr lang="tr-TR"/>
          </a:p>
        </p:txBody>
      </p:sp>
      <p:sp>
        <p:nvSpPr>
          <p:cNvPr id="43" name="Text 41"/>
          <p:cNvSpPr/>
          <p:nvPr/>
        </p:nvSpPr>
        <p:spPr>
          <a:xfrm>
            <a:off x="6071616" y="2962656"/>
            <a:ext cx="182880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Theano</a:t>
            </a:r>
            <a:endParaRPr lang="en-US" sz="1300" dirty="0"/>
          </a:p>
        </p:txBody>
      </p:sp>
      <p:sp>
        <p:nvSpPr>
          <p:cNvPr id="44" name="Shape 42"/>
          <p:cNvSpPr/>
          <p:nvPr/>
        </p:nvSpPr>
        <p:spPr>
          <a:xfrm>
            <a:off x="7973568" y="3044952"/>
            <a:ext cx="548640" cy="237744"/>
          </a:xfrm>
          <a:prstGeom prst="rect">
            <a:avLst/>
          </a:prstGeom>
          <a:solidFill>
            <a:srgbClr val="FFFFFF">
              <a:alpha val="70000"/>
            </a:srgbClr>
          </a:solidFill>
          <a:ln w="12700">
            <a:solidFill>
              <a:srgbClr val="FFFFFF"/>
            </a:solidFill>
            <a:prstDash val="solid"/>
          </a:ln>
        </p:spPr>
        <p:txBody>
          <a:bodyPr/>
          <a:lstStyle/>
          <a:p>
            <a:endParaRPr lang="tr-TR"/>
          </a:p>
        </p:txBody>
      </p:sp>
      <p:sp>
        <p:nvSpPr>
          <p:cNvPr id="45" name="Text 43"/>
          <p:cNvSpPr/>
          <p:nvPr/>
        </p:nvSpPr>
        <p:spPr>
          <a:xfrm>
            <a:off x="7973568" y="3044952"/>
            <a:ext cx="548640" cy="237744"/>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Python</a:t>
            </a:r>
            <a:endParaRPr lang="en-US" sz="750" dirty="0"/>
          </a:p>
        </p:txBody>
      </p:sp>
      <p:sp>
        <p:nvSpPr>
          <p:cNvPr id="46" name="Text 44"/>
          <p:cNvSpPr/>
          <p:nvPr/>
        </p:nvSpPr>
        <p:spPr>
          <a:xfrm>
            <a:off x="6071616" y="3419856"/>
            <a:ext cx="2441448" cy="201168"/>
          </a:xfrm>
          <a:prstGeom prst="rect">
            <a:avLst/>
          </a:prstGeom>
          <a:noFill/>
          <a:ln/>
        </p:spPr>
        <p:txBody>
          <a:bodyPr wrap="square" lIns="0" tIns="0" rIns="0" bIns="0" rtlCol="0" anchor="ctr"/>
          <a:lstStyle/>
          <a:p>
            <a:pPr marL="0" indent="0">
              <a:buNone/>
            </a:pPr>
            <a:r>
              <a:rPr lang="en-US" sz="850" b="1" dirty="0">
                <a:solidFill>
                  <a:srgbClr val="475569"/>
                </a:solidFill>
                <a:latin typeface="Calibri" pitchFamily="34" charset="0"/>
                <a:ea typeface="Calibri" pitchFamily="34" charset="-122"/>
                <a:cs typeface="Calibri" pitchFamily="34" charset="-120"/>
              </a:rPr>
              <a:t>Modeller: DBN, LSTM</a:t>
            </a:r>
            <a:endParaRPr lang="en-US" sz="850" dirty="0"/>
          </a:p>
        </p:txBody>
      </p:sp>
      <p:sp>
        <p:nvSpPr>
          <p:cNvPr id="47" name="Text 45"/>
          <p:cNvSpPr/>
          <p:nvPr/>
        </p:nvSpPr>
        <p:spPr>
          <a:xfrm>
            <a:off x="6071616" y="3639312"/>
            <a:ext cx="2441448" cy="89611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MILA Montréal (2007). Sembolik türev. Keras ve Lasagne'nin alt katmanı. 2017'den itibaren geliştirilmiyor.</a:t>
            </a:r>
            <a:endParaRPr lang="en-US" sz="900" dirty="0"/>
          </a:p>
        </p:txBody>
      </p:sp>
      <p:sp>
        <p:nvSpPr>
          <p:cNvPr id="48" name="Text 46"/>
          <p:cNvSpPr/>
          <p:nvPr/>
        </p:nvSpPr>
        <p:spPr>
          <a:xfrm>
            <a:off x="365760" y="4892040"/>
            <a:ext cx="8412480" cy="201168"/>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Kaynak: Abadi et al. (2016) TensorFlow; Chollet (2015) Keras; Paszke et al. (2017) PyTorch; Chen et al. (2015) MXNet</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0891B2"/>
          </a:solidFill>
          <a:ln w="12700">
            <a:solidFill>
              <a:srgbClr val="0891B2"/>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19 — UYGULAMALAR</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Derin Öğrenme — Uygulama Örnekleri (Kapsamlı Tablo)</a:t>
            </a:r>
            <a:endParaRPr lang="en-US" sz="2600" dirty="0"/>
          </a:p>
        </p:txBody>
      </p:sp>
      <p:sp>
        <p:nvSpPr>
          <p:cNvPr id="5" name="Shape 3"/>
          <p:cNvSpPr/>
          <p:nvPr/>
        </p:nvSpPr>
        <p:spPr>
          <a:xfrm>
            <a:off x="365760" y="1024128"/>
            <a:ext cx="109728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47472" y="1078992"/>
            <a:ext cx="4206240" cy="822960"/>
          </a:xfrm>
          <a:prstGeom prst="rect">
            <a:avLst/>
          </a:prstGeom>
          <a:solidFill>
            <a:srgbClr val="243B55"/>
          </a:solidFill>
          <a:ln w="12700">
            <a:solidFill>
              <a:srgbClr val="EF4444"/>
            </a:solidFill>
            <a:prstDash val="solid"/>
          </a:ln>
          <a:effectLst>
            <a:outerShdw blurRad="63500" dist="25400" dir="8100000" algn="bl" rotWithShape="0">
              <a:srgbClr val="000000">
                <a:alpha val="8000"/>
              </a:srgbClr>
            </a:outerShdw>
          </a:effectLst>
        </p:spPr>
        <p:txBody>
          <a:bodyPr/>
          <a:lstStyle/>
          <a:p>
            <a:endParaRPr lang="tr-TR"/>
          </a:p>
        </p:txBody>
      </p:sp>
      <p:sp>
        <p:nvSpPr>
          <p:cNvPr id="7" name="Text 5"/>
          <p:cNvSpPr/>
          <p:nvPr/>
        </p:nvSpPr>
        <p:spPr>
          <a:xfrm>
            <a:off x="347472" y="1078992"/>
            <a:ext cx="502920" cy="8229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Shape 6"/>
          <p:cNvSpPr/>
          <p:nvPr/>
        </p:nvSpPr>
        <p:spPr>
          <a:xfrm>
            <a:off x="3776472" y="1170432"/>
            <a:ext cx="685800" cy="256032"/>
          </a:xfrm>
          <a:prstGeom prst="rect">
            <a:avLst/>
          </a:prstGeom>
          <a:solidFill>
            <a:srgbClr val="EF4444"/>
          </a:solidFill>
          <a:ln w="12700">
            <a:solidFill>
              <a:srgbClr val="EF4444"/>
            </a:solidFill>
            <a:prstDash val="solid"/>
          </a:ln>
        </p:spPr>
        <p:txBody>
          <a:bodyPr/>
          <a:lstStyle/>
          <a:p>
            <a:endParaRPr lang="tr-TR"/>
          </a:p>
        </p:txBody>
      </p:sp>
      <p:sp>
        <p:nvSpPr>
          <p:cNvPr id="9" name="Text 7"/>
          <p:cNvSpPr/>
          <p:nvPr/>
        </p:nvSpPr>
        <p:spPr>
          <a:xfrm>
            <a:off x="3776472" y="1170432"/>
            <a:ext cx="6858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CNN</a:t>
            </a:r>
            <a:endParaRPr lang="en-US" sz="900" dirty="0"/>
          </a:p>
        </p:txBody>
      </p:sp>
      <p:sp>
        <p:nvSpPr>
          <p:cNvPr id="10" name="Text 8"/>
          <p:cNvSpPr/>
          <p:nvPr/>
        </p:nvSpPr>
        <p:spPr>
          <a:xfrm>
            <a:off x="914400" y="1152144"/>
            <a:ext cx="2816352"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Deri kanseri sınıflandırma</a:t>
            </a:r>
            <a:endParaRPr lang="en-US" sz="1050" dirty="0"/>
          </a:p>
        </p:txBody>
      </p:sp>
      <p:sp>
        <p:nvSpPr>
          <p:cNvPr id="11" name="Text 9"/>
          <p:cNvSpPr/>
          <p:nvPr/>
        </p:nvSpPr>
        <p:spPr>
          <a:xfrm>
            <a:off x="914400" y="1517904"/>
            <a:ext cx="3657600" cy="292608"/>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Dermatoloji uzmanı seviyesi doğruluk  ·  📖 Esteva et al. (2017) Nature</a:t>
            </a:r>
            <a:endParaRPr lang="en-US" sz="850" dirty="0"/>
          </a:p>
        </p:txBody>
      </p:sp>
      <p:sp>
        <p:nvSpPr>
          <p:cNvPr id="12" name="Shape 10"/>
          <p:cNvSpPr/>
          <p:nvPr/>
        </p:nvSpPr>
        <p:spPr>
          <a:xfrm>
            <a:off x="4754880" y="1078992"/>
            <a:ext cx="4206240" cy="822960"/>
          </a:xfrm>
          <a:prstGeom prst="rect">
            <a:avLst/>
          </a:prstGeom>
          <a:solidFill>
            <a:srgbClr val="243B55"/>
          </a:solidFill>
          <a:ln w="12700">
            <a:solidFill>
              <a:srgbClr val="EF4444"/>
            </a:solidFill>
            <a:prstDash val="solid"/>
          </a:ln>
          <a:effectLst>
            <a:outerShdw blurRad="63500" dist="25400" dir="8100000" algn="bl" rotWithShape="0">
              <a:srgbClr val="000000">
                <a:alpha val="8000"/>
              </a:srgbClr>
            </a:outerShdw>
          </a:effectLst>
        </p:spPr>
        <p:txBody>
          <a:bodyPr/>
          <a:lstStyle/>
          <a:p>
            <a:endParaRPr lang="tr-TR"/>
          </a:p>
        </p:txBody>
      </p:sp>
      <p:sp>
        <p:nvSpPr>
          <p:cNvPr id="13" name="Text 11"/>
          <p:cNvSpPr/>
          <p:nvPr/>
        </p:nvSpPr>
        <p:spPr>
          <a:xfrm>
            <a:off x="4754880" y="1078992"/>
            <a:ext cx="502920" cy="8229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Shape 12"/>
          <p:cNvSpPr/>
          <p:nvPr/>
        </p:nvSpPr>
        <p:spPr>
          <a:xfrm>
            <a:off x="8183880" y="1170432"/>
            <a:ext cx="685800" cy="256032"/>
          </a:xfrm>
          <a:prstGeom prst="rect">
            <a:avLst/>
          </a:prstGeom>
          <a:solidFill>
            <a:srgbClr val="EF4444"/>
          </a:solidFill>
          <a:ln w="12700">
            <a:solidFill>
              <a:srgbClr val="EF4444"/>
            </a:solidFill>
            <a:prstDash val="solid"/>
          </a:ln>
        </p:spPr>
        <p:txBody>
          <a:bodyPr/>
          <a:lstStyle/>
          <a:p>
            <a:endParaRPr lang="tr-TR"/>
          </a:p>
        </p:txBody>
      </p:sp>
      <p:sp>
        <p:nvSpPr>
          <p:cNvPr id="15" name="Text 13"/>
          <p:cNvSpPr/>
          <p:nvPr/>
        </p:nvSpPr>
        <p:spPr>
          <a:xfrm>
            <a:off x="8183880" y="1170432"/>
            <a:ext cx="6858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CNN</a:t>
            </a:r>
            <a:endParaRPr lang="en-US" sz="900" dirty="0"/>
          </a:p>
        </p:txBody>
      </p:sp>
      <p:sp>
        <p:nvSpPr>
          <p:cNvPr id="16" name="Text 14"/>
          <p:cNvSpPr/>
          <p:nvPr/>
        </p:nvSpPr>
        <p:spPr>
          <a:xfrm>
            <a:off x="5321808" y="1152144"/>
            <a:ext cx="2816352"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Akciğer kanseri prognozu</a:t>
            </a:r>
            <a:endParaRPr lang="en-US" sz="1050" dirty="0"/>
          </a:p>
        </p:txBody>
      </p:sp>
      <p:sp>
        <p:nvSpPr>
          <p:cNvPr id="17" name="Text 15"/>
          <p:cNvSpPr/>
          <p:nvPr/>
        </p:nvSpPr>
        <p:spPr>
          <a:xfrm>
            <a:off x="5321808" y="1517904"/>
            <a:ext cx="3657600" cy="292608"/>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Radyomik çok-kohortlu retrospektif  ·  📖 Hosny et al. (2018) PLoS Med.</a:t>
            </a:r>
            <a:endParaRPr lang="en-US" sz="850" dirty="0"/>
          </a:p>
        </p:txBody>
      </p:sp>
      <p:sp>
        <p:nvSpPr>
          <p:cNvPr id="18" name="Shape 16"/>
          <p:cNvSpPr/>
          <p:nvPr/>
        </p:nvSpPr>
        <p:spPr>
          <a:xfrm>
            <a:off x="347472" y="2029968"/>
            <a:ext cx="4206240" cy="822960"/>
          </a:xfrm>
          <a:prstGeom prst="rect">
            <a:avLst/>
          </a:prstGeom>
          <a:solidFill>
            <a:srgbClr val="243B55"/>
          </a:solidFill>
          <a:ln w="12700">
            <a:solidFill>
              <a:srgbClr val="EF4444"/>
            </a:solidFill>
            <a:prstDash val="solid"/>
          </a:ln>
          <a:effectLst>
            <a:outerShdw blurRad="63500" dist="25400" dir="8100000" algn="bl" rotWithShape="0">
              <a:srgbClr val="000000">
                <a:alpha val="8000"/>
              </a:srgbClr>
            </a:outerShdw>
          </a:effectLst>
        </p:spPr>
        <p:txBody>
          <a:bodyPr/>
          <a:lstStyle/>
          <a:p>
            <a:endParaRPr lang="tr-TR"/>
          </a:p>
        </p:txBody>
      </p:sp>
      <p:sp>
        <p:nvSpPr>
          <p:cNvPr id="19" name="Text 17"/>
          <p:cNvSpPr/>
          <p:nvPr/>
        </p:nvSpPr>
        <p:spPr>
          <a:xfrm>
            <a:off x="347472" y="2029968"/>
            <a:ext cx="502920" cy="8229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0" name="Shape 18"/>
          <p:cNvSpPr/>
          <p:nvPr/>
        </p:nvSpPr>
        <p:spPr>
          <a:xfrm>
            <a:off x="3776472" y="2121408"/>
            <a:ext cx="685800" cy="256032"/>
          </a:xfrm>
          <a:prstGeom prst="rect">
            <a:avLst/>
          </a:prstGeom>
          <a:solidFill>
            <a:srgbClr val="EF4444"/>
          </a:solidFill>
          <a:ln w="12700">
            <a:solidFill>
              <a:srgbClr val="EF4444"/>
            </a:solidFill>
            <a:prstDash val="solid"/>
          </a:ln>
        </p:spPr>
        <p:txBody>
          <a:bodyPr/>
          <a:lstStyle/>
          <a:p>
            <a:endParaRPr lang="tr-TR"/>
          </a:p>
        </p:txBody>
      </p:sp>
      <p:sp>
        <p:nvSpPr>
          <p:cNvPr id="21" name="Text 19"/>
          <p:cNvSpPr/>
          <p:nvPr/>
        </p:nvSpPr>
        <p:spPr>
          <a:xfrm>
            <a:off x="3776472" y="2121408"/>
            <a:ext cx="6858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CNN</a:t>
            </a:r>
            <a:endParaRPr lang="en-US" sz="900" dirty="0"/>
          </a:p>
        </p:txBody>
      </p:sp>
      <p:sp>
        <p:nvSpPr>
          <p:cNvPr id="22" name="Text 20"/>
          <p:cNvSpPr/>
          <p:nvPr/>
        </p:nvSpPr>
        <p:spPr>
          <a:xfrm>
            <a:off x="914400" y="2103120"/>
            <a:ext cx="2816352"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Karakter düzeyinde metin sınıflandırma</a:t>
            </a:r>
            <a:endParaRPr lang="en-US" sz="1050" dirty="0"/>
          </a:p>
        </p:txBody>
      </p:sp>
      <p:sp>
        <p:nvSpPr>
          <p:cNvPr id="23" name="Text 21"/>
          <p:cNvSpPr/>
          <p:nvPr/>
        </p:nvSpPr>
        <p:spPr>
          <a:xfrm>
            <a:off x="914400" y="2468880"/>
            <a:ext cx="3657600" cy="292608"/>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Karakter gömme + evrişim  ·  📖 Zhang et al. (2015) NIPS</a:t>
            </a:r>
            <a:endParaRPr lang="en-US" sz="850" dirty="0"/>
          </a:p>
        </p:txBody>
      </p:sp>
      <p:sp>
        <p:nvSpPr>
          <p:cNvPr id="24" name="Shape 22"/>
          <p:cNvSpPr/>
          <p:nvPr/>
        </p:nvSpPr>
        <p:spPr>
          <a:xfrm>
            <a:off x="4754880" y="2029968"/>
            <a:ext cx="4206240" cy="822960"/>
          </a:xfrm>
          <a:prstGeom prst="rect">
            <a:avLst/>
          </a:prstGeom>
          <a:solidFill>
            <a:srgbClr val="243B55"/>
          </a:solidFill>
          <a:ln w="12700">
            <a:solidFill>
              <a:srgbClr val="0891B2"/>
            </a:solidFill>
            <a:prstDash val="solid"/>
          </a:ln>
          <a:effectLst>
            <a:outerShdw blurRad="63500" dist="25400" dir="8100000" algn="bl" rotWithShape="0">
              <a:srgbClr val="000000">
                <a:alpha val="8000"/>
              </a:srgbClr>
            </a:outerShdw>
          </a:effectLst>
        </p:spPr>
        <p:txBody>
          <a:bodyPr/>
          <a:lstStyle/>
          <a:p>
            <a:endParaRPr lang="tr-TR"/>
          </a:p>
        </p:txBody>
      </p:sp>
      <p:sp>
        <p:nvSpPr>
          <p:cNvPr id="25" name="Text 23"/>
          <p:cNvSpPr/>
          <p:nvPr/>
        </p:nvSpPr>
        <p:spPr>
          <a:xfrm>
            <a:off x="4754880" y="2029968"/>
            <a:ext cx="502920" cy="8229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6" name="Shape 24"/>
          <p:cNvSpPr/>
          <p:nvPr/>
        </p:nvSpPr>
        <p:spPr>
          <a:xfrm>
            <a:off x="8183880" y="2121408"/>
            <a:ext cx="685800" cy="256032"/>
          </a:xfrm>
          <a:prstGeom prst="rect">
            <a:avLst/>
          </a:prstGeom>
          <a:solidFill>
            <a:srgbClr val="0891B2"/>
          </a:solidFill>
          <a:ln w="12700">
            <a:solidFill>
              <a:srgbClr val="0891B2"/>
            </a:solidFill>
            <a:prstDash val="solid"/>
          </a:ln>
        </p:spPr>
        <p:txBody>
          <a:bodyPr/>
          <a:lstStyle/>
          <a:p>
            <a:endParaRPr lang="tr-TR"/>
          </a:p>
        </p:txBody>
      </p:sp>
      <p:sp>
        <p:nvSpPr>
          <p:cNvPr id="27" name="Text 25"/>
          <p:cNvSpPr/>
          <p:nvPr/>
        </p:nvSpPr>
        <p:spPr>
          <a:xfrm>
            <a:off x="8183880" y="2121408"/>
            <a:ext cx="6858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DBN</a:t>
            </a:r>
            <a:endParaRPr lang="en-US" sz="900" dirty="0"/>
          </a:p>
        </p:txBody>
      </p:sp>
      <p:sp>
        <p:nvSpPr>
          <p:cNvPr id="28" name="Text 26"/>
          <p:cNvSpPr/>
          <p:nvPr/>
        </p:nvSpPr>
        <p:spPr>
          <a:xfrm>
            <a:off x="5321808" y="2103120"/>
            <a:ext cx="2816352"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Gen ifadesi — karmaşık bozukluklar</a:t>
            </a:r>
            <a:endParaRPr lang="en-US" sz="1050" dirty="0"/>
          </a:p>
        </p:txBody>
      </p:sp>
      <p:sp>
        <p:nvSpPr>
          <p:cNvPr id="29" name="Text 27"/>
          <p:cNvSpPr/>
          <p:nvPr/>
        </p:nvSpPr>
        <p:spPr>
          <a:xfrm>
            <a:off x="5321808" y="2468880"/>
            <a:ext cx="3657600" cy="292608"/>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DBN vs SVM karşılaştırması  ·  📖 Smolander et al. (2019) FEBS</a:t>
            </a:r>
            <a:endParaRPr lang="en-US" sz="850" dirty="0"/>
          </a:p>
        </p:txBody>
      </p:sp>
      <p:sp>
        <p:nvSpPr>
          <p:cNvPr id="30" name="Shape 28"/>
          <p:cNvSpPr/>
          <p:nvPr/>
        </p:nvSpPr>
        <p:spPr>
          <a:xfrm>
            <a:off x="347472" y="2980944"/>
            <a:ext cx="4206240" cy="822960"/>
          </a:xfrm>
          <a:prstGeom prst="rect">
            <a:avLst/>
          </a:prstGeom>
          <a:solidFill>
            <a:srgbClr val="243B55"/>
          </a:solidFill>
          <a:ln w="12700">
            <a:solidFill>
              <a:srgbClr val="0891B2"/>
            </a:solidFill>
            <a:prstDash val="solid"/>
          </a:ln>
          <a:effectLst>
            <a:outerShdw blurRad="63500" dist="25400" dir="8100000" algn="bl" rotWithShape="0">
              <a:srgbClr val="000000">
                <a:alpha val="8000"/>
              </a:srgbClr>
            </a:outerShdw>
          </a:effectLst>
        </p:spPr>
        <p:txBody>
          <a:bodyPr/>
          <a:lstStyle/>
          <a:p>
            <a:endParaRPr lang="tr-TR"/>
          </a:p>
        </p:txBody>
      </p:sp>
      <p:sp>
        <p:nvSpPr>
          <p:cNvPr id="31" name="Text 29"/>
          <p:cNvSpPr/>
          <p:nvPr/>
        </p:nvSpPr>
        <p:spPr>
          <a:xfrm>
            <a:off x="347472" y="2980944"/>
            <a:ext cx="502920" cy="8229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2" name="Shape 30"/>
          <p:cNvSpPr/>
          <p:nvPr/>
        </p:nvSpPr>
        <p:spPr>
          <a:xfrm>
            <a:off x="3776472" y="3072384"/>
            <a:ext cx="685800" cy="256032"/>
          </a:xfrm>
          <a:prstGeom prst="rect">
            <a:avLst/>
          </a:prstGeom>
          <a:solidFill>
            <a:srgbClr val="0891B2"/>
          </a:solidFill>
          <a:ln w="12700">
            <a:solidFill>
              <a:srgbClr val="0891B2"/>
            </a:solidFill>
            <a:prstDash val="solid"/>
          </a:ln>
        </p:spPr>
        <p:txBody>
          <a:bodyPr/>
          <a:lstStyle/>
          <a:p>
            <a:endParaRPr lang="tr-TR"/>
          </a:p>
        </p:txBody>
      </p:sp>
      <p:sp>
        <p:nvSpPr>
          <p:cNvPr id="33" name="Text 31"/>
          <p:cNvSpPr/>
          <p:nvPr/>
        </p:nvSpPr>
        <p:spPr>
          <a:xfrm>
            <a:off x="3776472" y="3072384"/>
            <a:ext cx="6858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DBN</a:t>
            </a:r>
            <a:endParaRPr lang="en-US" sz="900" dirty="0"/>
          </a:p>
        </p:txBody>
      </p:sp>
      <p:sp>
        <p:nvSpPr>
          <p:cNvPr id="34" name="Text 32"/>
          <p:cNvSpPr/>
          <p:nvPr/>
        </p:nvSpPr>
        <p:spPr>
          <a:xfrm>
            <a:off x="914400" y="3054096"/>
            <a:ext cx="2816352"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Akustik modelleme — konuşma tanıma</a:t>
            </a:r>
            <a:endParaRPr lang="en-US" sz="1050" dirty="0"/>
          </a:p>
        </p:txBody>
      </p:sp>
      <p:sp>
        <p:nvSpPr>
          <p:cNvPr id="35" name="Text 33"/>
          <p:cNvSpPr/>
          <p:nvPr/>
        </p:nvSpPr>
        <p:spPr>
          <a:xfrm>
            <a:off x="914400" y="3419856"/>
            <a:ext cx="3657600" cy="292608"/>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Derin ağ ile fonem tanıma  ·  📖 Mohamed et al. (2011) IEEE</a:t>
            </a:r>
            <a:endParaRPr lang="en-US" sz="850" dirty="0"/>
          </a:p>
        </p:txBody>
      </p:sp>
      <p:sp>
        <p:nvSpPr>
          <p:cNvPr id="36" name="Shape 34"/>
          <p:cNvSpPr/>
          <p:nvPr/>
        </p:nvSpPr>
        <p:spPr>
          <a:xfrm>
            <a:off x="4754880" y="2980944"/>
            <a:ext cx="4206240" cy="822960"/>
          </a:xfrm>
          <a:prstGeom prst="rect">
            <a:avLst/>
          </a:prstGeom>
          <a:solidFill>
            <a:srgbClr val="243B55"/>
          </a:solidFill>
          <a:ln w="12700">
            <a:solidFill>
              <a:srgbClr val="059669"/>
            </a:solidFill>
            <a:prstDash val="solid"/>
          </a:ln>
          <a:effectLst>
            <a:outerShdw blurRad="63500" dist="25400" dir="8100000" algn="bl" rotWithShape="0">
              <a:srgbClr val="000000">
                <a:alpha val="8000"/>
              </a:srgbClr>
            </a:outerShdw>
          </a:effectLst>
        </p:spPr>
        <p:txBody>
          <a:bodyPr/>
          <a:lstStyle/>
          <a:p>
            <a:endParaRPr lang="tr-TR"/>
          </a:p>
        </p:txBody>
      </p:sp>
      <p:sp>
        <p:nvSpPr>
          <p:cNvPr id="37" name="Text 35"/>
          <p:cNvSpPr/>
          <p:nvPr/>
        </p:nvSpPr>
        <p:spPr>
          <a:xfrm>
            <a:off x="4754880" y="2980944"/>
            <a:ext cx="502920" cy="8229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8" name="Shape 36"/>
          <p:cNvSpPr/>
          <p:nvPr/>
        </p:nvSpPr>
        <p:spPr>
          <a:xfrm>
            <a:off x="8183880" y="3072384"/>
            <a:ext cx="685800" cy="256032"/>
          </a:xfrm>
          <a:prstGeom prst="rect">
            <a:avLst/>
          </a:prstGeom>
          <a:solidFill>
            <a:srgbClr val="059669"/>
          </a:solidFill>
          <a:ln w="12700">
            <a:solidFill>
              <a:srgbClr val="059669"/>
            </a:solidFill>
            <a:prstDash val="solid"/>
          </a:ln>
        </p:spPr>
        <p:txBody>
          <a:bodyPr/>
          <a:lstStyle/>
          <a:p>
            <a:endParaRPr lang="tr-TR"/>
          </a:p>
        </p:txBody>
      </p:sp>
      <p:sp>
        <p:nvSpPr>
          <p:cNvPr id="39" name="Text 37"/>
          <p:cNvSpPr/>
          <p:nvPr/>
        </p:nvSpPr>
        <p:spPr>
          <a:xfrm>
            <a:off x="8183880" y="3072384"/>
            <a:ext cx="6858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LSTM</a:t>
            </a:r>
            <a:endParaRPr lang="en-US" sz="900" dirty="0"/>
          </a:p>
        </p:txBody>
      </p:sp>
      <p:sp>
        <p:nvSpPr>
          <p:cNvPr id="40" name="Text 38"/>
          <p:cNvSpPr/>
          <p:nvPr/>
        </p:nvSpPr>
        <p:spPr>
          <a:xfrm>
            <a:off x="5321808" y="3054096"/>
            <a:ext cx="2816352"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İlaç-ilaç etkileşim çıkarımı</a:t>
            </a:r>
            <a:endParaRPr lang="en-US" sz="1050" dirty="0"/>
          </a:p>
        </p:txBody>
      </p:sp>
      <p:sp>
        <p:nvSpPr>
          <p:cNvPr id="41" name="Text 39"/>
          <p:cNvSpPr/>
          <p:nvPr/>
        </p:nvSpPr>
        <p:spPr>
          <a:xfrm>
            <a:off x="5321808" y="3419856"/>
            <a:ext cx="3657600" cy="292608"/>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Biyomedikal metin madenciliği  ·  📖 Sahu &amp; Anand (2018) JBI</a:t>
            </a:r>
            <a:endParaRPr lang="en-US" sz="850" dirty="0"/>
          </a:p>
        </p:txBody>
      </p:sp>
      <p:sp>
        <p:nvSpPr>
          <p:cNvPr id="42" name="Shape 40"/>
          <p:cNvSpPr/>
          <p:nvPr/>
        </p:nvSpPr>
        <p:spPr>
          <a:xfrm>
            <a:off x="347472" y="3931920"/>
            <a:ext cx="4206240" cy="822960"/>
          </a:xfrm>
          <a:prstGeom prst="rect">
            <a:avLst/>
          </a:prstGeom>
          <a:solidFill>
            <a:srgbClr val="243B55"/>
          </a:solidFill>
          <a:ln w="12700">
            <a:solidFill>
              <a:srgbClr val="059669"/>
            </a:solidFill>
            <a:prstDash val="solid"/>
          </a:ln>
          <a:effectLst>
            <a:outerShdw blurRad="63500" dist="25400" dir="8100000" algn="bl" rotWithShape="0">
              <a:srgbClr val="000000">
                <a:alpha val="8000"/>
              </a:srgbClr>
            </a:outerShdw>
          </a:effectLst>
        </p:spPr>
        <p:txBody>
          <a:bodyPr/>
          <a:lstStyle/>
          <a:p>
            <a:endParaRPr lang="tr-TR"/>
          </a:p>
        </p:txBody>
      </p:sp>
      <p:sp>
        <p:nvSpPr>
          <p:cNvPr id="43" name="Text 41"/>
          <p:cNvSpPr/>
          <p:nvPr/>
        </p:nvSpPr>
        <p:spPr>
          <a:xfrm>
            <a:off x="347472" y="3931920"/>
            <a:ext cx="502920" cy="8229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44" name="Shape 42"/>
          <p:cNvSpPr/>
          <p:nvPr/>
        </p:nvSpPr>
        <p:spPr>
          <a:xfrm>
            <a:off x="3776472" y="4023360"/>
            <a:ext cx="685800" cy="256032"/>
          </a:xfrm>
          <a:prstGeom prst="rect">
            <a:avLst/>
          </a:prstGeom>
          <a:solidFill>
            <a:srgbClr val="059669"/>
          </a:solidFill>
          <a:ln w="12700">
            <a:solidFill>
              <a:srgbClr val="059669"/>
            </a:solidFill>
            <a:prstDash val="solid"/>
          </a:ln>
        </p:spPr>
        <p:txBody>
          <a:bodyPr/>
          <a:lstStyle/>
          <a:p>
            <a:endParaRPr lang="tr-TR"/>
          </a:p>
        </p:txBody>
      </p:sp>
      <p:sp>
        <p:nvSpPr>
          <p:cNvPr id="45" name="Text 43"/>
          <p:cNvSpPr/>
          <p:nvPr/>
        </p:nvSpPr>
        <p:spPr>
          <a:xfrm>
            <a:off x="3776472" y="4023360"/>
            <a:ext cx="6858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LSTM</a:t>
            </a:r>
            <a:endParaRPr lang="en-US" sz="900" dirty="0"/>
          </a:p>
        </p:txBody>
      </p:sp>
      <p:sp>
        <p:nvSpPr>
          <p:cNvPr id="46" name="Text 44"/>
          <p:cNvSpPr/>
          <p:nvPr/>
        </p:nvSpPr>
        <p:spPr>
          <a:xfrm>
            <a:off x="914400" y="4005072"/>
            <a:ext cx="2816352"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DeepCare — tahminsel tıp</a:t>
            </a:r>
            <a:endParaRPr lang="en-US" sz="1050" dirty="0"/>
          </a:p>
        </p:txBody>
      </p:sp>
      <p:sp>
        <p:nvSpPr>
          <p:cNvPr id="47" name="Text 45"/>
          <p:cNvSpPr/>
          <p:nvPr/>
        </p:nvSpPr>
        <p:spPr>
          <a:xfrm>
            <a:off x="914400" y="4370832"/>
            <a:ext cx="3657600" cy="292608"/>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Dinamik bellek modeli  ·  📖 Pham et al. (2016) PAKDD</a:t>
            </a:r>
            <a:endParaRPr lang="en-US" sz="850" dirty="0"/>
          </a:p>
        </p:txBody>
      </p:sp>
      <p:sp>
        <p:nvSpPr>
          <p:cNvPr id="48" name="Shape 46"/>
          <p:cNvSpPr/>
          <p:nvPr/>
        </p:nvSpPr>
        <p:spPr>
          <a:xfrm>
            <a:off x="4754880" y="3931920"/>
            <a:ext cx="4206240" cy="822960"/>
          </a:xfrm>
          <a:prstGeom prst="rect">
            <a:avLst/>
          </a:prstGeom>
          <a:solidFill>
            <a:srgbClr val="243B55"/>
          </a:solidFill>
          <a:ln w="12700">
            <a:solidFill>
              <a:srgbClr val="7C3AED"/>
            </a:solidFill>
            <a:prstDash val="solid"/>
          </a:ln>
          <a:effectLst>
            <a:outerShdw blurRad="63500" dist="25400" dir="8100000" algn="bl" rotWithShape="0">
              <a:srgbClr val="000000">
                <a:alpha val="8000"/>
              </a:srgbClr>
            </a:outerShdw>
          </a:effectLst>
        </p:spPr>
        <p:txBody>
          <a:bodyPr/>
          <a:lstStyle/>
          <a:p>
            <a:endParaRPr lang="tr-TR"/>
          </a:p>
        </p:txBody>
      </p:sp>
      <p:sp>
        <p:nvSpPr>
          <p:cNvPr id="49" name="Text 47"/>
          <p:cNvSpPr/>
          <p:nvPr/>
        </p:nvSpPr>
        <p:spPr>
          <a:xfrm>
            <a:off x="4754880" y="3931920"/>
            <a:ext cx="502920" cy="82296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50" name="Shape 48"/>
          <p:cNvSpPr/>
          <p:nvPr/>
        </p:nvSpPr>
        <p:spPr>
          <a:xfrm>
            <a:off x="8183880" y="4023360"/>
            <a:ext cx="685800" cy="256032"/>
          </a:xfrm>
          <a:prstGeom prst="rect">
            <a:avLst/>
          </a:prstGeom>
          <a:solidFill>
            <a:srgbClr val="7C3AED"/>
          </a:solidFill>
          <a:ln w="12700">
            <a:solidFill>
              <a:srgbClr val="7C3AED"/>
            </a:solidFill>
            <a:prstDash val="solid"/>
          </a:ln>
        </p:spPr>
        <p:txBody>
          <a:bodyPr/>
          <a:lstStyle/>
          <a:p>
            <a:endParaRPr lang="tr-TR"/>
          </a:p>
        </p:txBody>
      </p:sp>
      <p:sp>
        <p:nvSpPr>
          <p:cNvPr id="51" name="Text 49"/>
          <p:cNvSpPr/>
          <p:nvPr/>
        </p:nvSpPr>
        <p:spPr>
          <a:xfrm>
            <a:off x="8183880" y="4023360"/>
            <a:ext cx="6858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B-LSTM</a:t>
            </a:r>
            <a:endParaRPr lang="en-US" sz="900" dirty="0"/>
          </a:p>
        </p:txBody>
      </p:sp>
      <p:sp>
        <p:nvSpPr>
          <p:cNvPr id="52" name="Text 50"/>
          <p:cNvSpPr/>
          <p:nvPr/>
        </p:nvSpPr>
        <p:spPr>
          <a:xfrm>
            <a:off x="5321808" y="4005072"/>
            <a:ext cx="2816352"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Fonem sınıflandırma</a:t>
            </a:r>
            <a:endParaRPr lang="en-US" sz="1050" dirty="0"/>
          </a:p>
        </p:txBody>
      </p:sp>
      <p:sp>
        <p:nvSpPr>
          <p:cNvPr id="53" name="Text 51"/>
          <p:cNvSpPr/>
          <p:nvPr/>
        </p:nvSpPr>
        <p:spPr>
          <a:xfrm>
            <a:off x="5321808" y="4370832"/>
            <a:ext cx="3657600" cy="292608"/>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Çift yönlü LSTM ile ses işleme  ·  📖 Graves &amp; Schmidhuber (2005)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109728"/>
            <a:ext cx="1645920" cy="246888"/>
          </a:xfrm>
          <a:prstGeom prst="roundRect">
            <a:avLst>
              <a:gd name="adj" fmla="val 22222"/>
            </a:avLst>
          </a:prstGeom>
          <a:solidFill>
            <a:srgbClr val="1B2F4A"/>
          </a:solidFill>
          <a:ln w="12700">
            <a:solidFill>
              <a:srgbClr val="1B2F4A"/>
            </a:solidFill>
            <a:prstDash val="solid"/>
          </a:ln>
        </p:spPr>
        <p:txBody>
          <a:bodyPr/>
          <a:lstStyle/>
          <a:p>
            <a:endParaRPr lang="tr-TR"/>
          </a:p>
        </p:txBody>
      </p:sp>
      <p:sp>
        <p:nvSpPr>
          <p:cNvPr id="3" name="Text 1"/>
          <p:cNvSpPr/>
          <p:nvPr/>
        </p:nvSpPr>
        <p:spPr>
          <a:xfrm>
            <a:off x="365760" y="109728"/>
            <a:ext cx="16459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20 — VERİ TİPLERİ</a:t>
            </a:r>
            <a:endParaRPr lang="en-US" sz="850" dirty="0"/>
          </a:p>
        </p:txBody>
      </p:sp>
      <p:sp>
        <p:nvSpPr>
          <p:cNvPr id="4" name="Text 2"/>
          <p:cNvSpPr/>
          <p:nvPr/>
        </p:nvSpPr>
        <p:spPr>
          <a:xfrm>
            <a:off x="365760" y="420624"/>
            <a:ext cx="8412480" cy="566928"/>
          </a:xfrm>
          <a:prstGeom prst="rect">
            <a:avLst/>
          </a:prstGeom>
          <a:noFill/>
          <a:ln/>
        </p:spPr>
        <p:txBody>
          <a:bodyPr wrap="square" lIns="0" tIns="0" rIns="0" bIns="0"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Veri Türleri &amp; Doğru Model Seçim Rehberi</a:t>
            </a:r>
            <a:endParaRPr lang="en-US" sz="2600" dirty="0"/>
          </a:p>
        </p:txBody>
      </p:sp>
      <p:sp>
        <p:nvSpPr>
          <p:cNvPr id="5" name="Shape 3"/>
          <p:cNvSpPr/>
          <p:nvPr/>
        </p:nvSpPr>
        <p:spPr>
          <a:xfrm>
            <a:off x="365760" y="1024128"/>
            <a:ext cx="1371600" cy="45720"/>
          </a:xfrm>
          <a:prstGeom prst="rect">
            <a:avLst/>
          </a:prstGeom>
          <a:solidFill>
            <a:srgbClr val="0891B2"/>
          </a:solidFill>
          <a:ln w="12700">
            <a:solidFill>
              <a:srgbClr val="0891B2"/>
            </a:solidFill>
            <a:prstDash val="solid"/>
          </a:ln>
        </p:spPr>
        <p:txBody>
          <a:bodyPr/>
          <a:lstStyle/>
          <a:p>
            <a:endParaRPr lang="tr-TR"/>
          </a:p>
        </p:txBody>
      </p:sp>
      <p:sp>
        <p:nvSpPr>
          <p:cNvPr id="6" name="Shape 4"/>
          <p:cNvSpPr/>
          <p:nvPr/>
        </p:nvSpPr>
        <p:spPr>
          <a:xfrm>
            <a:off x="365760" y="1115568"/>
            <a:ext cx="2624328" cy="1737360"/>
          </a:xfrm>
          <a:prstGeom prst="rect">
            <a:avLst/>
          </a:prstGeom>
          <a:solidFill>
            <a:srgbClr val="FFFFFF"/>
          </a:solidFill>
          <a:ln w="12700">
            <a:solidFill>
              <a:srgbClr val="EF4444"/>
            </a:solidFill>
            <a:prstDash val="solid"/>
          </a:ln>
          <a:effectLst>
            <a:outerShdw blurRad="127000" dist="50800" dir="8100000" algn="bl" rotWithShape="0">
              <a:srgbClr val="000000">
                <a:alpha val="12000"/>
              </a:srgbClr>
            </a:outerShdw>
          </a:effectLst>
        </p:spPr>
        <p:txBody>
          <a:bodyPr/>
          <a:lstStyle/>
          <a:p>
            <a:endParaRPr lang="tr-TR"/>
          </a:p>
        </p:txBody>
      </p:sp>
      <p:sp>
        <p:nvSpPr>
          <p:cNvPr id="7" name="Text 5"/>
          <p:cNvSpPr/>
          <p:nvPr/>
        </p:nvSpPr>
        <p:spPr>
          <a:xfrm>
            <a:off x="365760" y="1225296"/>
            <a:ext cx="2624328" cy="530352"/>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457200" y="1792224"/>
            <a:ext cx="2441448" cy="25603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Görüntü / Video</a:t>
            </a:r>
            <a:endParaRPr lang="en-US" sz="1200" dirty="0"/>
          </a:p>
        </p:txBody>
      </p:sp>
      <p:sp>
        <p:nvSpPr>
          <p:cNvPr id="9" name="Shape 7"/>
          <p:cNvSpPr/>
          <p:nvPr/>
        </p:nvSpPr>
        <p:spPr>
          <a:xfrm>
            <a:off x="731520" y="2084832"/>
            <a:ext cx="1901952" cy="256032"/>
          </a:xfrm>
          <a:prstGeom prst="rect">
            <a:avLst/>
          </a:prstGeom>
          <a:solidFill>
            <a:srgbClr val="EF4444"/>
          </a:solidFill>
          <a:ln w="12700">
            <a:solidFill>
              <a:srgbClr val="EF4444"/>
            </a:solidFill>
            <a:prstDash val="solid"/>
          </a:ln>
        </p:spPr>
        <p:txBody>
          <a:bodyPr/>
          <a:lstStyle/>
          <a:p>
            <a:endParaRPr lang="tr-TR"/>
          </a:p>
        </p:txBody>
      </p:sp>
      <p:sp>
        <p:nvSpPr>
          <p:cNvPr id="10" name="Text 8"/>
          <p:cNvSpPr/>
          <p:nvPr/>
        </p:nvSpPr>
        <p:spPr>
          <a:xfrm>
            <a:off x="731520" y="2084832"/>
            <a:ext cx="190195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CNN</a:t>
            </a:r>
            <a:endParaRPr lang="en-US" sz="1000" dirty="0"/>
          </a:p>
        </p:txBody>
      </p:sp>
      <p:sp>
        <p:nvSpPr>
          <p:cNvPr id="11" name="Text 9"/>
          <p:cNvSpPr/>
          <p:nvPr/>
        </p:nvSpPr>
        <p:spPr>
          <a:xfrm>
            <a:off x="457200" y="2377440"/>
            <a:ext cx="2441448" cy="402336"/>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Yerel korelasyon, öteleme değişmezliği. ResNet, U-Net, EfficientNet.</a:t>
            </a:r>
            <a:endParaRPr lang="en-US" sz="800" dirty="0"/>
          </a:p>
        </p:txBody>
      </p:sp>
      <p:sp>
        <p:nvSpPr>
          <p:cNvPr id="12" name="Shape 10"/>
          <p:cNvSpPr/>
          <p:nvPr/>
        </p:nvSpPr>
        <p:spPr>
          <a:xfrm>
            <a:off x="3172968" y="1115568"/>
            <a:ext cx="2624328" cy="1737360"/>
          </a:xfrm>
          <a:prstGeom prst="rect">
            <a:avLst/>
          </a:prstGeom>
          <a:solidFill>
            <a:srgbClr val="FFFFFF"/>
          </a:solidFill>
          <a:ln w="12700">
            <a:solidFill>
              <a:srgbClr val="D97706"/>
            </a:solidFill>
            <a:prstDash val="solid"/>
          </a:ln>
          <a:effectLst>
            <a:outerShdw blurRad="127000" dist="50800" dir="8100000" algn="bl" rotWithShape="0">
              <a:srgbClr val="000000">
                <a:alpha val="12000"/>
              </a:srgbClr>
            </a:outerShdw>
          </a:effectLst>
        </p:spPr>
        <p:txBody>
          <a:bodyPr/>
          <a:lstStyle/>
          <a:p>
            <a:endParaRPr lang="tr-TR"/>
          </a:p>
        </p:txBody>
      </p:sp>
      <p:sp>
        <p:nvSpPr>
          <p:cNvPr id="13" name="Text 11"/>
          <p:cNvSpPr/>
          <p:nvPr/>
        </p:nvSpPr>
        <p:spPr>
          <a:xfrm>
            <a:off x="3172968" y="1225296"/>
            <a:ext cx="2624328" cy="530352"/>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4" name="Text 12"/>
          <p:cNvSpPr/>
          <p:nvPr/>
        </p:nvSpPr>
        <p:spPr>
          <a:xfrm>
            <a:off x="3264408" y="1792224"/>
            <a:ext cx="2441448" cy="25603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Ses / Müzik</a:t>
            </a:r>
            <a:endParaRPr lang="en-US" sz="1200" dirty="0"/>
          </a:p>
        </p:txBody>
      </p:sp>
      <p:sp>
        <p:nvSpPr>
          <p:cNvPr id="15" name="Shape 13"/>
          <p:cNvSpPr/>
          <p:nvPr/>
        </p:nvSpPr>
        <p:spPr>
          <a:xfrm>
            <a:off x="3538728" y="2084832"/>
            <a:ext cx="1901952" cy="256032"/>
          </a:xfrm>
          <a:prstGeom prst="rect">
            <a:avLst/>
          </a:prstGeom>
          <a:solidFill>
            <a:srgbClr val="D97706"/>
          </a:solidFill>
          <a:ln w="12700">
            <a:solidFill>
              <a:srgbClr val="D97706"/>
            </a:solidFill>
            <a:prstDash val="solid"/>
          </a:ln>
        </p:spPr>
        <p:txBody>
          <a:bodyPr/>
          <a:lstStyle/>
          <a:p>
            <a:endParaRPr lang="tr-TR"/>
          </a:p>
        </p:txBody>
      </p:sp>
      <p:sp>
        <p:nvSpPr>
          <p:cNvPr id="16" name="Text 14"/>
          <p:cNvSpPr/>
          <p:nvPr/>
        </p:nvSpPr>
        <p:spPr>
          <a:xfrm>
            <a:off x="3538728" y="2084832"/>
            <a:ext cx="190195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CNN/LSTM</a:t>
            </a:r>
            <a:endParaRPr lang="en-US" sz="1000" dirty="0"/>
          </a:p>
        </p:txBody>
      </p:sp>
      <p:sp>
        <p:nvSpPr>
          <p:cNvPr id="17" name="Text 15"/>
          <p:cNvSpPr/>
          <p:nvPr/>
        </p:nvSpPr>
        <p:spPr>
          <a:xfrm>
            <a:off x="3264408" y="2377440"/>
            <a:ext cx="2441448" cy="402336"/>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Kısa özellikler CNN; uzun bağımlılık ve zaman serisi LSTM ile ele alınır.</a:t>
            </a:r>
            <a:endParaRPr lang="en-US" sz="800" dirty="0"/>
          </a:p>
        </p:txBody>
      </p:sp>
      <p:sp>
        <p:nvSpPr>
          <p:cNvPr id="18" name="Shape 16"/>
          <p:cNvSpPr/>
          <p:nvPr/>
        </p:nvSpPr>
        <p:spPr>
          <a:xfrm>
            <a:off x="5980176" y="1115568"/>
            <a:ext cx="2624328" cy="1737360"/>
          </a:xfrm>
          <a:prstGeom prst="rect">
            <a:avLst/>
          </a:prstGeom>
          <a:solidFill>
            <a:srgbClr val="FFFFFF"/>
          </a:solidFill>
          <a:ln w="12700">
            <a:solidFill>
              <a:srgbClr val="7C3AED"/>
            </a:solidFill>
            <a:prstDash val="solid"/>
          </a:ln>
          <a:effectLst>
            <a:outerShdw blurRad="127000" dist="50800" dir="8100000" algn="bl" rotWithShape="0">
              <a:srgbClr val="000000">
                <a:alpha val="12000"/>
              </a:srgbClr>
            </a:outerShdw>
          </a:effectLst>
        </p:spPr>
        <p:txBody>
          <a:bodyPr/>
          <a:lstStyle/>
          <a:p>
            <a:endParaRPr lang="tr-TR"/>
          </a:p>
        </p:txBody>
      </p:sp>
      <p:sp>
        <p:nvSpPr>
          <p:cNvPr id="19" name="Text 17"/>
          <p:cNvSpPr/>
          <p:nvPr/>
        </p:nvSpPr>
        <p:spPr>
          <a:xfrm>
            <a:off x="5980176" y="1225296"/>
            <a:ext cx="2624328" cy="530352"/>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0" name="Text 18"/>
          <p:cNvSpPr/>
          <p:nvPr/>
        </p:nvSpPr>
        <p:spPr>
          <a:xfrm>
            <a:off x="6071616" y="1792224"/>
            <a:ext cx="2441448" cy="25603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Metin (NLP)</a:t>
            </a:r>
            <a:endParaRPr lang="en-US" sz="1200" dirty="0"/>
          </a:p>
        </p:txBody>
      </p:sp>
      <p:sp>
        <p:nvSpPr>
          <p:cNvPr id="21" name="Shape 19"/>
          <p:cNvSpPr/>
          <p:nvPr/>
        </p:nvSpPr>
        <p:spPr>
          <a:xfrm>
            <a:off x="6345936" y="2084832"/>
            <a:ext cx="1901952" cy="256032"/>
          </a:xfrm>
          <a:prstGeom prst="rect">
            <a:avLst/>
          </a:prstGeom>
          <a:solidFill>
            <a:srgbClr val="7C3AED"/>
          </a:solidFill>
          <a:ln w="12700">
            <a:solidFill>
              <a:srgbClr val="7C3AED"/>
            </a:solidFill>
            <a:prstDash val="solid"/>
          </a:ln>
        </p:spPr>
        <p:txBody>
          <a:bodyPr/>
          <a:lstStyle/>
          <a:p>
            <a:endParaRPr lang="tr-TR"/>
          </a:p>
        </p:txBody>
      </p:sp>
      <p:sp>
        <p:nvSpPr>
          <p:cNvPr id="22" name="Text 20"/>
          <p:cNvSpPr/>
          <p:nvPr/>
        </p:nvSpPr>
        <p:spPr>
          <a:xfrm>
            <a:off x="6345936" y="2084832"/>
            <a:ext cx="190195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LSTM/CNN</a:t>
            </a:r>
            <a:endParaRPr lang="en-US" sz="1000" dirty="0"/>
          </a:p>
        </p:txBody>
      </p:sp>
      <p:sp>
        <p:nvSpPr>
          <p:cNvPr id="23" name="Text 21"/>
          <p:cNvSpPr/>
          <p:nvPr/>
        </p:nvSpPr>
        <p:spPr>
          <a:xfrm>
            <a:off x="6071616" y="2377440"/>
            <a:ext cx="2441448" cy="402336"/>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Sıralı bağımlılık LSTM; yerel n-gram özellikleri CNN. Transformer da kullanılır.</a:t>
            </a:r>
            <a:endParaRPr lang="en-US" sz="800" dirty="0"/>
          </a:p>
        </p:txBody>
      </p:sp>
      <p:sp>
        <p:nvSpPr>
          <p:cNvPr id="24" name="Shape 22"/>
          <p:cNvSpPr/>
          <p:nvPr/>
        </p:nvSpPr>
        <p:spPr>
          <a:xfrm>
            <a:off x="365760" y="3017520"/>
            <a:ext cx="2624328" cy="1737360"/>
          </a:xfrm>
          <a:prstGeom prst="rect">
            <a:avLst/>
          </a:prstGeom>
          <a:solidFill>
            <a:srgbClr val="FFFFFF"/>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25" name="Text 23"/>
          <p:cNvSpPr/>
          <p:nvPr/>
        </p:nvSpPr>
        <p:spPr>
          <a:xfrm>
            <a:off x="365760" y="3127248"/>
            <a:ext cx="2624328" cy="530352"/>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6" name="Text 24"/>
          <p:cNvSpPr/>
          <p:nvPr/>
        </p:nvSpPr>
        <p:spPr>
          <a:xfrm>
            <a:off x="457200" y="3694176"/>
            <a:ext cx="2441448" cy="25603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Tablolu Veri</a:t>
            </a:r>
            <a:endParaRPr lang="en-US" sz="1200" dirty="0"/>
          </a:p>
        </p:txBody>
      </p:sp>
      <p:sp>
        <p:nvSpPr>
          <p:cNvPr id="27" name="Shape 25"/>
          <p:cNvSpPr/>
          <p:nvPr/>
        </p:nvSpPr>
        <p:spPr>
          <a:xfrm>
            <a:off x="731520" y="3986784"/>
            <a:ext cx="1901952" cy="256032"/>
          </a:xfrm>
          <a:prstGeom prst="rect">
            <a:avLst/>
          </a:prstGeom>
          <a:solidFill>
            <a:srgbClr val="0891B2"/>
          </a:solidFill>
          <a:ln w="12700">
            <a:solidFill>
              <a:srgbClr val="0891B2"/>
            </a:solidFill>
            <a:prstDash val="solid"/>
          </a:ln>
        </p:spPr>
        <p:txBody>
          <a:bodyPr/>
          <a:lstStyle/>
          <a:p>
            <a:endParaRPr lang="tr-TR"/>
          </a:p>
        </p:txBody>
      </p:sp>
      <p:sp>
        <p:nvSpPr>
          <p:cNvPr id="28" name="Text 26"/>
          <p:cNvSpPr/>
          <p:nvPr/>
        </p:nvSpPr>
        <p:spPr>
          <a:xfrm>
            <a:off x="731520" y="3986784"/>
            <a:ext cx="190195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D-FFNN</a:t>
            </a:r>
            <a:endParaRPr lang="en-US" sz="1000" dirty="0"/>
          </a:p>
        </p:txBody>
      </p:sp>
      <p:sp>
        <p:nvSpPr>
          <p:cNvPr id="29" name="Text 27"/>
          <p:cNvSpPr/>
          <p:nvPr/>
        </p:nvSpPr>
        <p:spPr>
          <a:xfrm>
            <a:off x="457200" y="4279392"/>
            <a:ext cx="2441448" cy="402336"/>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Yapılandırılmış, ilişkisel veri. Tüm özellik etkileşimlerini öğrenir.</a:t>
            </a:r>
            <a:endParaRPr lang="en-US" sz="800" dirty="0"/>
          </a:p>
        </p:txBody>
      </p:sp>
      <p:sp>
        <p:nvSpPr>
          <p:cNvPr id="30" name="Shape 28"/>
          <p:cNvSpPr/>
          <p:nvPr/>
        </p:nvSpPr>
        <p:spPr>
          <a:xfrm>
            <a:off x="3172968" y="3017520"/>
            <a:ext cx="2624328" cy="1737360"/>
          </a:xfrm>
          <a:prstGeom prst="rect">
            <a:avLst/>
          </a:prstGeom>
          <a:solidFill>
            <a:srgbClr val="FFFFFF"/>
          </a:solidFill>
          <a:ln w="12700">
            <a:solidFill>
              <a:srgbClr val="059669"/>
            </a:solidFill>
            <a:prstDash val="solid"/>
          </a:ln>
          <a:effectLst>
            <a:outerShdw blurRad="127000" dist="50800" dir="8100000" algn="bl" rotWithShape="0">
              <a:srgbClr val="000000">
                <a:alpha val="12000"/>
              </a:srgbClr>
            </a:outerShdw>
          </a:effectLst>
        </p:spPr>
        <p:txBody>
          <a:bodyPr/>
          <a:lstStyle/>
          <a:p>
            <a:endParaRPr lang="tr-TR"/>
          </a:p>
        </p:txBody>
      </p:sp>
      <p:sp>
        <p:nvSpPr>
          <p:cNvPr id="31" name="Text 29"/>
          <p:cNvSpPr/>
          <p:nvPr/>
        </p:nvSpPr>
        <p:spPr>
          <a:xfrm>
            <a:off x="3172968" y="3127248"/>
            <a:ext cx="2624328" cy="530352"/>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32" name="Text 30"/>
          <p:cNvSpPr/>
          <p:nvPr/>
        </p:nvSpPr>
        <p:spPr>
          <a:xfrm>
            <a:off x="3264408" y="3694176"/>
            <a:ext cx="2441448" cy="25603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Genomik / Omiks</a:t>
            </a:r>
            <a:endParaRPr lang="en-US" sz="1200" dirty="0"/>
          </a:p>
        </p:txBody>
      </p:sp>
      <p:sp>
        <p:nvSpPr>
          <p:cNvPr id="33" name="Shape 31"/>
          <p:cNvSpPr/>
          <p:nvPr/>
        </p:nvSpPr>
        <p:spPr>
          <a:xfrm>
            <a:off x="3538728" y="3986784"/>
            <a:ext cx="1901952" cy="256032"/>
          </a:xfrm>
          <a:prstGeom prst="rect">
            <a:avLst/>
          </a:prstGeom>
          <a:solidFill>
            <a:srgbClr val="059669"/>
          </a:solidFill>
          <a:ln w="12700">
            <a:solidFill>
              <a:srgbClr val="059669"/>
            </a:solidFill>
            <a:prstDash val="solid"/>
          </a:ln>
        </p:spPr>
        <p:txBody>
          <a:bodyPr/>
          <a:lstStyle/>
          <a:p>
            <a:endParaRPr lang="tr-TR"/>
          </a:p>
        </p:txBody>
      </p:sp>
      <p:sp>
        <p:nvSpPr>
          <p:cNvPr id="34" name="Text 32"/>
          <p:cNvSpPr/>
          <p:nvPr/>
        </p:nvSpPr>
        <p:spPr>
          <a:xfrm>
            <a:off x="3538728" y="3986784"/>
            <a:ext cx="190195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DBN/CNN</a:t>
            </a:r>
            <a:endParaRPr lang="en-US" sz="1000" dirty="0"/>
          </a:p>
        </p:txBody>
      </p:sp>
      <p:sp>
        <p:nvSpPr>
          <p:cNvPr id="35" name="Text 33"/>
          <p:cNvSpPr/>
          <p:nvPr/>
        </p:nvSpPr>
        <p:spPr>
          <a:xfrm>
            <a:off x="3264408" y="4279392"/>
            <a:ext cx="2441448" cy="402336"/>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Gürültülü, yüksek boyutlu. Ön-eğitim kritik. RBM tabanlı ön-eğitim.</a:t>
            </a:r>
            <a:endParaRPr lang="en-US" sz="800" dirty="0"/>
          </a:p>
        </p:txBody>
      </p:sp>
      <p:sp>
        <p:nvSpPr>
          <p:cNvPr id="36" name="Shape 34"/>
          <p:cNvSpPr/>
          <p:nvPr/>
        </p:nvSpPr>
        <p:spPr>
          <a:xfrm>
            <a:off x="5980176" y="3017520"/>
            <a:ext cx="2624328" cy="1737360"/>
          </a:xfrm>
          <a:prstGeom prst="rect">
            <a:avLst/>
          </a:prstGeom>
          <a:solidFill>
            <a:srgbClr val="FFFFFF"/>
          </a:solidFill>
          <a:ln w="12700">
            <a:solidFill>
              <a:srgbClr val="0284C7"/>
            </a:solidFill>
            <a:prstDash val="solid"/>
          </a:ln>
          <a:effectLst>
            <a:outerShdw blurRad="127000" dist="50800" dir="8100000" algn="bl" rotWithShape="0">
              <a:srgbClr val="000000">
                <a:alpha val="12000"/>
              </a:srgbClr>
            </a:outerShdw>
          </a:effectLst>
        </p:spPr>
        <p:txBody>
          <a:bodyPr/>
          <a:lstStyle/>
          <a:p>
            <a:endParaRPr lang="tr-TR"/>
          </a:p>
        </p:txBody>
      </p:sp>
      <p:sp>
        <p:nvSpPr>
          <p:cNvPr id="37" name="Text 35"/>
          <p:cNvSpPr/>
          <p:nvPr/>
        </p:nvSpPr>
        <p:spPr>
          <a:xfrm>
            <a:off x="5980176" y="3127248"/>
            <a:ext cx="2624328" cy="530352"/>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38" name="Text 36"/>
          <p:cNvSpPr/>
          <p:nvPr/>
        </p:nvSpPr>
        <p:spPr>
          <a:xfrm>
            <a:off x="6071616" y="3694176"/>
            <a:ext cx="2441448" cy="256032"/>
          </a:xfrm>
          <a:prstGeom prst="rect">
            <a:avLst/>
          </a:prstGeom>
          <a:noFill/>
          <a:ln/>
        </p:spPr>
        <p:txBody>
          <a:bodyPr wrap="square" lIns="0" tIns="0" rIns="0" bIns="0"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Graf Verisi</a:t>
            </a:r>
            <a:endParaRPr lang="en-US" sz="1200" dirty="0"/>
          </a:p>
        </p:txBody>
      </p:sp>
      <p:sp>
        <p:nvSpPr>
          <p:cNvPr id="39" name="Shape 37"/>
          <p:cNvSpPr/>
          <p:nvPr/>
        </p:nvSpPr>
        <p:spPr>
          <a:xfrm>
            <a:off x="6345936" y="3986784"/>
            <a:ext cx="1901952" cy="256032"/>
          </a:xfrm>
          <a:prstGeom prst="rect">
            <a:avLst/>
          </a:prstGeom>
          <a:solidFill>
            <a:srgbClr val="0284C7"/>
          </a:solidFill>
          <a:ln w="12700">
            <a:solidFill>
              <a:srgbClr val="0284C7"/>
            </a:solidFill>
            <a:prstDash val="solid"/>
          </a:ln>
        </p:spPr>
        <p:txBody>
          <a:bodyPr/>
          <a:lstStyle/>
          <a:p>
            <a:endParaRPr lang="tr-TR"/>
          </a:p>
        </p:txBody>
      </p:sp>
      <p:sp>
        <p:nvSpPr>
          <p:cNvPr id="40" name="Text 38"/>
          <p:cNvSpPr/>
          <p:nvPr/>
        </p:nvSpPr>
        <p:spPr>
          <a:xfrm>
            <a:off x="6345936" y="3986784"/>
            <a:ext cx="190195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GCN/GAT</a:t>
            </a:r>
            <a:endParaRPr lang="en-US" sz="1000" dirty="0"/>
          </a:p>
        </p:txBody>
      </p:sp>
      <p:sp>
        <p:nvSpPr>
          <p:cNvPr id="41" name="Text 39"/>
          <p:cNvSpPr/>
          <p:nvPr/>
        </p:nvSpPr>
        <p:spPr>
          <a:xfrm>
            <a:off x="6071616" y="4279392"/>
            <a:ext cx="2441448" cy="402336"/>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Düzenli olmayan veri. Düğüm komşuluk bilgisi. Kimya, sosyal ağ.</a:t>
            </a:r>
            <a:endParaRPr lang="en-US" sz="800" dirty="0"/>
          </a:p>
        </p:txBody>
      </p:sp>
      <p:sp>
        <p:nvSpPr>
          <p:cNvPr id="42" name="Shape 40"/>
          <p:cNvSpPr/>
          <p:nvPr/>
        </p:nvSpPr>
        <p:spPr>
          <a:xfrm>
            <a:off x="365760" y="4754880"/>
            <a:ext cx="8412480" cy="274320"/>
          </a:xfrm>
          <a:prstGeom prst="rect">
            <a:avLst/>
          </a:prstGeom>
          <a:solidFill>
            <a:srgbClr val="FFF7ED"/>
          </a:solidFill>
          <a:ln w="12700">
            <a:solidFill>
              <a:srgbClr val="D97706"/>
            </a:solidFill>
            <a:prstDash val="solid"/>
          </a:ln>
        </p:spPr>
        <p:txBody>
          <a:bodyPr/>
          <a:lstStyle/>
          <a:p>
            <a:endParaRPr lang="tr-TR"/>
          </a:p>
        </p:txBody>
      </p:sp>
      <p:sp>
        <p:nvSpPr>
          <p:cNvPr id="43" name="Text 41"/>
          <p:cNvSpPr/>
          <p:nvPr/>
        </p:nvSpPr>
        <p:spPr>
          <a:xfrm>
            <a:off x="502920" y="4754880"/>
            <a:ext cx="8229600" cy="274320"/>
          </a:xfrm>
          <a:prstGeom prst="rect">
            <a:avLst/>
          </a:prstGeom>
          <a:noFill/>
          <a:ln/>
        </p:spPr>
        <p:txBody>
          <a:bodyPr wrap="square" lIns="0" tIns="0" rIns="0" bIns="0" rtlCol="0" anchor="ctr"/>
          <a:lstStyle/>
          <a:p>
            <a:pPr marL="0" indent="0">
              <a:buNone/>
            </a:pPr>
            <a:r>
              <a:rPr lang="en-US" sz="850" i="1" dirty="0">
                <a:solidFill>
                  <a:srgbClr val="92400E"/>
                </a:solidFill>
                <a:latin typeface="Calibri" pitchFamily="34" charset="0"/>
                <a:ea typeface="Calibri" pitchFamily="34" charset="-122"/>
                <a:cs typeface="Calibri" pitchFamily="34" charset="-120"/>
              </a:rPr>
              <a:t>⚠️  Örtüşen alanlar: Uygulama alanları genellikle birden fazla model türüne uyar. En iyi modeli bulmak için sistematik karşılaştırmalı değerlendirme şarttır. Veri miktarı, hesaplama kaynakları ve yorumlanabilirlik gereksinimleri de belirleyicidir.</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097280" y="-457200"/>
            <a:ext cx="4572000" cy="4572000"/>
          </a:xfrm>
          <a:prstGeom prst="ellipse">
            <a:avLst/>
          </a:prstGeom>
          <a:solidFill>
            <a:srgbClr val="0891B2">
              <a:alpha val="15000"/>
            </a:srgbClr>
          </a:solidFill>
          <a:ln w="12700">
            <a:solidFill>
              <a:srgbClr val="0891B2">
                <a:alpha val="10000"/>
              </a:srgbClr>
            </a:solidFill>
            <a:prstDash val="solid"/>
          </a:ln>
        </p:spPr>
        <p:txBody>
          <a:bodyPr/>
          <a:lstStyle/>
          <a:p>
            <a:endParaRPr lang="tr-TR"/>
          </a:p>
        </p:txBody>
      </p:sp>
      <p:sp>
        <p:nvSpPr>
          <p:cNvPr id="3" name="Shape 1"/>
          <p:cNvSpPr/>
          <p:nvPr/>
        </p:nvSpPr>
        <p:spPr>
          <a:xfrm>
            <a:off x="6583680" y="2011680"/>
            <a:ext cx="3657600" cy="3657600"/>
          </a:xfrm>
          <a:prstGeom prst="ellipse">
            <a:avLst/>
          </a:prstGeom>
          <a:solidFill>
            <a:srgbClr val="7C3AED">
              <a:alpha val="15000"/>
            </a:srgbClr>
          </a:solidFill>
          <a:ln w="12700">
            <a:solidFill>
              <a:srgbClr val="7C3AED">
                <a:alpha val="10000"/>
              </a:srgbClr>
            </a:solidFill>
            <a:prstDash val="solid"/>
          </a:ln>
        </p:spPr>
        <p:txBody>
          <a:bodyPr/>
          <a:lstStyle/>
          <a:p>
            <a:endParaRPr lang="tr-TR"/>
          </a:p>
        </p:txBody>
      </p:sp>
      <p:sp>
        <p:nvSpPr>
          <p:cNvPr id="4" name="Text 2"/>
          <p:cNvSpPr/>
          <p:nvPr/>
        </p:nvSpPr>
        <p:spPr>
          <a:xfrm>
            <a:off x="457200" y="320040"/>
            <a:ext cx="5029200" cy="411480"/>
          </a:xfrm>
          <a:prstGeom prst="rect">
            <a:avLst/>
          </a:prstGeom>
          <a:noFill/>
          <a:ln/>
        </p:spPr>
        <p:txBody>
          <a:bodyPr wrap="square" lIns="0" tIns="0" rIns="0" bIns="0" rtlCol="0" anchor="ctr"/>
          <a:lstStyle/>
          <a:p>
            <a:pPr marL="0" indent="0">
              <a:buNone/>
            </a:pPr>
            <a:r>
              <a:rPr lang="en-US" sz="1800" b="1" dirty="0">
                <a:solidFill>
                  <a:srgbClr val="0891B2"/>
                </a:solidFill>
                <a:latin typeface="Calibri" pitchFamily="34" charset="0"/>
                <a:ea typeface="Calibri" pitchFamily="34" charset="-122"/>
                <a:cs typeface="Calibri" pitchFamily="34" charset="-120"/>
              </a:rPr>
              <a:t>Özet &amp; Kapanış</a:t>
            </a:r>
            <a:endParaRPr lang="en-US" sz="1800" dirty="0"/>
          </a:p>
        </p:txBody>
      </p:sp>
      <p:sp>
        <p:nvSpPr>
          <p:cNvPr id="5" name="Shape 3"/>
          <p:cNvSpPr/>
          <p:nvPr/>
        </p:nvSpPr>
        <p:spPr>
          <a:xfrm>
            <a:off x="411480" y="859536"/>
            <a:ext cx="4480560" cy="493776"/>
          </a:xfrm>
          <a:prstGeom prst="rect">
            <a:avLst/>
          </a:prstGeom>
          <a:solidFill>
            <a:srgbClr val="243B55"/>
          </a:solidFill>
          <a:ln w="12700">
            <a:solidFill>
              <a:srgbClr val="243B55"/>
            </a:solidFill>
            <a:prstDash val="solid"/>
          </a:ln>
        </p:spPr>
        <p:txBody>
          <a:bodyPr/>
          <a:lstStyle/>
          <a:p>
            <a:endParaRPr lang="tr-TR"/>
          </a:p>
        </p:txBody>
      </p:sp>
      <p:sp>
        <p:nvSpPr>
          <p:cNvPr id="6" name="Text 4"/>
          <p:cNvSpPr/>
          <p:nvPr/>
        </p:nvSpPr>
        <p:spPr>
          <a:xfrm>
            <a:off x="411480" y="859536"/>
            <a:ext cx="502920" cy="49377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7" name="Text 5"/>
          <p:cNvSpPr/>
          <p:nvPr/>
        </p:nvSpPr>
        <p:spPr>
          <a:xfrm>
            <a:off x="950976" y="896112"/>
            <a:ext cx="3858768" cy="201168"/>
          </a:xfrm>
          <a:prstGeom prst="rect">
            <a:avLst/>
          </a:prstGeom>
          <a:noFill/>
          <a:ln/>
        </p:spPr>
        <p:txBody>
          <a:bodyPr wrap="square" lIns="0" tIns="0" rIns="0" bIns="0" rtlCol="0" anchor="ctr"/>
          <a:lstStyle/>
          <a:p>
            <a:pPr marL="0" indent="0">
              <a:buNone/>
            </a:pPr>
            <a:r>
              <a:rPr lang="en-US" sz="1050" b="1" dirty="0">
                <a:solidFill>
                  <a:srgbClr val="06B6D4"/>
                </a:solidFill>
                <a:latin typeface="Calibri" pitchFamily="34" charset="0"/>
                <a:ea typeface="Calibri" pitchFamily="34" charset="-122"/>
                <a:cs typeface="Calibri" pitchFamily="34" charset="-120"/>
              </a:rPr>
              <a:t>Temel Mimari Bloklar</a:t>
            </a:r>
            <a:endParaRPr lang="en-US" sz="1050" dirty="0"/>
          </a:p>
        </p:txBody>
      </p:sp>
      <p:sp>
        <p:nvSpPr>
          <p:cNvPr id="8" name="Text 6"/>
          <p:cNvSpPr/>
          <p:nvPr/>
        </p:nvSpPr>
        <p:spPr>
          <a:xfrm>
            <a:off x="950976" y="1097280"/>
            <a:ext cx="3858768" cy="237744"/>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D-FFNN, CNN, DBN, Autoencoder, LSTM — derin öğrenmenin 5 çekirdek modeli.</a:t>
            </a:r>
            <a:endParaRPr lang="en-US" sz="900" dirty="0"/>
          </a:p>
        </p:txBody>
      </p:sp>
      <p:sp>
        <p:nvSpPr>
          <p:cNvPr id="9" name="Shape 7"/>
          <p:cNvSpPr/>
          <p:nvPr/>
        </p:nvSpPr>
        <p:spPr>
          <a:xfrm>
            <a:off x="411480" y="1426464"/>
            <a:ext cx="4480560" cy="493776"/>
          </a:xfrm>
          <a:prstGeom prst="rect">
            <a:avLst/>
          </a:prstGeom>
          <a:solidFill>
            <a:srgbClr val="243B55"/>
          </a:solidFill>
          <a:ln w="12700">
            <a:solidFill>
              <a:srgbClr val="243B55"/>
            </a:solidFill>
            <a:prstDash val="solid"/>
          </a:ln>
        </p:spPr>
        <p:txBody>
          <a:bodyPr/>
          <a:lstStyle/>
          <a:p>
            <a:endParaRPr lang="tr-TR"/>
          </a:p>
        </p:txBody>
      </p:sp>
      <p:sp>
        <p:nvSpPr>
          <p:cNvPr id="10" name="Text 8"/>
          <p:cNvSpPr/>
          <p:nvPr/>
        </p:nvSpPr>
        <p:spPr>
          <a:xfrm>
            <a:off x="411480" y="1426464"/>
            <a:ext cx="502920" cy="49377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1" name="Text 9"/>
          <p:cNvSpPr/>
          <p:nvPr/>
        </p:nvSpPr>
        <p:spPr>
          <a:xfrm>
            <a:off x="950976" y="1463040"/>
            <a:ext cx="3858768" cy="201168"/>
          </a:xfrm>
          <a:prstGeom prst="rect">
            <a:avLst/>
          </a:prstGeom>
          <a:noFill/>
          <a:ln/>
        </p:spPr>
        <p:txBody>
          <a:bodyPr wrap="square" lIns="0" tIns="0" rIns="0" bIns="0" rtlCol="0" anchor="ctr"/>
          <a:lstStyle/>
          <a:p>
            <a:pPr marL="0" indent="0">
              <a:buNone/>
            </a:pPr>
            <a:r>
              <a:rPr lang="en-US" sz="1050" b="1" dirty="0">
                <a:solidFill>
                  <a:srgbClr val="06B6D4"/>
                </a:solidFill>
                <a:latin typeface="Calibri" pitchFamily="34" charset="0"/>
                <a:ea typeface="Calibri" pitchFamily="34" charset="-122"/>
                <a:cs typeface="Calibri" pitchFamily="34" charset="-120"/>
              </a:rPr>
              <a:t>Lego Prensibi</a:t>
            </a:r>
            <a:endParaRPr lang="en-US" sz="1050" dirty="0"/>
          </a:p>
        </p:txBody>
      </p:sp>
      <p:sp>
        <p:nvSpPr>
          <p:cNvPr id="12" name="Text 10"/>
          <p:cNvSpPr/>
          <p:nvPr/>
        </p:nvSpPr>
        <p:spPr>
          <a:xfrm>
            <a:off x="950976" y="1664208"/>
            <a:ext cx="3858768" cy="237744"/>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Bu bloklar birleştirilerek sonsuz sayıda özel mimari oluşturulabilir.</a:t>
            </a:r>
            <a:endParaRPr lang="en-US" sz="900" dirty="0"/>
          </a:p>
        </p:txBody>
      </p:sp>
      <p:sp>
        <p:nvSpPr>
          <p:cNvPr id="13" name="Shape 11"/>
          <p:cNvSpPr/>
          <p:nvPr/>
        </p:nvSpPr>
        <p:spPr>
          <a:xfrm>
            <a:off x="411480" y="1993392"/>
            <a:ext cx="4480560" cy="493776"/>
          </a:xfrm>
          <a:prstGeom prst="rect">
            <a:avLst/>
          </a:prstGeom>
          <a:solidFill>
            <a:srgbClr val="243B55"/>
          </a:solidFill>
          <a:ln w="12700">
            <a:solidFill>
              <a:srgbClr val="243B55"/>
            </a:solidFill>
            <a:prstDash val="solid"/>
          </a:ln>
        </p:spPr>
        <p:txBody>
          <a:bodyPr/>
          <a:lstStyle/>
          <a:p>
            <a:endParaRPr lang="tr-TR"/>
          </a:p>
        </p:txBody>
      </p:sp>
      <p:sp>
        <p:nvSpPr>
          <p:cNvPr id="14" name="Text 12"/>
          <p:cNvSpPr/>
          <p:nvPr/>
        </p:nvSpPr>
        <p:spPr>
          <a:xfrm>
            <a:off x="411480" y="1993392"/>
            <a:ext cx="502920" cy="49377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950976" y="2029968"/>
            <a:ext cx="3858768" cy="201168"/>
          </a:xfrm>
          <a:prstGeom prst="rect">
            <a:avLst/>
          </a:prstGeom>
          <a:noFill/>
          <a:ln/>
        </p:spPr>
        <p:txBody>
          <a:bodyPr wrap="square" lIns="0" tIns="0" rIns="0" bIns="0" rtlCol="0" anchor="ctr"/>
          <a:lstStyle/>
          <a:p>
            <a:pPr marL="0" indent="0">
              <a:buNone/>
            </a:pPr>
            <a:r>
              <a:rPr lang="en-US" sz="1050" b="1" dirty="0">
                <a:solidFill>
                  <a:srgbClr val="06B6D4"/>
                </a:solidFill>
                <a:latin typeface="Calibri" pitchFamily="34" charset="0"/>
                <a:ea typeface="Calibri" pitchFamily="34" charset="-122"/>
                <a:cs typeface="Calibri" pitchFamily="34" charset="-120"/>
              </a:rPr>
              <a:t>Temsil Öğrenimi</a:t>
            </a:r>
            <a:endParaRPr lang="en-US" sz="1050" dirty="0"/>
          </a:p>
        </p:txBody>
      </p:sp>
      <p:sp>
        <p:nvSpPr>
          <p:cNvPr id="16" name="Text 14"/>
          <p:cNvSpPr/>
          <p:nvPr/>
        </p:nvSpPr>
        <p:spPr>
          <a:xfrm>
            <a:off x="950976" y="2231136"/>
            <a:ext cx="3858768" cy="237744"/>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Tüm DÖ modelleri ham veriden hiyerarşik, doğrusal olmayan temsiller öğrenir.</a:t>
            </a:r>
            <a:endParaRPr lang="en-US" sz="900" dirty="0"/>
          </a:p>
        </p:txBody>
      </p:sp>
      <p:sp>
        <p:nvSpPr>
          <p:cNvPr id="17" name="Shape 15"/>
          <p:cNvSpPr/>
          <p:nvPr/>
        </p:nvSpPr>
        <p:spPr>
          <a:xfrm>
            <a:off x="411480" y="2560320"/>
            <a:ext cx="4480560" cy="493776"/>
          </a:xfrm>
          <a:prstGeom prst="rect">
            <a:avLst/>
          </a:prstGeom>
          <a:solidFill>
            <a:srgbClr val="243B55"/>
          </a:solidFill>
          <a:ln w="12700">
            <a:solidFill>
              <a:srgbClr val="243B55"/>
            </a:solidFill>
            <a:prstDash val="solid"/>
          </a:ln>
        </p:spPr>
        <p:txBody>
          <a:bodyPr/>
          <a:lstStyle/>
          <a:p>
            <a:endParaRPr lang="tr-TR"/>
          </a:p>
        </p:txBody>
      </p:sp>
      <p:sp>
        <p:nvSpPr>
          <p:cNvPr id="18" name="Text 16"/>
          <p:cNvSpPr/>
          <p:nvPr/>
        </p:nvSpPr>
        <p:spPr>
          <a:xfrm>
            <a:off x="411480" y="2560320"/>
            <a:ext cx="502920" cy="49377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9" name="Text 17"/>
          <p:cNvSpPr/>
          <p:nvPr/>
        </p:nvSpPr>
        <p:spPr>
          <a:xfrm>
            <a:off x="950976" y="2596896"/>
            <a:ext cx="3858768" cy="201168"/>
          </a:xfrm>
          <a:prstGeom prst="rect">
            <a:avLst/>
          </a:prstGeom>
          <a:noFill/>
          <a:ln/>
        </p:spPr>
        <p:txBody>
          <a:bodyPr wrap="square" lIns="0" tIns="0" rIns="0" bIns="0" rtlCol="0" anchor="ctr"/>
          <a:lstStyle/>
          <a:p>
            <a:pPr marL="0" indent="0">
              <a:buNone/>
            </a:pPr>
            <a:r>
              <a:rPr lang="en-US" sz="1050" b="1" dirty="0">
                <a:solidFill>
                  <a:srgbClr val="06B6D4"/>
                </a:solidFill>
                <a:latin typeface="Calibri" pitchFamily="34" charset="0"/>
                <a:ea typeface="Calibri" pitchFamily="34" charset="-122"/>
                <a:cs typeface="Calibri" pitchFamily="34" charset="-120"/>
              </a:rPr>
              <a:t>Büyük Veri Şartı</a:t>
            </a:r>
            <a:endParaRPr lang="en-US" sz="1050" dirty="0"/>
          </a:p>
        </p:txBody>
      </p:sp>
      <p:sp>
        <p:nvSpPr>
          <p:cNvPr id="20" name="Text 18"/>
          <p:cNvSpPr/>
          <p:nvPr/>
        </p:nvSpPr>
        <p:spPr>
          <a:xfrm>
            <a:off x="950976" y="2798064"/>
            <a:ext cx="3858768" cy="237744"/>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&gt;25.000 eğitim örneği — basit bir MNIST problemi bile bu kadar gerektirir.</a:t>
            </a:r>
            <a:endParaRPr lang="en-US" sz="900" dirty="0"/>
          </a:p>
        </p:txBody>
      </p:sp>
      <p:sp>
        <p:nvSpPr>
          <p:cNvPr id="21" name="Shape 19"/>
          <p:cNvSpPr/>
          <p:nvPr/>
        </p:nvSpPr>
        <p:spPr>
          <a:xfrm>
            <a:off x="411480" y="3127248"/>
            <a:ext cx="4480560" cy="493776"/>
          </a:xfrm>
          <a:prstGeom prst="rect">
            <a:avLst/>
          </a:prstGeom>
          <a:solidFill>
            <a:srgbClr val="243B55"/>
          </a:solidFill>
          <a:ln w="12700">
            <a:solidFill>
              <a:srgbClr val="243B55"/>
            </a:solidFill>
            <a:prstDash val="solid"/>
          </a:ln>
        </p:spPr>
        <p:txBody>
          <a:bodyPr/>
          <a:lstStyle/>
          <a:p>
            <a:endParaRPr lang="tr-TR"/>
          </a:p>
        </p:txBody>
      </p:sp>
      <p:sp>
        <p:nvSpPr>
          <p:cNvPr id="22" name="Text 20"/>
          <p:cNvSpPr/>
          <p:nvPr/>
        </p:nvSpPr>
        <p:spPr>
          <a:xfrm>
            <a:off x="411480" y="3127248"/>
            <a:ext cx="502920" cy="49377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3" name="Text 21"/>
          <p:cNvSpPr/>
          <p:nvPr/>
        </p:nvSpPr>
        <p:spPr>
          <a:xfrm>
            <a:off x="950976" y="3163824"/>
            <a:ext cx="3858768" cy="201168"/>
          </a:xfrm>
          <a:prstGeom prst="rect">
            <a:avLst/>
          </a:prstGeom>
          <a:noFill/>
          <a:ln/>
        </p:spPr>
        <p:txBody>
          <a:bodyPr wrap="square" lIns="0" tIns="0" rIns="0" bIns="0" rtlCol="0" anchor="ctr"/>
          <a:lstStyle/>
          <a:p>
            <a:pPr marL="0" indent="0">
              <a:buNone/>
            </a:pPr>
            <a:r>
              <a:rPr lang="en-US" sz="1050" b="1" dirty="0">
                <a:solidFill>
                  <a:srgbClr val="06B6D4"/>
                </a:solidFill>
                <a:latin typeface="Calibri" pitchFamily="34" charset="0"/>
                <a:ea typeface="Calibri" pitchFamily="34" charset="-122"/>
                <a:cs typeface="Calibri" pitchFamily="34" charset="-120"/>
              </a:rPr>
              <a:t>Model-Veri Eşleştirmesi</a:t>
            </a:r>
            <a:endParaRPr lang="en-US" sz="1050" dirty="0"/>
          </a:p>
        </p:txBody>
      </p:sp>
      <p:sp>
        <p:nvSpPr>
          <p:cNvPr id="24" name="Text 22"/>
          <p:cNvSpPr/>
          <p:nvPr/>
        </p:nvSpPr>
        <p:spPr>
          <a:xfrm>
            <a:off x="950976" y="3364992"/>
            <a:ext cx="3858768" cy="237744"/>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CNN→görüntü; LSTM→sıralı; DBN→ön-eğitim; AE→boyut indirgeme.</a:t>
            </a:r>
            <a:endParaRPr lang="en-US" sz="900" dirty="0"/>
          </a:p>
        </p:txBody>
      </p:sp>
      <p:sp>
        <p:nvSpPr>
          <p:cNvPr id="25" name="Shape 23"/>
          <p:cNvSpPr/>
          <p:nvPr/>
        </p:nvSpPr>
        <p:spPr>
          <a:xfrm>
            <a:off x="411480" y="3694176"/>
            <a:ext cx="4480560" cy="493776"/>
          </a:xfrm>
          <a:prstGeom prst="rect">
            <a:avLst/>
          </a:prstGeom>
          <a:solidFill>
            <a:srgbClr val="243B55"/>
          </a:solidFill>
          <a:ln w="12700">
            <a:solidFill>
              <a:srgbClr val="243B55"/>
            </a:solidFill>
            <a:prstDash val="solid"/>
          </a:ln>
        </p:spPr>
        <p:txBody>
          <a:bodyPr/>
          <a:lstStyle/>
          <a:p>
            <a:endParaRPr lang="tr-TR"/>
          </a:p>
        </p:txBody>
      </p:sp>
      <p:sp>
        <p:nvSpPr>
          <p:cNvPr id="26" name="Text 24"/>
          <p:cNvSpPr/>
          <p:nvPr/>
        </p:nvSpPr>
        <p:spPr>
          <a:xfrm>
            <a:off x="411480" y="3694176"/>
            <a:ext cx="502920" cy="49377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7" name="Text 25"/>
          <p:cNvSpPr/>
          <p:nvPr/>
        </p:nvSpPr>
        <p:spPr>
          <a:xfrm>
            <a:off x="950976" y="3730752"/>
            <a:ext cx="3858768" cy="201168"/>
          </a:xfrm>
          <a:prstGeom prst="rect">
            <a:avLst/>
          </a:prstGeom>
          <a:noFill/>
          <a:ln/>
        </p:spPr>
        <p:txBody>
          <a:bodyPr wrap="square" lIns="0" tIns="0" rIns="0" bIns="0" rtlCol="0" anchor="ctr"/>
          <a:lstStyle/>
          <a:p>
            <a:pPr marL="0" indent="0">
              <a:buNone/>
            </a:pPr>
            <a:r>
              <a:rPr lang="en-US" sz="1050" b="1" dirty="0">
                <a:solidFill>
                  <a:srgbClr val="06B6D4"/>
                </a:solidFill>
                <a:latin typeface="Calibri" pitchFamily="34" charset="0"/>
                <a:ea typeface="Calibri" pitchFamily="34" charset="-122"/>
                <a:cs typeface="Calibri" pitchFamily="34" charset="-120"/>
              </a:rPr>
              <a:t>Açıklanabilirlik (XAI)</a:t>
            </a:r>
            <a:endParaRPr lang="en-US" sz="1050" dirty="0"/>
          </a:p>
        </p:txBody>
      </p:sp>
      <p:sp>
        <p:nvSpPr>
          <p:cNvPr id="28" name="Text 26"/>
          <p:cNvSpPr/>
          <p:nvPr/>
        </p:nvSpPr>
        <p:spPr>
          <a:xfrm>
            <a:off x="950976" y="3931920"/>
            <a:ext cx="3858768" cy="237744"/>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Kara kutu modeller kritik alanlarda yetersiz — XAI araştırmaları zorunlu.</a:t>
            </a:r>
            <a:endParaRPr lang="en-US" sz="900" dirty="0"/>
          </a:p>
        </p:txBody>
      </p:sp>
      <p:sp>
        <p:nvSpPr>
          <p:cNvPr id="29" name="Shape 27"/>
          <p:cNvSpPr/>
          <p:nvPr/>
        </p:nvSpPr>
        <p:spPr>
          <a:xfrm>
            <a:off x="411480" y="4261104"/>
            <a:ext cx="4480560" cy="493776"/>
          </a:xfrm>
          <a:prstGeom prst="rect">
            <a:avLst/>
          </a:prstGeom>
          <a:solidFill>
            <a:srgbClr val="243B55"/>
          </a:solidFill>
          <a:ln w="12700">
            <a:solidFill>
              <a:srgbClr val="243B55"/>
            </a:solidFill>
            <a:prstDash val="solid"/>
          </a:ln>
        </p:spPr>
        <p:txBody>
          <a:bodyPr/>
          <a:lstStyle/>
          <a:p>
            <a:endParaRPr lang="tr-TR"/>
          </a:p>
        </p:txBody>
      </p:sp>
      <p:sp>
        <p:nvSpPr>
          <p:cNvPr id="30" name="Text 28"/>
          <p:cNvSpPr/>
          <p:nvPr/>
        </p:nvSpPr>
        <p:spPr>
          <a:xfrm>
            <a:off x="411480" y="4261104"/>
            <a:ext cx="502920" cy="49377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1" name="Text 29"/>
          <p:cNvSpPr/>
          <p:nvPr/>
        </p:nvSpPr>
        <p:spPr>
          <a:xfrm>
            <a:off x="950976" y="4297680"/>
            <a:ext cx="3858768" cy="201168"/>
          </a:xfrm>
          <a:prstGeom prst="rect">
            <a:avLst/>
          </a:prstGeom>
          <a:noFill/>
          <a:ln/>
        </p:spPr>
        <p:txBody>
          <a:bodyPr wrap="square" lIns="0" tIns="0" rIns="0" bIns="0" rtlCol="0" anchor="ctr"/>
          <a:lstStyle/>
          <a:p>
            <a:pPr marL="0" indent="0">
              <a:buNone/>
            </a:pPr>
            <a:r>
              <a:rPr lang="en-US" sz="1050" b="1" dirty="0">
                <a:solidFill>
                  <a:srgbClr val="06B6D4"/>
                </a:solidFill>
                <a:latin typeface="Calibri" pitchFamily="34" charset="0"/>
                <a:ea typeface="Calibri" pitchFamily="34" charset="-122"/>
                <a:cs typeface="Calibri" pitchFamily="34" charset="-120"/>
              </a:rPr>
              <a:t>Tarihsel Kilometre Taşları</a:t>
            </a:r>
            <a:endParaRPr lang="en-US" sz="1050" dirty="0"/>
          </a:p>
        </p:txBody>
      </p:sp>
      <p:sp>
        <p:nvSpPr>
          <p:cNvPr id="32" name="Text 30"/>
          <p:cNvSpPr/>
          <p:nvPr/>
        </p:nvSpPr>
        <p:spPr>
          <a:xfrm>
            <a:off x="950976" y="4498848"/>
            <a:ext cx="3858768" cy="237744"/>
          </a:xfrm>
          <a:prstGeom prst="rect">
            <a:avLst/>
          </a:prstGeom>
          <a:noFill/>
          <a:ln/>
        </p:spPr>
        <p:txBody>
          <a:bodyPr wrap="square" lIns="0" tIns="0" rIns="0" bIns="0" rtlCol="0" anchor="ctr"/>
          <a:lstStyle/>
          <a:p>
            <a:pPr marL="0" indent="0">
              <a:buNone/>
            </a:pPr>
            <a:r>
              <a:rPr lang="en-US" sz="900" dirty="0">
                <a:solidFill>
                  <a:srgbClr val="F1F5F9"/>
                </a:solidFill>
                <a:latin typeface="Calibri" pitchFamily="34" charset="0"/>
                <a:ea typeface="Calibri" pitchFamily="34" charset="-122"/>
                <a:cs typeface="Calibri" pitchFamily="34" charset="-120"/>
              </a:rPr>
              <a:t>2006 3. dalga → 2012 AlexNet devrimi → 2019 Turing Ödülü.</a:t>
            </a:r>
            <a:endParaRPr lang="en-US" sz="900" dirty="0"/>
          </a:p>
        </p:txBody>
      </p:sp>
      <p:sp>
        <p:nvSpPr>
          <p:cNvPr id="33" name="Shape 31"/>
          <p:cNvSpPr/>
          <p:nvPr/>
        </p:nvSpPr>
        <p:spPr>
          <a:xfrm>
            <a:off x="5230368" y="749808"/>
            <a:ext cx="3675888" cy="3310128"/>
          </a:xfrm>
          <a:prstGeom prst="rect">
            <a:avLst/>
          </a:prstGeom>
          <a:solidFill>
            <a:srgbClr val="243B55"/>
          </a:solidFill>
          <a:ln w="12700">
            <a:solidFill>
              <a:srgbClr val="0891B2"/>
            </a:solidFill>
            <a:prstDash val="solid"/>
          </a:ln>
          <a:effectLst>
            <a:outerShdw blurRad="127000" dist="50800" dir="8100000" algn="bl" rotWithShape="0">
              <a:srgbClr val="000000">
                <a:alpha val="12000"/>
              </a:srgbClr>
            </a:outerShdw>
          </a:effectLst>
        </p:spPr>
        <p:txBody>
          <a:bodyPr/>
          <a:lstStyle/>
          <a:p>
            <a:endParaRPr lang="tr-TR"/>
          </a:p>
        </p:txBody>
      </p:sp>
      <p:sp>
        <p:nvSpPr>
          <p:cNvPr id="34" name="Shape 32"/>
          <p:cNvSpPr/>
          <p:nvPr/>
        </p:nvSpPr>
        <p:spPr>
          <a:xfrm>
            <a:off x="5230368" y="749808"/>
            <a:ext cx="3675888" cy="402336"/>
          </a:xfrm>
          <a:prstGeom prst="rect">
            <a:avLst/>
          </a:prstGeom>
          <a:solidFill>
            <a:srgbClr val="0891B2"/>
          </a:solidFill>
          <a:ln w="12700">
            <a:solidFill>
              <a:srgbClr val="0891B2"/>
            </a:solidFill>
            <a:prstDash val="solid"/>
          </a:ln>
        </p:spPr>
        <p:txBody>
          <a:bodyPr/>
          <a:lstStyle/>
          <a:p>
            <a:endParaRPr lang="tr-TR"/>
          </a:p>
        </p:txBody>
      </p:sp>
      <p:sp>
        <p:nvSpPr>
          <p:cNvPr id="35" name="Text 33"/>
          <p:cNvSpPr/>
          <p:nvPr/>
        </p:nvSpPr>
        <p:spPr>
          <a:xfrm>
            <a:off x="5340096" y="749808"/>
            <a:ext cx="3474720" cy="40233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Temel Akademik Kaynaklar</a:t>
            </a:r>
            <a:endParaRPr lang="en-US" sz="1100" dirty="0"/>
          </a:p>
        </p:txBody>
      </p:sp>
      <p:sp>
        <p:nvSpPr>
          <p:cNvPr id="36" name="Text 34"/>
          <p:cNvSpPr/>
          <p:nvPr/>
        </p:nvSpPr>
        <p:spPr>
          <a:xfrm>
            <a:off x="5340096" y="1225296"/>
            <a:ext cx="3474720" cy="274320"/>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 LeCun, Bengio &amp; Hinton (2015). Deep Learning. Nature, 521:436.</a:t>
            </a:r>
            <a:endParaRPr lang="en-US" sz="850" dirty="0"/>
          </a:p>
        </p:txBody>
      </p:sp>
      <p:sp>
        <p:nvSpPr>
          <p:cNvPr id="37" name="Text 35"/>
          <p:cNvSpPr/>
          <p:nvPr/>
        </p:nvSpPr>
        <p:spPr>
          <a:xfrm>
            <a:off x="5340096" y="1527048"/>
            <a:ext cx="3474720" cy="274320"/>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 Hinton et al. (2006). Deep Belief Nets. Neural Computation, 18:1527.</a:t>
            </a:r>
            <a:endParaRPr lang="en-US" sz="850" dirty="0"/>
          </a:p>
        </p:txBody>
      </p:sp>
      <p:sp>
        <p:nvSpPr>
          <p:cNvPr id="38" name="Text 36"/>
          <p:cNvSpPr/>
          <p:nvPr/>
        </p:nvSpPr>
        <p:spPr>
          <a:xfrm>
            <a:off x="5340096" y="1828800"/>
            <a:ext cx="3474720" cy="274320"/>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 Hochreiter &amp; Schmidhuber (1997). LSTM. Neural Computation, 9:1735.</a:t>
            </a:r>
            <a:endParaRPr lang="en-US" sz="850" dirty="0"/>
          </a:p>
        </p:txBody>
      </p:sp>
      <p:sp>
        <p:nvSpPr>
          <p:cNvPr id="39" name="Text 37"/>
          <p:cNvSpPr/>
          <p:nvPr/>
        </p:nvSpPr>
        <p:spPr>
          <a:xfrm>
            <a:off x="5340096" y="2130552"/>
            <a:ext cx="3474720" cy="274320"/>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 Goodfellow et al. (2014). GAN. Advances in NeurIPS.</a:t>
            </a:r>
            <a:endParaRPr lang="en-US" sz="850" dirty="0"/>
          </a:p>
        </p:txBody>
      </p:sp>
      <p:sp>
        <p:nvSpPr>
          <p:cNvPr id="40" name="Text 38"/>
          <p:cNvSpPr/>
          <p:nvPr/>
        </p:nvSpPr>
        <p:spPr>
          <a:xfrm>
            <a:off x="5340096" y="2432304"/>
            <a:ext cx="3474720" cy="274320"/>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 He et al. (2016). ResNet. CVPR, 770–778.</a:t>
            </a:r>
            <a:endParaRPr lang="en-US" sz="850" dirty="0"/>
          </a:p>
        </p:txBody>
      </p:sp>
      <p:sp>
        <p:nvSpPr>
          <p:cNvPr id="41" name="Text 39"/>
          <p:cNvSpPr/>
          <p:nvPr/>
        </p:nvSpPr>
        <p:spPr>
          <a:xfrm>
            <a:off x="5340096" y="2734056"/>
            <a:ext cx="3474720" cy="274320"/>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 Emmert-Streib et al. (2020). Review of Deep Learning. Front. AI 3:4.</a:t>
            </a:r>
            <a:endParaRPr lang="en-US" sz="850" dirty="0"/>
          </a:p>
        </p:txBody>
      </p:sp>
      <p:sp>
        <p:nvSpPr>
          <p:cNvPr id="42" name="Text 40"/>
          <p:cNvSpPr/>
          <p:nvPr/>
        </p:nvSpPr>
        <p:spPr>
          <a:xfrm>
            <a:off x="5340096" y="3035808"/>
            <a:ext cx="3474720" cy="274320"/>
          </a:xfrm>
          <a:prstGeom prst="rect">
            <a:avLst/>
          </a:prstGeom>
          <a:noFill/>
          <a:ln/>
        </p:spPr>
        <p:txBody>
          <a:bodyPr wrap="square" lIns="0" tIns="0" rIns="0" bIns="0" rtlCol="0" anchor="ctr"/>
          <a:lstStyle/>
          <a:p>
            <a:pPr marL="0" indent="0">
              <a:buNone/>
            </a:pPr>
            <a:r>
              <a:rPr lang="en-US" sz="850" dirty="0">
                <a:solidFill>
                  <a:srgbClr val="F1F5F9"/>
                </a:solidFill>
                <a:latin typeface="Calibri" pitchFamily="34" charset="0"/>
                <a:ea typeface="Calibri" pitchFamily="34" charset="-122"/>
                <a:cs typeface="Calibri" pitchFamily="34" charset="-120"/>
              </a:rPr>
              <a:t>• Vincent et al. (2010). Denoising AE. JMLR, 11:3371.</a:t>
            </a:r>
            <a:endParaRPr lang="en-US" sz="850" dirty="0"/>
          </a:p>
        </p:txBody>
      </p:sp>
      <p:sp>
        <p:nvSpPr>
          <p:cNvPr id="43" name="Shape 41"/>
          <p:cNvSpPr/>
          <p:nvPr/>
        </p:nvSpPr>
        <p:spPr>
          <a:xfrm>
            <a:off x="5230368" y="4133088"/>
            <a:ext cx="3675888" cy="713232"/>
          </a:xfrm>
          <a:prstGeom prst="rect">
            <a:avLst/>
          </a:prstGeom>
          <a:solidFill>
            <a:srgbClr val="1B2F4A"/>
          </a:solidFill>
          <a:ln w="12700">
            <a:solidFill>
              <a:srgbClr val="94A3B8"/>
            </a:solidFill>
            <a:prstDash val="solid"/>
          </a:ln>
        </p:spPr>
        <p:txBody>
          <a:bodyPr/>
          <a:lstStyle/>
          <a:p>
            <a:endParaRPr lang="tr-TR"/>
          </a:p>
        </p:txBody>
      </p:sp>
      <p:sp>
        <p:nvSpPr>
          <p:cNvPr id="44" name="Text 42"/>
          <p:cNvSpPr/>
          <p:nvPr/>
        </p:nvSpPr>
        <p:spPr>
          <a:xfrm>
            <a:off x="5340096" y="4187952"/>
            <a:ext cx="3474720" cy="201168"/>
          </a:xfrm>
          <a:prstGeom prst="rect">
            <a:avLst/>
          </a:prstGeom>
          <a:noFill/>
          <a:ln/>
        </p:spPr>
        <p:txBody>
          <a:bodyPr wrap="square" lIns="0" tIns="0" rIns="0" bIns="0" rtlCol="0" anchor="ctr"/>
          <a:lstStyle/>
          <a:p>
            <a:pPr marL="0" indent="0">
              <a:buNone/>
            </a:pPr>
            <a:r>
              <a:rPr lang="en-US" sz="850" b="1" dirty="0">
                <a:solidFill>
                  <a:srgbClr val="06B6D4"/>
                </a:solidFill>
                <a:latin typeface="Calibri" pitchFamily="34" charset="0"/>
                <a:ea typeface="Calibri" pitchFamily="34" charset="-122"/>
                <a:cs typeface="Calibri" pitchFamily="34" charset="-120"/>
              </a:rPr>
              <a:t>Kaynak Makale:</a:t>
            </a:r>
            <a:endParaRPr lang="en-US" sz="850" dirty="0"/>
          </a:p>
        </p:txBody>
      </p:sp>
      <p:sp>
        <p:nvSpPr>
          <p:cNvPr id="45" name="Text 43"/>
          <p:cNvSpPr/>
          <p:nvPr/>
        </p:nvSpPr>
        <p:spPr>
          <a:xfrm>
            <a:off x="5340096" y="4389120"/>
            <a:ext cx="3474720" cy="402336"/>
          </a:xfrm>
          <a:prstGeom prst="rect">
            <a:avLst/>
          </a:prstGeom>
          <a:noFill/>
          <a:ln/>
        </p:spPr>
        <p:txBody>
          <a:bodyPr wrap="square" lIns="0" tIns="0" rIns="0" bIns="0" rtlCol="0" anchor="ctr"/>
          <a:lstStyle/>
          <a:p>
            <a:pPr marL="0" indent="0">
              <a:buNone/>
            </a:pPr>
            <a:r>
              <a:rPr lang="en-US" sz="750" i="1" dirty="0">
                <a:solidFill>
                  <a:srgbClr val="94A3B8"/>
                </a:solidFill>
                <a:latin typeface="Calibri" pitchFamily="34" charset="0"/>
                <a:ea typeface="Calibri" pitchFamily="34" charset="-122"/>
                <a:cs typeface="Calibri" pitchFamily="34" charset="-120"/>
              </a:rPr>
              <a:t>Emmert-Streib F, Yang Z, Feng H, Tripathi S &amp; Dehmer M (2020). An Introductory Review of Deep Learning for Prediction Models With Big Data. Frontiers in Artificial Intelligence 3:4. doi: 10.3389/frai.2020.00004</a:t>
            </a:r>
            <a:endParaRPr lang="en-US" sz="750" dirty="0"/>
          </a:p>
        </p:txBody>
      </p:sp>
      <p:sp>
        <p:nvSpPr>
          <p:cNvPr id="46" name="Shape 44"/>
          <p:cNvSpPr/>
          <p:nvPr/>
        </p:nvSpPr>
        <p:spPr>
          <a:xfrm>
            <a:off x="0" y="4919472"/>
            <a:ext cx="9144000" cy="224028"/>
          </a:xfrm>
          <a:prstGeom prst="rect">
            <a:avLst/>
          </a:prstGeom>
          <a:solidFill>
            <a:srgbClr val="0891B2"/>
          </a:solidFill>
          <a:ln w="12700">
            <a:solidFill>
              <a:srgbClr val="0891B2"/>
            </a:solidFill>
            <a:prstDash val="solid"/>
          </a:ln>
        </p:spPr>
        <p:txBody>
          <a:bodyPr/>
          <a:lstStyle/>
          <a:p>
            <a:endParaRPr lang="tr-TR"/>
          </a:p>
        </p:txBody>
      </p:sp>
      <p:sp>
        <p:nvSpPr>
          <p:cNvPr id="47" name="Text 45"/>
          <p:cNvSpPr/>
          <p:nvPr/>
        </p:nvSpPr>
        <p:spPr>
          <a:xfrm>
            <a:off x="365760" y="4919472"/>
            <a:ext cx="8412480" cy="224028"/>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Hazırlayan: YILDIRAY ÖCAL  ·  Öğrenci No: 36253632029  ·  Ders: Derin Öğrenme  ·  Derin Öğrenme — Emmert-Streib et al. (2020)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5788</Words>
  <Application>Microsoft Office PowerPoint</Application>
  <PresentationFormat>Ekran Gösterisi (16:9)</PresentationFormat>
  <Paragraphs>839</Paragraphs>
  <Slides>25</Slides>
  <Notes>25</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25</vt:i4>
      </vt:variant>
    </vt:vector>
  </HeadingPairs>
  <TitlesOfParts>
    <vt:vector size="28" baseType="lpstr">
      <vt:lpstr>Arial</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Derin Öğrenme - Detaylı Sunum</dc:title>
  <dc:subject>PptxGenJS Presentation</dc:subject>
  <dc:creator>PptxGenJS</dc:creator>
  <cp:lastModifiedBy>Yıldıray Öcal</cp:lastModifiedBy>
  <cp:revision>2</cp:revision>
  <dcterms:created xsi:type="dcterms:W3CDTF">2026-03-26T14:24:00Z</dcterms:created>
  <dcterms:modified xsi:type="dcterms:W3CDTF">2026-03-28T08:10:19Z</dcterms:modified>
</cp:coreProperties>
</file>